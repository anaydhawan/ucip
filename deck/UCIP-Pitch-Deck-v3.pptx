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644" y="128"/>
      </p:cViewPr>
      <p:guideLst>
        <p:guide orient="horz" pos="216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881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[COLD OPEN. Do not introduce yourself yet. Stand still. Slower than feels natural. Let the first silence sit longer than is comfortable.] Right now, somewhere above this room, a family is living under a metal roof. [beat] This afternoon, the ground beneath that roof measured forty degrees. Three kilometres away, another rooftop measured twenty six. [slower] Same city. Same afternoon. Same sun. Fourteen degrees apart. [beat] We give hurricanes names. We do not give heat waves names, and so we do not take them seriously. [beat] Mumbai does not have a heat problem. It has twenty four of them, one for every ward, and it treats them as though it had one. [beat, then normal pace] My name is Anay Dhawan. I am in Grade eleven at NES International School. For the next fifteen minutes I want to walk you along a chain that runs from that roof to a hospital bed, and show you the one link in it a city can actually break.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chain. It is short enough to hold in your head. [point to each link] More heat. Discomfort for everyone, illness for some, and a load on the hospitals. Citizens suffer. So a city has to decide where to act. [beat] The first three links are physics and biology. Nobody in this room can switch off the sun. [beat] But look at the fourth one. That link is not physics. It is a decision, made by a person, in a room, with a budget. And a decision is the only part of a chain you can change on a Monday morning. [beat] So that is the link I built for. Not measuring heat. That is done. Deciding where to act. That is not.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 one. More heat. [beat] And the important word in that sentence is not more. It is uneven. Ground temperature across Mumbai runs from twenty six degrees to forty. Concrete cover, from nothing to almost everything. Population, from sixteen people per square kilometre to a hundred and fifteen thousand. [beat] Now average all of it. Mumbai is thirty two degrees. That is true. It is also useless, because nobody lives in an average. [gesture right] And this is not a Mumbai quirk. That is NASA's map of where the world has warmed. Mumbai is simply where I could test it first.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 two. Heat is uncomfortable for every person in this room. [beat] For four groups it stops being discomfort and becomes danger. People under metal roofs that soak heat up all day and give it back all night, so the body never recovers. Older residents. People far from help. Anyone who waits outside all day. [beat] And that is what makes it public health, not private discomfort. The illness lands in the same weeks, in the same wards, on the same hospitals, and it arrives where the ambulance has furthest to travel. [beat] Now the hard part. The people most at risk live exactly where the city knows least about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Links three and four. People suffer, and somebody has to choose. [beat] Heat kills quietly, and here is how badly that shows. Three government bodies counted India's heat deaths over the same twenty years and published twenty thousand, seventeen thousand, and ten thousand. Nobody is lying. It simply is not counted. [beat] So does acting save anyone? Ahmedabad's heat action plan is credited with roughly eleven hundred and ninety lives a year. It proves acting works. But it is forecast-triggered, so it says when to act, never where. [beat] Nobody has answered where, because choosing is harder than measuring. That is not missing data. It is a missing decision.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 had a choice. I could take somebody's published heat map and put a nice interface on it. Plenty of projects do. [beat] I did not. Every number here came out of a pipeline I ran. Twelve satellite passes, cloud and shadow removed. And look at what is underneath. Satellite images from the US Geological Survey and the European Space Agency. Population from WorldPop. Hospitals from OpenStreetMap. Boundaries from open municipal data. Every one free and public. Hold on to that. It matters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findings shaped this tool. Two of them I expected. [beat] First, a few trees will not do it. Cooling only really begins once an area is about two fifths covered in canopy. Below that, planting a handful of trees looks good in a photograph and changes almost nothing. Second, pale reflective roofs work, cheaply and reliably. [beat] And then there is the third, which I did not want to be true. Some open land is naturally grassland, and planting trees there damages an ecosystem already doing a job. [beat] Almost every green-city tool answers heat with the same three words. Plant more trees. After reading that, I could not.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obvious question. Surely somebody has already built this. [beat] Five serious efforts exist, every one better resourced than I am. Mumbai's own climate plan names heat, at city scale. The RAND study is peer reviewed, but covers six hundred and forty districts, so all of Mumbai is one dot. IIT Bombay's mapping is rigorous and local, and it diagnoses: where it is hot, then stops. C40's toolbox is generic, with no Mumbai data underneath. Ahmedabad tells you when, not where. [beat] None of that is a criticism. Each was built for a different job. What nobody has done is put all five jobs in one tool.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 is the whole thing, in four words. [beat] Score. Explain. Suggest. Check. [beat] Score gives every ward one number out of a hundred. Explain shows which factors pushed it up. Suggest turns that into a specific thing you could build. [beat] And check is the step almost nobody has. It refuses its own suggestion if building it would damage what is already there. Remember that fourth one. It is the part of this I would defend hardest. [beat] Three people use it. Officials who have to defend a decision. Residents who deserve a plain answer. And researchers, who get the method and a written list of what it cannot do.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factors go in. How hot the ground gets. How green it is, the one where more means safer. How crowded. How many older residents. How much informal housing. How far the nearest hospital is. And how much concrete, because hard surfaces hold heat into the night. [beat] Now, the question I would be asking if I were sitting where you are. Where does he get to put his thumb on the scale? Two places. The first is deciding which way each factor points, and I did not decide that, the published research did. The second is how much each counts.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most risk scores quietly cheat. The author picks how much each factor counts, publishes, and nobody can check them. [beat] So let me be exact about what I chose. I chose the seven factors and which direction each points, both from published studies. I did not choose how much each counts. The program finds the strongest pattern across the seven and lets that set the weights. Here that one pattern explains fifty eight percent of the variation between wards. [beat] Concrete counts most. Older residents least. Not the order I expected, but I did not get a vote. And if the pattern had been weak, the program counts everything equally instead.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score on its own is still only a diagnosis. So it feeds a set of rules, each naming a thing to build and how urgent it is. [beat] Look at the top two rows. They contradict each other on purpose. They fire in the same situation, a hot bare ward, and give opposite answers. What decides between them is the check. Trees are allowed only if the ground is not already built on, not water, not naturally grassland, and not almost entirely paved. [beat] And here is the number that surprised me most. That check rules out planting across thirty eight percent of Mumbai.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the prototype actually works. Free public data comes in. Thirteen steps clean it, score it and apply the rules. Results are stored twice, and a website draws the map. [beat] Now one decision, and it is not a feature. Every demo has one thing that can kill it, and it is the wifi. So the results are written as plain files on the site itself, and the site never calls out while you are using it. [beat] And I tested that rather than assuming it. I cut both data providers off at the network level and walked the whole thing. Nothing broke.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here it is. Every ward, coloured by risk, with the same information ranked beside it, and a key that stays on screen, because a coloured map nobody can read is decoration, not help. And I want to be precise about one thing. [beat] I did not choose this order. I did not put Dharavi near the top because Dharavi is the famous answer. The ward containing Dharavi came second on its own. And two small things. You can search by the name people actually use. And every ward has its own link, so an official sends a colleague one place, not a screenshot.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click the one at the top. [beat] First, three sentences of plain English, assembled from that ward's own measurements. There is no AI writing them, which means they cannot make anything up. [beat] Then these bars, which are the heart of it. Each shows how much one factor pushed this ward up or down. Red pushed it up. Green pulled it down. [beat] And here is the part I care about. Add those bars together and you get the score itself. You are being shown the arithmetic, not an explanation of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remember one slide from today, make it this one. [beat, then click to the tree layer] Green squares mean trees belong there. Red squares mean they do not. [beat] Now look at the panel on the right. This is one ward, holding two opposite answers at the same time. The first card says pale roofs, because planting there would do ecological harm. Directly below it, the second says plant native trees, because that part genuinely suits it. [slower] Same ward. Opposite advice. Different squares. Both cited. [beat] A tool whose only answer is plant more trees has no way of ever saying no. Saying no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question I was most afraid of. [beat] What if those weights are simply wrong? So I ran that attack before you could. I moved every factor's weight by a fifth, up and down, one at a time, and redid the whole ranking. Fourteen times. The order barely moved. [beat] On average, four of the same five stayed in the top five. And I want to stop on that, because four out of five is not five, and I could have quietly rounded it. In two runs the fifth place swapped. That is not the method wobbling. Those two wards are tied to two decimal places, and any nudge flips a tie.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spend a minute arguing against my own project. [beat] Satellites measure the ground, not the air, so what I record is related to what a person feels, but is not the same. The cooling figures are borrowed from studies abroad. Some population data is modelled, not counted. [beat] Why put this on a slide at a competition? Because tools that oversell certainty get believed, then get caught, and then nobody trusts the next one. I would rather be the tool you can check than the tool you have to trust.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actually changes? [beat] For Mumbai, something already known becomes something you can act on. This ward first, for this reason, build this. Someone with a fixed budget gets an order they can defend in a room, instead of a hunch they cannot. [beat] For any other city, and this is the part I care most about, remember what I asked you to hold on to. Every input is free and public. Moving this needs a different boundary file. It does not need a different method, and it does not need money.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next. Finer detail, a one-line change that fixes a weakness I showed you. Measure the cooling in Mumbai instead of borrowing it, the limitation I would most like to close. And build the budget layer, that fifth empty column, which does not exist yet, which is exactly why it is on this slide and nowhere earlier. [beat, slow right down] I began by telling you about a family under a metal roof at forty degrees. [beat] I cannot cool that roof. Nobody in this room can switch off the sun. [beat] But I can now tell you, with evidence you are free to go and check tonight, that theirs is the roof to cool first. Which ward. Why. And what to build. [beat] Thank you.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Not presented and not timed. Open this only if a judge asks where something came from. Built from the same citation module the live site renders.]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88305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852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8/5/2026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414885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8/5/2026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985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7814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591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8/5/2026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980920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7264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648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294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8/5/2026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2451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8/5/2026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9172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491123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8/5/2026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950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3673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8/5/2026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785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5581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6832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4364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8205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1679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8/5/2026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3379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8/5/2026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2537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7521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8/5/2026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23866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387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437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8/5/2026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01137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7.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Oval 1"/>
          <p:cNvSpPr/>
          <p:nvPr/>
        </p:nvSpPr>
        <p:spPr>
          <a:xfrm>
            <a:off x="-711881" y="-1212783"/>
            <a:ext cx="7772400" cy="5312343"/>
          </a:xfrm>
          <a:prstGeom prst="ellipse">
            <a:avLst/>
          </a:prstGeom>
          <a:gradFill rotWithShape="1">
            <a:gsLst>
              <a:gs pos="0">
                <a:srgbClr val="122024"/>
              </a:gs>
              <a:gs pos="100000">
                <a:srgbClr val="0D1017"/>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01 · PROJECT OVERVIEW &amp; PARTICIPANT DETAILS</a:t>
            </a:r>
          </a:p>
        </p:txBody>
      </p:sp>
      <p:grpSp>
        <p:nvGrpSpPr>
          <p:cNvPr id="27" name="Group 26">
            <a:extLst>
              <a:ext uri="{FF2B5EF4-FFF2-40B4-BE49-F238E27FC236}">
                <a16:creationId xmlns:a16="http://schemas.microsoft.com/office/drawing/2014/main" id="{E6369C64-B242-BB8C-E20F-79EB9FBCCDAE}"/>
              </a:ext>
            </a:extLst>
          </p:cNvPr>
          <p:cNvGrpSpPr/>
          <p:nvPr/>
        </p:nvGrpSpPr>
        <p:grpSpPr>
          <a:xfrm>
            <a:off x="322066" y="1326302"/>
            <a:ext cx="6035040" cy="1636494"/>
            <a:chOff x="411480" y="1263783"/>
            <a:chExt cx="6035040" cy="1636494"/>
          </a:xfrm>
        </p:grpSpPr>
        <p:sp>
          <p:nvSpPr>
            <p:cNvPr id="4" name="TextBox 3"/>
            <p:cNvSpPr txBox="1"/>
            <p:nvPr/>
          </p:nvSpPr>
          <p:spPr>
            <a:xfrm>
              <a:off x="411480" y="1263783"/>
              <a:ext cx="1925608" cy="553998"/>
            </a:xfrm>
            <a:prstGeom prst="rect">
              <a:avLst/>
            </a:prstGeom>
            <a:noFill/>
          </p:spPr>
          <p:txBody>
            <a:bodyPr wrap="square" lIns="0" tIns="0" rIns="0" bIns="0" anchor="t">
              <a:spAutoFit/>
            </a:bodyPr>
            <a:lstStyle/>
            <a:p>
              <a:r>
                <a:rPr sz="3600" b="1" i="0" dirty="0">
                  <a:solidFill>
                    <a:srgbClr val="FFFFFF"/>
                  </a:solidFill>
                  <a:latin typeface="Inter"/>
                </a:rPr>
                <a:t>UCIP</a:t>
              </a:r>
            </a:p>
          </p:txBody>
        </p:sp>
        <p:sp>
          <p:nvSpPr>
            <p:cNvPr id="5" name="Rounded Rectangle 4"/>
            <p:cNvSpPr/>
            <p:nvPr/>
          </p:nvSpPr>
          <p:spPr>
            <a:xfrm>
              <a:off x="411480" y="1897664"/>
              <a:ext cx="1188720" cy="54864"/>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2130836"/>
              <a:ext cx="6035040" cy="769441"/>
            </a:xfrm>
            <a:prstGeom prst="rect">
              <a:avLst/>
            </a:prstGeom>
            <a:noFill/>
          </p:spPr>
          <p:txBody>
            <a:bodyPr wrap="square" lIns="0" tIns="0" rIns="0" bIns="0" anchor="t">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Rank a city's districts by measured heat vulnerability, explains each score, names what to build there, and recommends solution based on Math.</a:t>
              </a:r>
              <a:endParaRPr lang="en-US" sz="1400" dirty="0">
                <a:latin typeface="Calibri" panose="020F0502020204030204" pitchFamily="34" charset="0"/>
                <a:ea typeface="Calibri" panose="020F0502020204030204" pitchFamily="34" charset="0"/>
                <a:cs typeface="Calibri" panose="020F0502020204030204" pitchFamily="34" charset="0"/>
              </a:endParaRPr>
            </a:p>
            <a:p>
              <a:br>
                <a:rPr lang="en-US" sz="1100" dirty="0">
                  <a:latin typeface="Calibri" panose="020F0502020204030204" pitchFamily="34" charset="0"/>
                  <a:ea typeface="Calibri" panose="020F0502020204030204" pitchFamily="34" charset="0"/>
                  <a:cs typeface="Calibri" panose="020F0502020204030204" pitchFamily="34" charset="0"/>
                </a:rPr>
              </a:br>
              <a:endParaRPr sz="1100" b="0" i="0" dirty="0">
                <a:solidFill>
                  <a:srgbClr val="BBBEC6"/>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Rounded Rectangle 6"/>
          <p:cNvSpPr/>
          <p:nvPr/>
        </p:nvSpPr>
        <p:spPr>
          <a:xfrm>
            <a:off x="502920" y="4224528"/>
            <a:ext cx="5943600" cy="201168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4334256"/>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STUDENT NAME</a:t>
            </a:r>
          </a:p>
        </p:txBody>
      </p:sp>
      <p:sp>
        <p:nvSpPr>
          <p:cNvPr id="9" name="TextBox 8"/>
          <p:cNvSpPr txBox="1"/>
          <p:nvPr/>
        </p:nvSpPr>
        <p:spPr>
          <a:xfrm>
            <a:off x="2606039" y="4334256"/>
            <a:ext cx="3566160" cy="298704"/>
          </a:xfrm>
          <a:prstGeom prst="rect">
            <a:avLst/>
          </a:prstGeom>
          <a:noFill/>
        </p:spPr>
        <p:txBody>
          <a:bodyPr wrap="square" lIns="0" tIns="0" rIns="0" bIns="0" anchor="ctr">
            <a:spAutoFit/>
          </a:bodyPr>
          <a:lstStyle/>
          <a:p>
            <a:pPr algn="l">
              <a:lnSpc>
                <a:spcPct val="118000"/>
              </a:lnSpc>
            </a:pPr>
            <a:r>
              <a:rPr sz="1150" b="1" i="0">
                <a:solidFill>
                  <a:srgbClr val="E6EAF2"/>
                </a:solidFill>
                <a:latin typeface="Inter"/>
              </a:rPr>
              <a:t>Anay Dhawan</a:t>
            </a:r>
          </a:p>
        </p:txBody>
      </p:sp>
      <p:sp>
        <p:nvSpPr>
          <p:cNvPr id="10" name="TextBox 9"/>
          <p:cNvSpPr txBox="1"/>
          <p:nvPr/>
        </p:nvSpPr>
        <p:spPr>
          <a:xfrm>
            <a:off x="685800" y="4632960"/>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SCHOOL</a:t>
            </a:r>
          </a:p>
        </p:txBody>
      </p:sp>
      <p:sp>
        <p:nvSpPr>
          <p:cNvPr id="11" name="TextBox 10"/>
          <p:cNvSpPr txBox="1"/>
          <p:nvPr/>
        </p:nvSpPr>
        <p:spPr>
          <a:xfrm>
            <a:off x="2606039" y="4632960"/>
            <a:ext cx="3566160" cy="298704"/>
          </a:xfrm>
          <a:prstGeom prst="rect">
            <a:avLst/>
          </a:prstGeom>
          <a:noFill/>
        </p:spPr>
        <p:txBody>
          <a:bodyPr wrap="square" lIns="0" tIns="0" rIns="0" bIns="0" anchor="ctr">
            <a:spAutoFit/>
          </a:bodyPr>
          <a:lstStyle/>
          <a:p>
            <a:pPr algn="l">
              <a:lnSpc>
                <a:spcPct val="118000"/>
              </a:lnSpc>
            </a:pPr>
            <a:r>
              <a:rPr sz="1150" b="1" i="0">
                <a:solidFill>
                  <a:srgbClr val="E6EAF2"/>
                </a:solidFill>
                <a:latin typeface="Inter"/>
              </a:rPr>
              <a:t>NES International School Mumbai</a:t>
            </a:r>
          </a:p>
        </p:txBody>
      </p:sp>
      <p:sp>
        <p:nvSpPr>
          <p:cNvPr id="12" name="TextBox 11"/>
          <p:cNvSpPr txBox="1"/>
          <p:nvPr/>
        </p:nvSpPr>
        <p:spPr>
          <a:xfrm>
            <a:off x="685800" y="4931663"/>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GRADE</a:t>
            </a:r>
          </a:p>
        </p:txBody>
      </p:sp>
      <p:sp>
        <p:nvSpPr>
          <p:cNvPr id="13" name="TextBox 12"/>
          <p:cNvSpPr txBox="1"/>
          <p:nvPr/>
        </p:nvSpPr>
        <p:spPr>
          <a:xfrm>
            <a:off x="2606039" y="4931663"/>
            <a:ext cx="3566160" cy="298704"/>
          </a:xfrm>
          <a:prstGeom prst="rect">
            <a:avLst/>
          </a:prstGeom>
          <a:noFill/>
        </p:spPr>
        <p:txBody>
          <a:bodyPr wrap="square" lIns="0" tIns="0" rIns="0" bIns="0" anchor="ctr">
            <a:spAutoFit/>
          </a:bodyPr>
          <a:lstStyle/>
          <a:p>
            <a:pPr algn="l">
              <a:lnSpc>
                <a:spcPct val="118000"/>
              </a:lnSpc>
            </a:pPr>
            <a:r>
              <a:rPr sz="1150" b="1" i="0">
                <a:solidFill>
                  <a:srgbClr val="E6EAF2"/>
                </a:solidFill>
                <a:latin typeface="Inter"/>
              </a:rPr>
              <a:t>11 (IBDP Year 1)</a:t>
            </a:r>
          </a:p>
        </p:txBody>
      </p:sp>
      <p:sp>
        <p:nvSpPr>
          <p:cNvPr id="14" name="TextBox 13"/>
          <p:cNvSpPr txBox="1"/>
          <p:nvPr/>
        </p:nvSpPr>
        <p:spPr>
          <a:xfrm>
            <a:off x="685800" y="5230367"/>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DOMAIN</a:t>
            </a:r>
          </a:p>
        </p:txBody>
      </p:sp>
      <p:sp>
        <p:nvSpPr>
          <p:cNvPr id="15" name="TextBox 14"/>
          <p:cNvSpPr txBox="1"/>
          <p:nvPr/>
        </p:nvSpPr>
        <p:spPr>
          <a:xfrm>
            <a:off x="2606039" y="5230367"/>
            <a:ext cx="3566160" cy="298704"/>
          </a:xfrm>
          <a:prstGeom prst="rect">
            <a:avLst/>
          </a:prstGeom>
          <a:noFill/>
        </p:spPr>
        <p:txBody>
          <a:bodyPr wrap="square" lIns="0" tIns="0" rIns="0" bIns="0" anchor="ctr">
            <a:spAutoFit/>
          </a:bodyPr>
          <a:lstStyle/>
          <a:p>
            <a:pPr algn="l">
              <a:lnSpc>
                <a:spcPct val="118000"/>
              </a:lnSpc>
            </a:pPr>
            <a:r>
              <a:rPr sz="1150" b="1" i="0">
                <a:solidFill>
                  <a:srgbClr val="E6EAF2"/>
                </a:solidFill>
                <a:latin typeface="Inter"/>
              </a:rPr>
              <a:t>PLANET</a:t>
            </a:r>
          </a:p>
        </p:txBody>
      </p:sp>
      <p:sp>
        <p:nvSpPr>
          <p:cNvPr id="16" name="TextBox 15"/>
          <p:cNvSpPr txBox="1"/>
          <p:nvPr/>
        </p:nvSpPr>
        <p:spPr>
          <a:xfrm>
            <a:off x="685800" y="5529071"/>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FOCUS AREA</a:t>
            </a:r>
          </a:p>
        </p:txBody>
      </p:sp>
      <p:sp>
        <p:nvSpPr>
          <p:cNvPr id="17" name="TextBox 16"/>
          <p:cNvSpPr txBox="1"/>
          <p:nvPr/>
        </p:nvSpPr>
        <p:spPr>
          <a:xfrm>
            <a:off x="2606039" y="5580640"/>
            <a:ext cx="3566160" cy="195566"/>
          </a:xfrm>
          <a:prstGeom prst="rect">
            <a:avLst/>
          </a:prstGeom>
          <a:noFill/>
        </p:spPr>
        <p:txBody>
          <a:bodyPr wrap="square" lIns="0" tIns="0" rIns="0" bIns="0" anchor="ctr">
            <a:spAutoFit/>
          </a:bodyPr>
          <a:lstStyle/>
          <a:p>
            <a:pPr algn="l">
              <a:lnSpc>
                <a:spcPct val="118000"/>
              </a:lnSpc>
            </a:pPr>
            <a:r>
              <a:rPr sz="1150" b="1" i="0" dirty="0">
                <a:solidFill>
                  <a:srgbClr val="E6EAF2"/>
                </a:solidFill>
                <a:latin typeface="Inter"/>
              </a:rPr>
              <a:t>Urban heat</a:t>
            </a:r>
          </a:p>
        </p:txBody>
      </p:sp>
      <p:sp>
        <p:nvSpPr>
          <p:cNvPr id="18" name="TextBox 17"/>
          <p:cNvSpPr txBox="1"/>
          <p:nvPr/>
        </p:nvSpPr>
        <p:spPr>
          <a:xfrm>
            <a:off x="685800" y="5827775"/>
            <a:ext cx="1828800" cy="29870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STUDY AREA</a:t>
            </a:r>
          </a:p>
        </p:txBody>
      </p:sp>
      <p:sp>
        <p:nvSpPr>
          <p:cNvPr id="19" name="TextBox 18"/>
          <p:cNvSpPr txBox="1"/>
          <p:nvPr/>
        </p:nvSpPr>
        <p:spPr>
          <a:xfrm>
            <a:off x="2606039" y="5879344"/>
            <a:ext cx="3566160" cy="195566"/>
          </a:xfrm>
          <a:prstGeom prst="rect">
            <a:avLst/>
          </a:prstGeom>
          <a:noFill/>
        </p:spPr>
        <p:txBody>
          <a:bodyPr wrap="square" lIns="0" tIns="0" rIns="0" bIns="0" anchor="ctr">
            <a:spAutoFit/>
          </a:bodyPr>
          <a:lstStyle/>
          <a:p>
            <a:pPr algn="l">
              <a:lnSpc>
                <a:spcPct val="118000"/>
              </a:lnSpc>
            </a:pPr>
            <a:r>
              <a:rPr sz="1150" b="1" i="0" dirty="0">
                <a:solidFill>
                  <a:srgbClr val="E6EAF2"/>
                </a:solidFill>
                <a:latin typeface="Inter"/>
              </a:rPr>
              <a:t>Mumbai</a:t>
            </a:r>
            <a:r>
              <a:rPr lang="en-US" sz="1150" b="1" i="0" dirty="0">
                <a:solidFill>
                  <a:srgbClr val="E6EAF2"/>
                </a:solidFill>
                <a:latin typeface="Inter"/>
              </a:rPr>
              <a:t>’s 24 BMC wards</a:t>
            </a:r>
            <a:endParaRPr sz="1150" b="1" i="0" dirty="0">
              <a:solidFill>
                <a:srgbClr val="E6EAF2"/>
              </a:solidFill>
              <a:latin typeface="Inter"/>
            </a:endParaRPr>
          </a:p>
        </p:txBody>
      </p:sp>
      <p:pic>
        <p:nvPicPr>
          <p:cNvPr id="20" name="Picture 19" descr="deck-hero-dark.png"/>
          <p:cNvPicPr>
            <a:picLocks noChangeAspect="1"/>
          </p:cNvPicPr>
          <p:nvPr/>
        </p:nvPicPr>
        <p:blipFill>
          <a:blip r:embed="rId3"/>
          <a:srcRect l="46000" t="10000" b="2000"/>
          <a:stretch>
            <a:fillRect/>
          </a:stretch>
        </p:blipFill>
        <p:spPr>
          <a:xfrm>
            <a:off x="6919306" y="1572768"/>
            <a:ext cx="4769427" cy="4041648"/>
          </a:xfrm>
          <a:prstGeom prst="rect">
            <a:avLst/>
          </a:prstGeom>
          <a:ln w="9525">
            <a:solidFill>
              <a:srgbClr val="2A3040"/>
            </a:solidFill>
          </a:ln>
        </p:spPr>
      </p:pic>
      <p:sp>
        <p:nvSpPr>
          <p:cNvPr id="21" name="TextBox 20"/>
          <p:cNvSpPr txBox="1"/>
          <p:nvPr/>
        </p:nvSpPr>
        <p:spPr>
          <a:xfrm>
            <a:off x="6919306" y="5678424"/>
            <a:ext cx="4769427" cy="365760"/>
          </a:xfrm>
          <a:prstGeom prst="rect">
            <a:avLst/>
          </a:prstGeom>
          <a:noFill/>
        </p:spPr>
        <p:txBody>
          <a:bodyPr wrap="square" lIns="0" tIns="0" rIns="0" bIns="0" anchor="t">
            <a:spAutoFit/>
          </a:bodyPr>
          <a:lstStyle/>
          <a:p>
            <a:pPr algn="ctr">
              <a:lnSpc>
                <a:spcPct val="112000"/>
              </a:lnSpc>
            </a:pPr>
            <a:r>
              <a:rPr sz="850" b="0" i="0">
                <a:solidFill>
                  <a:srgbClr val="9AA3B2"/>
                </a:solidFill>
                <a:latin typeface="Inter"/>
              </a:rPr>
              <a:t>Every ward in Mumbai, raised and coloured by its heat risk.</a:t>
            </a:r>
          </a:p>
        </p:txBody>
      </p:sp>
      <p:pic>
        <p:nvPicPr>
          <p:cNvPr id="22" name="Picture 21" descr="icon-512.png"/>
          <p:cNvPicPr>
            <a:picLocks noChangeAspect="1"/>
          </p:cNvPicPr>
          <p:nvPr/>
        </p:nvPicPr>
        <p:blipFill>
          <a:blip r:embed="rId4"/>
          <a:stretch>
            <a:fillRect/>
          </a:stretch>
        </p:blipFill>
        <p:spPr>
          <a:xfrm>
            <a:off x="10835640" y="274320"/>
            <a:ext cx="182880" cy="182880"/>
          </a:xfrm>
          <a:prstGeom prst="rect">
            <a:avLst/>
          </a:prstGeom>
        </p:spPr>
      </p:pic>
      <p:sp>
        <p:nvSpPr>
          <p:cNvPr id="23" name="TextBox 22"/>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24" name="TextBox 23"/>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 / 21</a:t>
            </a:r>
          </a:p>
        </p:txBody>
      </p:sp>
      <p:sp>
        <p:nvSpPr>
          <p:cNvPr id="25" name="TextBox 24"/>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Live at ucip-eight.vercel.app. Code at github.com/AnayDhawan/UCIP. Every figure in this deck is computed by my own pipeline, from openly licensed data. Sources are given on the slide where each claim appears, and in full on slide 21. The opening observation, that named storms are taken more seriously than unnamed heat waves, is Eleni Myrivili's, UN Global Chief Heat Officer.</a:t>
            </a:r>
          </a:p>
        </p:txBody>
      </p:sp>
      <p:sp>
        <p:nvSpPr>
          <p:cNvPr id="26" name="TextBox 25">
            <a:extLst>
              <a:ext uri="{FF2B5EF4-FFF2-40B4-BE49-F238E27FC236}">
                <a16:creationId xmlns:a16="http://schemas.microsoft.com/office/drawing/2014/main" id="{68D41289-E832-412D-E9CE-03D63EF5F09A}"/>
              </a:ext>
            </a:extLst>
          </p:cNvPr>
          <p:cNvSpPr txBox="1"/>
          <p:nvPr/>
        </p:nvSpPr>
        <p:spPr>
          <a:xfrm>
            <a:off x="6720840" y="3730752"/>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01 · PROJECT OVERVIEW &amp; PARTICIPANT DETAILS</a:t>
            </a:r>
          </a:p>
        </p:txBody>
      </p:sp>
      <p:sp>
        <p:nvSpPr>
          <p:cNvPr id="3" name="Rounded Rectangle 2"/>
          <p:cNvSpPr/>
          <p:nvPr/>
        </p:nvSpPr>
        <p:spPr>
          <a:xfrm>
            <a:off x="502920" y="960120"/>
            <a:ext cx="1188720" cy="54864"/>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25880"/>
            <a:ext cx="10789920" cy="457200"/>
          </a:xfrm>
          <a:prstGeom prst="rect">
            <a:avLst/>
          </a:prstGeom>
          <a:noFill/>
        </p:spPr>
        <p:txBody>
          <a:bodyPr wrap="square" lIns="0" tIns="0" rIns="0" bIns="0" anchor="t">
            <a:spAutoFit/>
          </a:bodyPr>
          <a:lstStyle/>
          <a:p>
            <a:pPr algn="l">
              <a:lnSpc>
                <a:spcPct val="118000"/>
              </a:lnSpc>
            </a:pPr>
            <a:r>
              <a:rPr sz="2700" b="1" i="0">
                <a:solidFill>
                  <a:srgbClr val="FFFFFF"/>
                </a:solidFill>
                <a:latin typeface="Inter"/>
              </a:rPr>
              <a:t>The problem, stated as one chain</a:t>
            </a:r>
          </a:p>
        </p:txBody>
      </p:sp>
      <p:sp>
        <p:nvSpPr>
          <p:cNvPr id="5" name="Rounded Rectangle 4"/>
          <p:cNvSpPr/>
          <p:nvPr/>
        </p:nvSpPr>
        <p:spPr>
          <a:xfrm>
            <a:off x="502920" y="3083449"/>
            <a:ext cx="2487168" cy="118872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3327201"/>
            <a:ext cx="2340864" cy="701218"/>
          </a:xfrm>
          <a:prstGeom prst="rect">
            <a:avLst/>
          </a:prstGeom>
          <a:noFill/>
        </p:spPr>
        <p:txBody>
          <a:bodyPr wrap="square" lIns="0" tIns="0" rIns="0" bIns="0" anchor="ctr">
            <a:spAutoFit/>
          </a:bodyPr>
          <a:lstStyle/>
          <a:p>
            <a:pPr algn="ctr"/>
            <a:r>
              <a:rPr sz="800" b="1" i="0" dirty="0">
                <a:solidFill>
                  <a:srgbClr val="E4572E"/>
                </a:solidFill>
                <a:latin typeface="JetBrains Mono"/>
              </a:rPr>
              <a:t>01</a:t>
            </a:r>
          </a:p>
          <a:p>
            <a:pPr algn="ctr">
              <a:spcBef>
                <a:spcPts val="200"/>
              </a:spcBef>
            </a:pPr>
            <a:r>
              <a:rPr sz="1000" b="1" i="0" dirty="0">
                <a:solidFill>
                  <a:srgbClr val="FFFFFF"/>
                </a:solidFill>
                <a:latin typeface="Inter"/>
              </a:rPr>
              <a:t>More heat</a:t>
            </a:r>
          </a:p>
          <a:p>
            <a:pPr algn="ctr">
              <a:spcBef>
                <a:spcPts val="100"/>
              </a:spcBef>
            </a:pPr>
            <a:r>
              <a:rPr lang="en-US" sz="780" b="0" i="0" dirty="0">
                <a:solidFill>
                  <a:srgbClr val="9AA3B2"/>
                </a:solidFill>
                <a:latin typeface="Inter"/>
              </a:rPr>
              <a:t>Cities worldwide, especially those in India,</a:t>
            </a:r>
          </a:p>
          <a:p>
            <a:pPr algn="ctr">
              <a:spcBef>
                <a:spcPts val="100"/>
              </a:spcBef>
            </a:pPr>
            <a:r>
              <a:rPr lang="en-US" sz="780" b="0" i="0" dirty="0">
                <a:solidFill>
                  <a:srgbClr val="9AA3B2"/>
                </a:solidFill>
                <a:latin typeface="Inter"/>
              </a:rPr>
              <a:t> are heating immensely, making the </a:t>
            </a:r>
          </a:p>
          <a:p>
            <a:pPr algn="ctr">
              <a:spcBef>
                <a:spcPts val="100"/>
              </a:spcBef>
            </a:pPr>
            <a:r>
              <a:rPr lang="en-US" sz="780" b="0" i="0" dirty="0">
                <a:solidFill>
                  <a:srgbClr val="9AA3B2"/>
                </a:solidFill>
                <a:latin typeface="Inter"/>
              </a:rPr>
              <a:t>outdoors not suc</a:t>
            </a:r>
            <a:r>
              <a:rPr lang="en-US" sz="780" dirty="0">
                <a:solidFill>
                  <a:srgbClr val="9AA3B2"/>
                </a:solidFill>
                <a:latin typeface="Inter"/>
              </a:rPr>
              <a:t>h a pleasant place.</a:t>
            </a:r>
            <a:endParaRPr sz="780" b="0" i="0" dirty="0">
              <a:solidFill>
                <a:srgbClr val="9AA3B2"/>
              </a:solidFill>
              <a:latin typeface="Inter"/>
            </a:endParaRPr>
          </a:p>
        </p:txBody>
      </p:sp>
      <p:sp>
        <p:nvSpPr>
          <p:cNvPr id="7" name="Right Arrow 6"/>
          <p:cNvSpPr/>
          <p:nvPr/>
        </p:nvSpPr>
        <p:spPr>
          <a:xfrm>
            <a:off x="3044952" y="3540649"/>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37560" y="3083449"/>
            <a:ext cx="2487168" cy="118872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10712" y="3393628"/>
            <a:ext cx="2340864" cy="568361"/>
          </a:xfrm>
          <a:prstGeom prst="rect">
            <a:avLst/>
          </a:prstGeom>
          <a:noFill/>
        </p:spPr>
        <p:txBody>
          <a:bodyPr wrap="square" lIns="0" tIns="0" rIns="0" bIns="0" anchor="ctr">
            <a:spAutoFit/>
          </a:bodyPr>
          <a:lstStyle/>
          <a:p>
            <a:pPr algn="ctr"/>
            <a:r>
              <a:rPr sz="800" b="1" i="0" dirty="0">
                <a:solidFill>
                  <a:srgbClr val="F0A63A"/>
                </a:solidFill>
                <a:latin typeface="JetBrains Mono"/>
              </a:rPr>
              <a:t>02</a:t>
            </a:r>
          </a:p>
          <a:p>
            <a:pPr algn="ctr">
              <a:spcBef>
                <a:spcPts val="200"/>
              </a:spcBef>
            </a:pPr>
            <a:r>
              <a:rPr sz="1000" b="1" i="0" dirty="0">
                <a:solidFill>
                  <a:srgbClr val="FFFFFF"/>
                </a:solidFill>
                <a:latin typeface="Inter"/>
              </a:rPr>
              <a:t>Discomfort, then illness</a:t>
            </a:r>
          </a:p>
          <a:p>
            <a:pPr algn="ctr">
              <a:spcBef>
                <a:spcPts val="100"/>
              </a:spcBef>
            </a:pPr>
            <a:r>
              <a:rPr lang="en-US" sz="780" dirty="0">
                <a:solidFill>
                  <a:srgbClr val="9AA3B2"/>
                </a:solidFill>
                <a:latin typeface="Inter"/>
              </a:rPr>
              <a:t>D</a:t>
            </a:r>
            <a:r>
              <a:rPr sz="780" b="0" i="0" dirty="0">
                <a:solidFill>
                  <a:srgbClr val="9AA3B2"/>
                </a:solidFill>
                <a:latin typeface="Inter"/>
              </a:rPr>
              <a:t>iscomfort for all, danger
for some, load on hospitals</a:t>
            </a:r>
          </a:p>
        </p:txBody>
      </p:sp>
      <p:sp>
        <p:nvSpPr>
          <p:cNvPr id="10" name="Right Arrow 9"/>
          <p:cNvSpPr/>
          <p:nvPr/>
        </p:nvSpPr>
        <p:spPr>
          <a:xfrm>
            <a:off x="5879592" y="3540649"/>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3083449"/>
            <a:ext cx="2487168" cy="118872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5352" y="3340025"/>
            <a:ext cx="2340864" cy="675570"/>
          </a:xfrm>
          <a:prstGeom prst="rect">
            <a:avLst/>
          </a:prstGeom>
          <a:noFill/>
        </p:spPr>
        <p:txBody>
          <a:bodyPr wrap="square" lIns="0" tIns="0" rIns="0" bIns="0" anchor="ctr">
            <a:spAutoFit/>
          </a:bodyPr>
          <a:lstStyle/>
          <a:p>
            <a:pPr algn="ctr"/>
            <a:r>
              <a:rPr sz="800" b="1" i="0" dirty="0">
                <a:solidFill>
                  <a:srgbClr val="0EA5B3"/>
                </a:solidFill>
                <a:latin typeface="JetBrains Mono"/>
              </a:rPr>
              <a:t>03</a:t>
            </a:r>
          </a:p>
          <a:p>
            <a:pPr algn="ctr">
              <a:spcBef>
                <a:spcPts val="200"/>
              </a:spcBef>
            </a:pPr>
            <a:r>
              <a:rPr sz="1000" b="1" i="0" dirty="0">
                <a:solidFill>
                  <a:srgbClr val="FFFFFF"/>
                </a:solidFill>
                <a:latin typeface="Inter"/>
              </a:rPr>
              <a:t>Citizens suffer</a:t>
            </a:r>
            <a:endParaRPr lang="en-US" sz="1000" b="1" i="0" dirty="0">
              <a:solidFill>
                <a:srgbClr val="FFFFFF"/>
              </a:solidFill>
              <a:latin typeface="Inter"/>
            </a:endParaRPr>
          </a:p>
          <a:p>
            <a:pPr algn="ctr">
              <a:spcBef>
                <a:spcPts val="100"/>
              </a:spcBef>
            </a:pPr>
            <a:r>
              <a:rPr lang="en-US" sz="780" b="0" i="0" dirty="0">
                <a:solidFill>
                  <a:srgbClr val="9AA3B2"/>
                </a:solidFill>
                <a:latin typeface="Inter"/>
              </a:rPr>
              <a:t>Heat harms </a:t>
            </a:r>
            <a:r>
              <a:rPr lang="en-US" sz="780" dirty="0">
                <a:solidFill>
                  <a:srgbClr val="9AA3B2"/>
                </a:solidFill>
                <a:latin typeface="Inter"/>
              </a:rPr>
              <a:t>people </a:t>
            </a:r>
            <a:r>
              <a:rPr lang="en-US" sz="780" b="0" i="0" dirty="0">
                <a:solidFill>
                  <a:srgbClr val="9AA3B2"/>
                </a:solidFill>
                <a:latin typeface="Inter"/>
              </a:rPr>
              <a:t>without discriminating. </a:t>
            </a:r>
            <a:r>
              <a:rPr lang="en-US" sz="780" dirty="0">
                <a:solidFill>
                  <a:srgbClr val="9AA3B2"/>
                </a:solidFill>
                <a:latin typeface="Inter"/>
              </a:rPr>
              <a:t>Global warming is one of the greatest threats to not just Humanity, but also all other organisms living in Earth</a:t>
            </a:r>
            <a:endParaRPr lang="en-US" sz="780" b="0" i="0" dirty="0">
              <a:solidFill>
                <a:srgbClr val="9AA3B2"/>
              </a:solidFill>
              <a:latin typeface="Inter"/>
            </a:endParaRPr>
          </a:p>
        </p:txBody>
      </p:sp>
      <p:sp>
        <p:nvSpPr>
          <p:cNvPr id="13" name="Right Arrow 12"/>
          <p:cNvSpPr/>
          <p:nvPr/>
        </p:nvSpPr>
        <p:spPr>
          <a:xfrm>
            <a:off x="8714232" y="3540649"/>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006840" y="3083449"/>
            <a:ext cx="2487168" cy="118872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79992" y="3288250"/>
            <a:ext cx="2340864" cy="1000274"/>
          </a:xfrm>
          <a:prstGeom prst="rect">
            <a:avLst/>
          </a:prstGeom>
          <a:noFill/>
        </p:spPr>
        <p:txBody>
          <a:bodyPr wrap="square" lIns="0" tIns="0" rIns="0" bIns="0" anchor="ctr">
            <a:spAutoFit/>
          </a:bodyPr>
          <a:lstStyle/>
          <a:p>
            <a:pPr algn="ctr"/>
            <a:r>
              <a:rPr sz="800" b="1" i="0" dirty="0">
                <a:solidFill>
                  <a:srgbClr val="22C55E"/>
                </a:solidFill>
                <a:latin typeface="JetBrains Mono"/>
              </a:rPr>
              <a:t>04</a:t>
            </a:r>
          </a:p>
          <a:p>
            <a:pPr algn="ctr">
              <a:spcBef>
                <a:spcPts val="200"/>
              </a:spcBef>
            </a:pPr>
            <a:r>
              <a:rPr sz="1000" b="1" i="0" dirty="0">
                <a:solidFill>
                  <a:srgbClr val="FFFFFF"/>
                </a:solidFill>
                <a:latin typeface="Inter"/>
              </a:rPr>
              <a:t>So where</a:t>
            </a:r>
            <a:r>
              <a:rPr lang="en-US" sz="1000" b="1" i="0" dirty="0">
                <a:solidFill>
                  <a:srgbClr val="FFFFFF"/>
                </a:solidFill>
                <a:latin typeface="Inter"/>
              </a:rPr>
              <a:t> do we</a:t>
            </a:r>
            <a:r>
              <a:rPr sz="1000" b="1" i="0" dirty="0">
                <a:solidFill>
                  <a:srgbClr val="FFFFFF"/>
                </a:solidFill>
                <a:latin typeface="Inter"/>
              </a:rPr>
              <a:t> act first?</a:t>
            </a:r>
            <a:endParaRPr lang="en-US" sz="1000" b="1" i="0" dirty="0">
              <a:solidFill>
                <a:srgbClr val="FFFFFF"/>
              </a:solidFill>
              <a:latin typeface="Inter"/>
            </a:endParaRPr>
          </a:p>
          <a:p>
            <a:pPr algn="ctr">
              <a:spcBef>
                <a:spcPts val="200"/>
              </a:spcBef>
            </a:pPr>
            <a:r>
              <a:rPr lang="en-US" sz="800" dirty="0">
                <a:solidFill>
                  <a:srgbClr val="9AA3B2"/>
                </a:solidFill>
                <a:latin typeface="Inter"/>
              </a:rPr>
              <a:t>Heat must not just be combatted with Air Conditioners, but more sustainable, long-term and more effective large-scale strategies that make the outdoors a more livable place to be in.</a:t>
            </a:r>
          </a:p>
          <a:p>
            <a:pPr algn="ctr">
              <a:spcBef>
                <a:spcPts val="200"/>
              </a:spcBef>
            </a:pPr>
            <a:endParaRPr sz="1000" i="0" dirty="0">
              <a:solidFill>
                <a:schemeClr val="tx1">
                  <a:lumMod val="50000"/>
                </a:schemeClr>
              </a:solidFill>
              <a:latin typeface="Inter"/>
            </a:endParaRPr>
          </a:p>
        </p:txBody>
      </p:sp>
      <p:sp>
        <p:nvSpPr>
          <p:cNvPr id="19" name="Rounded Rectangle 18"/>
          <p:cNvSpPr/>
          <p:nvPr/>
        </p:nvSpPr>
        <p:spPr>
          <a:xfrm>
            <a:off x="502920" y="4415585"/>
            <a:ext cx="10917936" cy="1005840"/>
          </a:xfrm>
          <a:prstGeom prst="roundRect">
            <a:avLst>
              <a:gd name="adj" fmla="val 6000"/>
            </a:avLst>
          </a:prstGeom>
          <a:solidFill>
            <a:srgbClr val="1A2029"/>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 y="4826877"/>
            <a:ext cx="10625328" cy="183255"/>
          </a:xfrm>
          <a:prstGeom prst="rect">
            <a:avLst/>
          </a:prstGeom>
          <a:noFill/>
        </p:spPr>
        <p:txBody>
          <a:bodyPr wrap="square" lIns="0" tIns="0" rIns="0" bIns="0" anchor="ctr">
            <a:spAutoFit/>
          </a:bodyPr>
          <a:lstStyle/>
          <a:p>
            <a:pPr>
              <a:lnSpc>
                <a:spcPct val="115000"/>
              </a:lnSpc>
            </a:pPr>
            <a:r>
              <a:rPr lang="en-US" sz="1100" b="1" i="0" dirty="0">
                <a:solidFill>
                  <a:srgbClr val="FFFFFF"/>
                </a:solidFill>
                <a:latin typeface="Inter"/>
              </a:rPr>
              <a:t>Over the </a:t>
            </a:r>
            <a:r>
              <a:rPr sz="1100" b="1" i="0" dirty="0">
                <a:solidFill>
                  <a:srgbClr val="FFFFFF"/>
                </a:solidFill>
                <a:latin typeface="Inter"/>
              </a:rPr>
              <a:t>next eighteen slides</a:t>
            </a:r>
            <a:r>
              <a:rPr lang="en-US" sz="1100" b="1" dirty="0">
                <a:solidFill>
                  <a:srgbClr val="FFFFFF"/>
                </a:solidFill>
                <a:latin typeface="Inter"/>
              </a:rPr>
              <a:t>:</a:t>
            </a:r>
            <a:r>
              <a:rPr sz="1100" b="1" i="0" dirty="0">
                <a:solidFill>
                  <a:srgbClr val="FFFFFF"/>
                </a:solidFill>
                <a:latin typeface="Inter"/>
              </a:rPr>
              <a:t> </a:t>
            </a:r>
            <a:r>
              <a:rPr sz="1000" b="0" i="0" dirty="0">
                <a:solidFill>
                  <a:srgbClr val="9AA3B2"/>
                </a:solidFill>
                <a:latin typeface="Inter"/>
              </a:rPr>
              <a:t>First the chain, link by link. Then what already exists and why it stops short. Then the tool itself, how it decides, what it refuses to do, and what it changes for Mumbai.</a:t>
            </a:r>
          </a:p>
        </p:txBody>
      </p:sp>
      <p:pic>
        <p:nvPicPr>
          <p:cNvPr id="21" name="Picture 20" descr="icon-512.png"/>
          <p:cNvPicPr>
            <a:picLocks noChangeAspect="1"/>
          </p:cNvPicPr>
          <p:nvPr/>
        </p:nvPicPr>
        <p:blipFill>
          <a:blip r:embed="rId3"/>
          <a:stretch>
            <a:fillRect/>
          </a:stretch>
        </p:blipFill>
        <p:spPr>
          <a:xfrm>
            <a:off x="10835640" y="274320"/>
            <a:ext cx="182880" cy="182880"/>
          </a:xfrm>
          <a:prstGeom prst="rect">
            <a:avLst/>
          </a:prstGeom>
        </p:spPr>
      </p:pic>
      <p:sp>
        <p:nvSpPr>
          <p:cNvPr id="22" name="TextBox 21"/>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23" name="TextBox 22"/>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2 / 21</a:t>
            </a:r>
          </a:p>
        </p:txBody>
      </p:sp>
      <p:sp>
        <p:nvSpPr>
          <p:cNvPr id="24" name="TextBox 23"/>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The chain is my framing. Evidence for each link follows on slides 3 to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02 · PROBLEM UNDERSTANDING</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Link one: more heat, and it lands unevenly</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3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dirty="0">
                <a:solidFill>
                  <a:srgbClr val="52565D"/>
                </a:solidFill>
                <a:latin typeface="Inter"/>
              </a:rPr>
              <a:t>Sources: Landsat 8/9 Collection 2 (USGS), ESA </a:t>
            </a:r>
            <a:r>
              <a:rPr sz="750" b="0" i="0" dirty="0" err="1">
                <a:solidFill>
                  <a:srgbClr val="52565D"/>
                </a:solidFill>
                <a:latin typeface="Inter"/>
              </a:rPr>
              <a:t>WorldCover</a:t>
            </a:r>
            <a:r>
              <a:rPr sz="750" b="0" i="0" dirty="0">
                <a:solidFill>
                  <a:srgbClr val="52565D"/>
                </a:solidFill>
                <a:latin typeface="Inter"/>
              </a:rPr>
              <a:t> v200, </a:t>
            </a:r>
            <a:r>
              <a:rPr sz="750" b="0" i="0" dirty="0" err="1">
                <a:solidFill>
                  <a:srgbClr val="52565D"/>
                </a:solidFill>
                <a:latin typeface="Inter"/>
              </a:rPr>
              <a:t>WorldPop</a:t>
            </a:r>
            <a:r>
              <a:rPr sz="750" b="0" i="0" dirty="0">
                <a:solidFill>
                  <a:srgbClr val="52565D"/>
                </a:solidFill>
                <a:latin typeface="Inter"/>
              </a:rPr>
              <a:t> 2020, OpenStreetMap, </a:t>
            </a:r>
            <a:r>
              <a:rPr sz="750" b="0" i="0" dirty="0" err="1">
                <a:solidFill>
                  <a:srgbClr val="52565D"/>
                </a:solidFill>
                <a:latin typeface="Inter"/>
              </a:rPr>
              <a:t>Datameet</a:t>
            </a:r>
            <a:r>
              <a:rPr sz="750" b="0" i="0" dirty="0">
                <a:solidFill>
                  <a:srgbClr val="52565D"/>
                </a:solidFill>
                <a:latin typeface="Inter"/>
              </a:rPr>
              <a:t>. Global anomaly map: NASA Goddard Scientific Visualization Studio, GISTEMP v4, 1880 to 2024. Ward figures computed by my own pipeline.</a:t>
            </a:r>
          </a:p>
        </p:txBody>
      </p:sp>
      <p:sp>
        <p:nvSpPr>
          <p:cNvPr id="9" name="Rounded Rectangle 8"/>
          <p:cNvSpPr/>
          <p:nvPr/>
        </p:nvSpPr>
        <p:spPr>
          <a:xfrm>
            <a:off x="502920"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371600"/>
            <a:ext cx="1956815" cy="512063"/>
          </a:xfrm>
          <a:prstGeom prst="rect">
            <a:avLst/>
          </a:prstGeom>
          <a:noFill/>
        </p:spPr>
        <p:txBody>
          <a:bodyPr wrap="square" lIns="0" tIns="0" rIns="0" bIns="0" anchor="ctr">
            <a:spAutoFit/>
          </a:bodyPr>
          <a:lstStyle/>
          <a:p>
            <a:pPr algn="ctr"/>
            <a:r>
              <a:rPr sz="800" b="1" i="0">
                <a:solidFill>
                  <a:srgbClr val="E4572E"/>
                </a:solidFill>
                <a:latin typeface="JetBrains Mono"/>
              </a:rPr>
              <a:t>01</a:t>
            </a:r>
          </a:p>
          <a:p>
            <a:pPr algn="ctr">
              <a:spcBef>
                <a:spcPts val="200"/>
              </a:spcBef>
            </a:pPr>
            <a:r>
              <a:rPr sz="1000" b="1" i="0">
                <a:solidFill>
                  <a:srgbClr val="FFFFFF"/>
                </a:solidFill>
                <a:latin typeface="Inter"/>
              </a:rPr>
              <a:t>More heat</a:t>
            </a:r>
          </a:p>
          <a:p>
            <a:pPr algn="ctr">
              <a:spcBef>
                <a:spcPts val="100"/>
              </a:spcBef>
            </a:pPr>
            <a:r>
              <a:rPr sz="780" b="0" i="0">
                <a:solidFill>
                  <a:srgbClr val="9AA3B2"/>
                </a:solidFill>
                <a:latin typeface="Inter"/>
              </a:rPr>
              <a:t>Mumbai is heating,
and not evenly</a:t>
            </a:r>
          </a:p>
        </p:txBody>
      </p:sp>
      <p:sp>
        <p:nvSpPr>
          <p:cNvPr id="11" name="Right Arrow 10"/>
          <p:cNvSpPr/>
          <p:nvPr/>
        </p:nvSpPr>
        <p:spPr>
          <a:xfrm>
            <a:off x="266090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80359"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53511" y="1371600"/>
            <a:ext cx="1956815" cy="512063"/>
          </a:xfrm>
          <a:prstGeom prst="rect">
            <a:avLst/>
          </a:prstGeom>
          <a:noFill/>
        </p:spPr>
        <p:txBody>
          <a:bodyPr wrap="square" lIns="0" tIns="0" rIns="0" bIns="0" anchor="ctr">
            <a:spAutoFit/>
          </a:bodyPr>
          <a:lstStyle/>
          <a:p>
            <a:pPr algn="ctr"/>
            <a:r>
              <a:rPr sz="800" b="1" i="0">
                <a:solidFill>
                  <a:srgbClr val="9AA3B2"/>
                </a:solidFill>
                <a:latin typeface="JetBrains Mono"/>
              </a:rPr>
              <a:t>02</a:t>
            </a:r>
          </a:p>
          <a:p>
            <a:pPr algn="ctr">
              <a:spcBef>
                <a:spcPts val="200"/>
              </a:spcBef>
            </a:pPr>
            <a:r>
              <a:rPr sz="1000" b="1" i="0">
                <a:solidFill>
                  <a:srgbClr val="FFFFFF"/>
                </a:solidFill>
                <a:latin typeface="Inter"/>
              </a:rPr>
              <a:t>Discomfort, then illness</a:t>
            </a:r>
          </a:p>
          <a:p>
            <a:pPr algn="ctr">
              <a:spcBef>
                <a:spcPts val="100"/>
              </a:spcBef>
            </a:pPr>
            <a:r>
              <a:rPr sz="780" b="0" i="0">
                <a:solidFill>
                  <a:srgbClr val="9AA3B2"/>
                </a:solidFill>
                <a:latin typeface="Inter"/>
              </a:rPr>
              <a:t>discomfort for all, danger
for some, load on hospitals</a:t>
            </a:r>
          </a:p>
        </p:txBody>
      </p:sp>
      <p:sp>
        <p:nvSpPr>
          <p:cNvPr id="14" name="Right Arrow 13"/>
          <p:cNvSpPr/>
          <p:nvPr/>
        </p:nvSpPr>
        <p:spPr>
          <a:xfrm>
            <a:off x="503834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57799"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30951" y="1371600"/>
            <a:ext cx="1956815" cy="512063"/>
          </a:xfrm>
          <a:prstGeom prst="rect">
            <a:avLst/>
          </a:prstGeom>
          <a:noFill/>
        </p:spPr>
        <p:txBody>
          <a:bodyPr wrap="square" lIns="0" tIns="0" rIns="0" bIns="0" anchor="ctr">
            <a:spAutoFit/>
          </a:bodyPr>
          <a:lstStyle/>
          <a:p>
            <a:pPr algn="ctr"/>
            <a:r>
              <a:rPr sz="800" b="1" i="0">
                <a:solidFill>
                  <a:srgbClr val="9AA3B2"/>
                </a:solidFill>
                <a:latin typeface="JetBrains Mono"/>
              </a:rPr>
              <a:t>03</a:t>
            </a:r>
          </a:p>
          <a:p>
            <a:pPr algn="ctr">
              <a:spcBef>
                <a:spcPts val="200"/>
              </a:spcBef>
            </a:pPr>
            <a:r>
              <a:rPr sz="1000" b="1" i="0">
                <a:solidFill>
                  <a:srgbClr val="FFFFFF"/>
                </a:solidFill>
                <a:latin typeface="Inter"/>
              </a:rPr>
              <a:t>Citizens suffer</a:t>
            </a:r>
          </a:p>
          <a:p>
            <a:pPr algn="ctr">
              <a:spcBef>
                <a:spcPts val="100"/>
              </a:spcBef>
            </a:pPr>
            <a:r>
              <a:rPr sz="780" b="0" i="0">
                <a:solidFill>
                  <a:srgbClr val="9AA3B2"/>
                </a:solidFill>
                <a:latin typeface="Inter"/>
              </a:rPr>
              <a:t>hardest where people
can least cope</a:t>
            </a:r>
          </a:p>
        </p:txBody>
      </p:sp>
      <p:sp>
        <p:nvSpPr>
          <p:cNvPr id="17" name="Right Arrow 16"/>
          <p:cNvSpPr/>
          <p:nvPr/>
        </p:nvSpPr>
        <p:spPr>
          <a:xfrm>
            <a:off x="741578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635240"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08392" y="1409879"/>
            <a:ext cx="1956815" cy="435504"/>
          </a:xfrm>
          <a:prstGeom prst="rect">
            <a:avLst/>
          </a:prstGeom>
          <a:noFill/>
        </p:spPr>
        <p:txBody>
          <a:bodyPr wrap="square" lIns="0" tIns="0" rIns="0" bIns="0" anchor="ctr">
            <a:spAutoFit/>
          </a:bodyPr>
          <a:lstStyle/>
          <a:p>
            <a:pPr algn="ctr"/>
            <a:r>
              <a:rPr sz="800" b="1" i="0" dirty="0">
                <a:solidFill>
                  <a:srgbClr val="9AA3B2"/>
                </a:solidFill>
                <a:latin typeface="JetBrains Mono"/>
              </a:rPr>
              <a:t>04</a:t>
            </a:r>
          </a:p>
          <a:p>
            <a:pPr algn="ctr">
              <a:spcBef>
                <a:spcPts val="200"/>
              </a:spcBef>
            </a:pPr>
            <a:r>
              <a:rPr sz="1000" b="1" i="0" dirty="0">
                <a:solidFill>
                  <a:srgbClr val="FFFFFF"/>
                </a:solidFill>
                <a:latin typeface="Inter"/>
              </a:rPr>
              <a:t>So where to act first?</a:t>
            </a:r>
          </a:p>
          <a:p>
            <a:pPr algn="ctr">
              <a:spcBef>
                <a:spcPts val="100"/>
              </a:spcBef>
            </a:pPr>
            <a:r>
              <a:rPr sz="780" b="0" i="0" dirty="0">
                <a:solidFill>
                  <a:srgbClr val="9AA3B2"/>
                </a:solidFill>
                <a:latin typeface="Inter"/>
              </a:rPr>
              <a:t>one budget,</a:t>
            </a:r>
            <a:r>
              <a:rPr lang="en-US" sz="780" b="0" i="0" dirty="0">
                <a:solidFill>
                  <a:srgbClr val="9AA3B2"/>
                </a:solidFill>
                <a:latin typeface="Inter"/>
              </a:rPr>
              <a:t> </a:t>
            </a:r>
            <a:r>
              <a:rPr sz="780" b="0" i="0" dirty="0">
                <a:solidFill>
                  <a:srgbClr val="9AA3B2"/>
                </a:solidFill>
                <a:latin typeface="Inter"/>
              </a:rPr>
              <a:t>twenty</a:t>
            </a:r>
            <a:r>
              <a:rPr lang="en-US" sz="780" b="0" i="0" dirty="0">
                <a:solidFill>
                  <a:srgbClr val="9AA3B2"/>
                </a:solidFill>
                <a:latin typeface="Inter"/>
              </a:rPr>
              <a:t>-</a:t>
            </a:r>
            <a:r>
              <a:rPr sz="780" b="0" i="0" dirty="0">
                <a:solidFill>
                  <a:srgbClr val="9AA3B2"/>
                </a:solidFill>
                <a:latin typeface="Inter"/>
              </a:rPr>
              <a:t>four wards</a:t>
            </a:r>
          </a:p>
        </p:txBody>
      </p:sp>
      <p:sp>
        <p:nvSpPr>
          <p:cNvPr id="20" name="Rounded Rectangle 19"/>
          <p:cNvSpPr/>
          <p:nvPr/>
        </p:nvSpPr>
        <p:spPr>
          <a:xfrm>
            <a:off x="502920" y="2212848"/>
            <a:ext cx="6766560" cy="914400"/>
          </a:xfrm>
          <a:prstGeom prst="roundRect">
            <a:avLst>
              <a:gd name="adj" fmla="val 6000"/>
            </a:avLst>
          </a:prstGeom>
          <a:solidFill>
            <a:srgbClr val="1A2029"/>
          </a:solidFill>
          <a:ln w="9525">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 y="2212848"/>
            <a:ext cx="1325880" cy="914400"/>
          </a:xfrm>
          <a:prstGeom prst="rect">
            <a:avLst/>
          </a:prstGeom>
          <a:noFill/>
        </p:spPr>
        <p:txBody>
          <a:bodyPr wrap="square" lIns="0" tIns="0" rIns="0" bIns="0" anchor="ctr">
            <a:spAutoFit/>
          </a:bodyPr>
          <a:lstStyle/>
          <a:p>
            <a:pPr algn="l">
              <a:lnSpc>
                <a:spcPct val="118000"/>
              </a:lnSpc>
            </a:pPr>
            <a:r>
              <a:rPr sz="2600" b="1" i="0">
                <a:solidFill>
                  <a:srgbClr val="E4572E"/>
                </a:solidFill>
                <a:latin typeface="JetBrains Mono"/>
              </a:rPr>
              <a:t>13.7 °C</a:t>
            </a:r>
          </a:p>
        </p:txBody>
      </p:sp>
      <p:sp>
        <p:nvSpPr>
          <p:cNvPr id="22" name="TextBox 21"/>
          <p:cNvSpPr txBox="1"/>
          <p:nvPr/>
        </p:nvSpPr>
        <p:spPr>
          <a:xfrm>
            <a:off x="1975104" y="2267712"/>
            <a:ext cx="5148072" cy="804672"/>
          </a:xfrm>
          <a:prstGeom prst="rect">
            <a:avLst/>
          </a:prstGeom>
          <a:noFill/>
        </p:spPr>
        <p:txBody>
          <a:bodyPr wrap="square" lIns="0" tIns="0" rIns="0" bIns="0" anchor="ctr">
            <a:spAutoFit/>
          </a:bodyPr>
          <a:lstStyle/>
          <a:p>
            <a:pPr algn="l">
              <a:lnSpc>
                <a:spcPct val="115000"/>
              </a:lnSpc>
            </a:pPr>
            <a:r>
              <a:rPr sz="950" b="0" i="0">
                <a:solidFill>
                  <a:srgbClr val="9AA3B2"/>
                </a:solidFill>
                <a:latin typeface="Inter"/>
              </a:rPr>
              <a:t>difference between the coolest and the hottest square kilometre of this city, measured on the same day, from the same satellite pass.</a:t>
            </a:r>
          </a:p>
        </p:txBody>
      </p:sp>
      <p:graphicFrame>
        <p:nvGraphicFramePr>
          <p:cNvPr id="23" name="Table 22"/>
          <p:cNvGraphicFramePr>
            <a:graphicFrameLocks noGrp="1"/>
          </p:cNvGraphicFramePr>
          <p:nvPr>
            <p:extLst>
              <p:ext uri="{D42A27DB-BD31-4B8C-83A1-F6EECF244321}">
                <p14:modId xmlns:p14="http://schemas.microsoft.com/office/powerpoint/2010/main" val="1939709063"/>
              </p:ext>
            </p:extLst>
          </p:nvPr>
        </p:nvGraphicFramePr>
        <p:xfrm>
          <a:off x="502920" y="3346704"/>
          <a:ext cx="6766560" cy="2231133"/>
        </p:xfrm>
        <a:graphic>
          <a:graphicData uri="http://schemas.openxmlformats.org/drawingml/2006/table">
            <a:tbl>
              <a:tblPr>
                <a:tableStyleId>{5940675A-B579-460E-94D1-54222C63F5DA}</a:tableStyleId>
              </a:tblPr>
              <a:tblGrid>
                <a:gridCol w="27432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292608">
                <a:tc>
                  <a:txBody>
                    <a:bodyPr/>
                    <a:lstStyle/>
                    <a:p>
                      <a:pPr algn="l">
                        <a:lnSpc>
                          <a:spcPct val="105000"/>
                        </a:lnSpc>
                      </a:pPr>
                      <a:r>
                        <a:rPr sz="950" b="1">
                          <a:solidFill>
                            <a:srgbClr val="FFFFFF"/>
                          </a:solidFill>
                          <a:latin typeface="Inter"/>
                        </a:rPr>
                        <a:t>Indicator</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Range across Mumbai</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City average</a:t>
                      </a:r>
                    </a:p>
                  </a:txBody>
                  <a:tcPr marL="73152" marR="73152" marT="27432" marB="27432" anchor="ctr">
                    <a:solidFill>
                      <a:srgbClr val="0EA5B3"/>
                    </a:solidFill>
                  </a:tcPr>
                </a:tc>
                <a:extLst>
                  <a:ext uri="{0D108BD9-81ED-4DB2-BD59-A6C34878D82A}">
                    <a16:rowId xmlns:a16="http://schemas.microsoft.com/office/drawing/2014/main" val="10000"/>
                  </a:ext>
                </a:extLst>
              </a:tr>
              <a:tr h="387705">
                <a:tc>
                  <a:txBody>
                    <a:bodyPr/>
                    <a:lstStyle/>
                    <a:p>
                      <a:pPr algn="l">
                        <a:lnSpc>
                          <a:spcPct val="105000"/>
                        </a:lnSpc>
                      </a:pPr>
                      <a:r>
                        <a:rPr sz="940" b="1">
                          <a:solidFill>
                            <a:srgbClr val="E6EAF2"/>
                          </a:solidFill>
                          <a:latin typeface="Inter"/>
                        </a:rPr>
                        <a:t>How hot the ground gets</a:t>
                      </a:r>
                    </a:p>
                  </a:txBody>
                  <a:tcPr marL="73152" marR="73152" marT="27432" marB="27432" anchor="ctr">
                    <a:solidFill>
                      <a:srgbClr val="151A24"/>
                    </a:solidFill>
                  </a:tcPr>
                </a:tc>
                <a:tc>
                  <a:txBody>
                    <a:bodyPr/>
                    <a:lstStyle/>
                    <a:p>
                      <a:pPr algn="l">
                        <a:lnSpc>
                          <a:spcPct val="105000"/>
                        </a:lnSpc>
                      </a:pPr>
                      <a:r>
                        <a:rPr sz="940" b="0">
                          <a:solidFill>
                            <a:srgbClr val="9AA3B2"/>
                          </a:solidFill>
                          <a:latin typeface="Inter"/>
                        </a:rPr>
                        <a:t>26 °C to 40 °C</a:t>
                      </a:r>
                    </a:p>
                  </a:txBody>
                  <a:tcPr marL="73152" marR="73152" marT="27432" marB="27432" anchor="ctr">
                    <a:solidFill>
                      <a:srgbClr val="151A24"/>
                    </a:solidFill>
                  </a:tcPr>
                </a:tc>
                <a:tc>
                  <a:txBody>
                    <a:bodyPr/>
                    <a:lstStyle/>
                    <a:p>
                      <a:pPr algn="l">
                        <a:lnSpc>
                          <a:spcPct val="105000"/>
                        </a:lnSpc>
                      </a:pPr>
                      <a:r>
                        <a:rPr sz="940" b="0">
                          <a:solidFill>
                            <a:srgbClr val="9AA3B2"/>
                          </a:solidFill>
                          <a:latin typeface="Inter"/>
                        </a:rPr>
                        <a:t>32 °C</a:t>
                      </a:r>
                    </a:p>
                  </a:txBody>
                  <a:tcPr marL="73152" marR="73152" marT="27432" marB="27432" anchor="ctr">
                    <a:solidFill>
                      <a:srgbClr val="151A24"/>
                    </a:solidFill>
                  </a:tcPr>
                </a:tc>
                <a:extLst>
                  <a:ext uri="{0D108BD9-81ED-4DB2-BD59-A6C34878D82A}">
                    <a16:rowId xmlns:a16="http://schemas.microsoft.com/office/drawing/2014/main" val="10001"/>
                  </a:ext>
                </a:extLst>
              </a:tr>
              <a:tr h="387705">
                <a:tc>
                  <a:txBody>
                    <a:bodyPr/>
                    <a:lstStyle/>
                    <a:p>
                      <a:pPr algn="l">
                        <a:lnSpc>
                          <a:spcPct val="105000"/>
                        </a:lnSpc>
                      </a:pPr>
                      <a:r>
                        <a:rPr sz="940" b="1">
                          <a:solidFill>
                            <a:srgbClr val="E6EAF2"/>
                          </a:solidFill>
                          <a:latin typeface="Inter"/>
                        </a:rPr>
                        <a:t>How green it is</a:t>
                      </a:r>
                    </a:p>
                  </a:txBody>
                  <a:tcPr marL="73152" marR="73152" marT="27432" marB="27432" anchor="ctr">
                    <a:solidFill>
                      <a:srgbClr val="151A24"/>
                    </a:solidFill>
                  </a:tcPr>
                </a:tc>
                <a:tc>
                  <a:txBody>
                    <a:bodyPr/>
                    <a:lstStyle/>
                    <a:p>
                      <a:pPr algn="l">
                        <a:lnSpc>
                          <a:spcPct val="105000"/>
                        </a:lnSpc>
                      </a:pPr>
                      <a:r>
                        <a:rPr sz="940" b="0">
                          <a:solidFill>
                            <a:srgbClr val="9AA3B2"/>
                          </a:solidFill>
                          <a:latin typeface="Inter"/>
                        </a:rPr>
                        <a:t>almost bare to lush</a:t>
                      </a:r>
                    </a:p>
                  </a:txBody>
                  <a:tcPr marL="73152" marR="73152" marT="27432" marB="27432" anchor="ctr">
                    <a:solidFill>
                      <a:srgbClr val="151A24"/>
                    </a:solidFill>
                  </a:tcPr>
                </a:tc>
                <a:tc>
                  <a:txBody>
                    <a:bodyPr/>
                    <a:lstStyle/>
                    <a:p>
                      <a:pPr algn="l">
                        <a:lnSpc>
                          <a:spcPct val="105000"/>
                        </a:lnSpc>
                      </a:pPr>
                      <a:r>
                        <a:rPr sz="940" b="0">
                          <a:solidFill>
                            <a:srgbClr val="9AA3B2"/>
                          </a:solidFill>
                          <a:latin typeface="Inter"/>
                        </a:rPr>
                        <a:t>patchy</a:t>
                      </a:r>
                    </a:p>
                  </a:txBody>
                  <a:tcPr marL="73152" marR="73152" marT="27432" marB="27432" anchor="ctr">
                    <a:solidFill>
                      <a:srgbClr val="151A24"/>
                    </a:solidFill>
                  </a:tcPr>
                </a:tc>
                <a:extLst>
                  <a:ext uri="{0D108BD9-81ED-4DB2-BD59-A6C34878D82A}">
                    <a16:rowId xmlns:a16="http://schemas.microsoft.com/office/drawing/2014/main" val="10002"/>
                  </a:ext>
                </a:extLst>
              </a:tr>
              <a:tr h="387705">
                <a:tc>
                  <a:txBody>
                    <a:bodyPr/>
                    <a:lstStyle/>
                    <a:p>
                      <a:pPr algn="l">
                        <a:lnSpc>
                          <a:spcPct val="105000"/>
                        </a:lnSpc>
                      </a:pPr>
                      <a:r>
                        <a:rPr sz="940" b="1">
                          <a:solidFill>
                            <a:srgbClr val="E6EAF2"/>
                          </a:solidFill>
                          <a:latin typeface="Inter"/>
                        </a:rPr>
                        <a:t>Concrete and paving</a:t>
                      </a:r>
                    </a:p>
                  </a:txBody>
                  <a:tcPr marL="73152" marR="73152" marT="27432" marB="27432" anchor="ctr">
                    <a:solidFill>
                      <a:srgbClr val="151A24"/>
                    </a:solidFill>
                  </a:tcPr>
                </a:tc>
                <a:tc>
                  <a:txBody>
                    <a:bodyPr/>
                    <a:lstStyle/>
                    <a:p>
                      <a:pPr algn="l">
                        <a:lnSpc>
                          <a:spcPct val="105000"/>
                        </a:lnSpc>
                      </a:pPr>
                      <a:r>
                        <a:rPr lang="en-US" sz="940" b="0" dirty="0">
                          <a:solidFill>
                            <a:srgbClr val="9AA3B2"/>
                          </a:solidFill>
                          <a:latin typeface="Inter"/>
                        </a:rPr>
                        <a:t>30</a:t>
                      </a:r>
                      <a:r>
                        <a:rPr sz="940" b="0" dirty="0">
                          <a:solidFill>
                            <a:srgbClr val="9AA3B2"/>
                          </a:solidFill>
                          <a:latin typeface="Inter"/>
                        </a:rPr>
                        <a:t> % to 97 %</a:t>
                      </a:r>
                    </a:p>
                  </a:txBody>
                  <a:tcPr marL="73152" marR="73152" marT="27432" marB="27432" anchor="ctr">
                    <a:solidFill>
                      <a:srgbClr val="151A24"/>
                    </a:solidFill>
                  </a:tcPr>
                </a:tc>
                <a:tc>
                  <a:txBody>
                    <a:bodyPr/>
                    <a:lstStyle/>
                    <a:p>
                      <a:pPr algn="l">
                        <a:lnSpc>
                          <a:spcPct val="105000"/>
                        </a:lnSpc>
                      </a:pPr>
                      <a:r>
                        <a:rPr sz="940" b="0">
                          <a:solidFill>
                            <a:srgbClr val="9AA3B2"/>
                          </a:solidFill>
                          <a:latin typeface="Inter"/>
                        </a:rPr>
                        <a:t>39 %</a:t>
                      </a:r>
                    </a:p>
                  </a:txBody>
                  <a:tcPr marL="73152" marR="73152" marT="27432" marB="27432" anchor="ctr">
                    <a:solidFill>
                      <a:srgbClr val="151A24"/>
                    </a:solidFill>
                  </a:tcPr>
                </a:tc>
                <a:extLst>
                  <a:ext uri="{0D108BD9-81ED-4DB2-BD59-A6C34878D82A}">
                    <a16:rowId xmlns:a16="http://schemas.microsoft.com/office/drawing/2014/main" val="10003"/>
                  </a:ext>
                </a:extLst>
              </a:tr>
              <a:tr h="387705">
                <a:tc>
                  <a:txBody>
                    <a:bodyPr/>
                    <a:lstStyle/>
                    <a:p>
                      <a:pPr algn="l">
                        <a:lnSpc>
                          <a:spcPct val="105000"/>
                        </a:lnSpc>
                      </a:pPr>
                      <a:r>
                        <a:rPr sz="940" b="1" dirty="0">
                          <a:solidFill>
                            <a:srgbClr val="E6EAF2"/>
                          </a:solidFill>
                          <a:latin typeface="Inter"/>
                        </a:rPr>
                        <a:t>People per square </a:t>
                      </a:r>
                      <a:r>
                        <a:rPr sz="940" b="1" dirty="0" err="1">
                          <a:solidFill>
                            <a:srgbClr val="E6EAF2"/>
                          </a:solidFill>
                          <a:latin typeface="Inter"/>
                        </a:rPr>
                        <a:t>kilometre</a:t>
                      </a:r>
                      <a:endParaRPr sz="940" b="1" dirty="0">
                        <a:solidFill>
                          <a:srgbClr val="E6EAF2"/>
                        </a:solidFill>
                        <a:latin typeface="Inter"/>
                      </a:endParaRPr>
                    </a:p>
                  </a:txBody>
                  <a:tcPr marL="73152" marR="73152" marT="27432" marB="27432" anchor="ctr">
                    <a:solidFill>
                      <a:srgbClr val="151A24"/>
                    </a:solidFill>
                  </a:tcPr>
                </a:tc>
                <a:tc>
                  <a:txBody>
                    <a:bodyPr/>
                    <a:lstStyle/>
                    <a:p>
                      <a:pPr algn="l">
                        <a:lnSpc>
                          <a:spcPct val="105000"/>
                        </a:lnSpc>
                      </a:pPr>
                      <a:r>
                        <a:rPr sz="940" b="0" dirty="0">
                          <a:solidFill>
                            <a:srgbClr val="9AA3B2"/>
                          </a:solidFill>
                          <a:latin typeface="Inter"/>
                        </a:rPr>
                        <a:t>16</a:t>
                      </a:r>
                      <a:r>
                        <a:rPr lang="en-US" sz="940" b="0" dirty="0">
                          <a:solidFill>
                            <a:srgbClr val="9AA3B2"/>
                          </a:solidFill>
                          <a:latin typeface="Inter"/>
                        </a:rPr>
                        <a:t>,000 </a:t>
                      </a:r>
                      <a:r>
                        <a:rPr sz="940" b="0" dirty="0">
                          <a:solidFill>
                            <a:srgbClr val="9AA3B2"/>
                          </a:solidFill>
                          <a:latin typeface="Inter"/>
                        </a:rPr>
                        <a:t>to 115,000</a:t>
                      </a:r>
                    </a:p>
                  </a:txBody>
                  <a:tcPr marL="73152" marR="73152" marT="27432" marB="27432" anchor="ctr">
                    <a:solidFill>
                      <a:srgbClr val="151A24"/>
                    </a:solidFill>
                  </a:tcPr>
                </a:tc>
                <a:tc>
                  <a:txBody>
                    <a:bodyPr/>
                    <a:lstStyle/>
                    <a:p>
                      <a:pPr algn="l">
                        <a:lnSpc>
                          <a:spcPct val="105000"/>
                        </a:lnSpc>
                      </a:pPr>
                      <a:r>
                        <a:rPr sz="940" b="0" dirty="0">
                          <a:solidFill>
                            <a:srgbClr val="9AA3B2"/>
                          </a:solidFill>
                          <a:latin typeface="Inter"/>
                        </a:rPr>
                        <a:t>47,270</a:t>
                      </a:r>
                    </a:p>
                  </a:txBody>
                  <a:tcPr marL="73152" marR="73152" marT="27432" marB="27432" anchor="ctr">
                    <a:solidFill>
                      <a:srgbClr val="151A24"/>
                    </a:solidFill>
                  </a:tcPr>
                </a:tc>
                <a:extLst>
                  <a:ext uri="{0D108BD9-81ED-4DB2-BD59-A6C34878D82A}">
                    <a16:rowId xmlns:a16="http://schemas.microsoft.com/office/drawing/2014/main" val="10004"/>
                  </a:ext>
                </a:extLst>
              </a:tr>
              <a:tr h="387705">
                <a:tc>
                  <a:txBody>
                    <a:bodyPr/>
                    <a:lstStyle/>
                    <a:p>
                      <a:pPr algn="l">
                        <a:lnSpc>
                          <a:spcPct val="105000"/>
                        </a:lnSpc>
                      </a:pPr>
                      <a:r>
                        <a:rPr sz="940" b="1" dirty="0">
                          <a:solidFill>
                            <a:srgbClr val="E6EAF2"/>
                          </a:solidFill>
                          <a:latin typeface="Inter"/>
                        </a:rPr>
                        <a:t>Walk to the nearest hospital</a:t>
                      </a:r>
                    </a:p>
                  </a:txBody>
                  <a:tcPr marL="73152" marR="73152" marT="27432" marB="27432" anchor="ctr">
                    <a:solidFill>
                      <a:srgbClr val="151A24"/>
                    </a:solidFill>
                  </a:tcPr>
                </a:tc>
                <a:tc>
                  <a:txBody>
                    <a:bodyPr/>
                    <a:lstStyle/>
                    <a:p>
                      <a:pPr algn="l">
                        <a:lnSpc>
                          <a:spcPct val="105000"/>
                        </a:lnSpc>
                      </a:pPr>
                      <a:r>
                        <a:rPr sz="940" b="0" dirty="0">
                          <a:solidFill>
                            <a:srgbClr val="9AA3B2"/>
                          </a:solidFill>
                          <a:latin typeface="Inter"/>
                        </a:rPr>
                        <a:t>next door to 6 km</a:t>
                      </a:r>
                    </a:p>
                  </a:txBody>
                  <a:tcPr marL="73152" marR="73152" marT="27432" marB="27432" anchor="ctr">
                    <a:solidFill>
                      <a:srgbClr val="151A24"/>
                    </a:solidFill>
                  </a:tcPr>
                </a:tc>
                <a:tc>
                  <a:txBody>
                    <a:bodyPr/>
                    <a:lstStyle/>
                    <a:p>
                      <a:pPr algn="l">
                        <a:lnSpc>
                          <a:spcPct val="105000"/>
                        </a:lnSpc>
                      </a:pPr>
                      <a:r>
                        <a:rPr sz="940" b="0" dirty="0">
                          <a:solidFill>
                            <a:srgbClr val="9AA3B2"/>
                          </a:solidFill>
                          <a:latin typeface="Inter"/>
                        </a:rPr>
                        <a:t>1,153 m</a:t>
                      </a:r>
                    </a:p>
                  </a:txBody>
                  <a:tcPr marL="73152" marR="73152" marT="27432" marB="27432" anchor="ctr">
                    <a:solidFill>
                      <a:srgbClr val="151A24"/>
                    </a:solidFill>
                  </a:tcPr>
                </a:tc>
                <a:extLst>
                  <a:ext uri="{0D108BD9-81ED-4DB2-BD59-A6C34878D82A}">
                    <a16:rowId xmlns:a16="http://schemas.microsoft.com/office/drawing/2014/main" val="10005"/>
                  </a:ext>
                </a:extLst>
              </a:tr>
            </a:tbl>
          </a:graphicData>
        </a:graphic>
      </p:graphicFrame>
      <p:sp>
        <p:nvSpPr>
          <p:cNvPr id="24" name="TextBox 23"/>
          <p:cNvSpPr txBox="1"/>
          <p:nvPr/>
        </p:nvSpPr>
        <p:spPr>
          <a:xfrm>
            <a:off x="502920" y="5742432"/>
            <a:ext cx="6766560" cy="178575"/>
          </a:xfrm>
          <a:prstGeom prst="rect">
            <a:avLst/>
          </a:prstGeom>
          <a:noFill/>
        </p:spPr>
        <p:txBody>
          <a:bodyPr wrap="square" lIns="0" tIns="0" rIns="0" bIns="0" anchor="t">
            <a:spAutoFit/>
          </a:bodyPr>
          <a:lstStyle/>
          <a:p>
            <a:pPr algn="l">
              <a:lnSpc>
                <a:spcPct val="118000"/>
              </a:lnSpc>
            </a:pPr>
            <a:r>
              <a:rPr lang="en-US" sz="1050" b="1" dirty="0">
                <a:solidFill>
                  <a:srgbClr val="E6EAF2"/>
                </a:solidFill>
                <a:latin typeface="Inter"/>
              </a:rPr>
              <a:t>Take a c</a:t>
            </a:r>
            <a:r>
              <a:rPr sz="1050" b="1" i="0" dirty="0">
                <a:solidFill>
                  <a:srgbClr val="E6EAF2"/>
                </a:solidFill>
                <a:latin typeface="Inter"/>
              </a:rPr>
              <a:t>ity-wide average erases all of it. Every gap above is somewhere you could act.</a:t>
            </a:r>
          </a:p>
        </p:txBody>
      </p:sp>
      <p:sp>
        <p:nvSpPr>
          <p:cNvPr id="26" name="TextBox 25"/>
          <p:cNvSpPr txBox="1"/>
          <p:nvPr/>
        </p:nvSpPr>
        <p:spPr>
          <a:xfrm>
            <a:off x="7755733" y="5641848"/>
            <a:ext cx="3764085" cy="274883"/>
          </a:xfrm>
          <a:prstGeom prst="rect">
            <a:avLst/>
          </a:prstGeom>
          <a:noFill/>
        </p:spPr>
        <p:txBody>
          <a:bodyPr wrap="square" lIns="0" tIns="0" rIns="0" bIns="0" anchor="t">
            <a:spAutoFit/>
          </a:bodyPr>
          <a:lstStyle/>
          <a:p>
            <a:pPr algn="ctr">
              <a:lnSpc>
                <a:spcPct val="112000"/>
              </a:lnSpc>
            </a:pPr>
            <a:r>
              <a:rPr sz="819" b="0" i="0" dirty="0">
                <a:solidFill>
                  <a:srgbClr val="9AA3B2"/>
                </a:solidFill>
                <a:latin typeface="Inter"/>
              </a:rPr>
              <a:t>Not only here. NASA's map of how much warmer each part of the world now runs.</a:t>
            </a:r>
            <a:r>
              <a:rPr lang="en-US" sz="819" b="0" i="0" dirty="0">
                <a:solidFill>
                  <a:srgbClr val="9AA3B2"/>
                </a:solidFill>
                <a:latin typeface="Inter"/>
              </a:rPr>
              <a:t> The world is on average 2-degrees </a:t>
            </a:r>
            <a:r>
              <a:rPr lang="en-US" sz="819" b="0" i="0" dirty="0" err="1">
                <a:solidFill>
                  <a:srgbClr val="9AA3B2"/>
                </a:solidFill>
                <a:latin typeface="Inter"/>
              </a:rPr>
              <a:t>Celcius</a:t>
            </a:r>
            <a:r>
              <a:rPr lang="en-US" sz="819" b="0" i="0" dirty="0">
                <a:solidFill>
                  <a:srgbClr val="9AA3B2"/>
                </a:solidFill>
                <a:latin typeface="Inter"/>
              </a:rPr>
              <a:t> hotter than pre-industrial revolution era.</a:t>
            </a:r>
            <a:endParaRPr sz="819" b="0" i="0" dirty="0">
              <a:solidFill>
                <a:srgbClr val="9AA3B2"/>
              </a:solidFill>
              <a:latin typeface="Inter"/>
            </a:endParaRPr>
          </a:p>
        </p:txBody>
      </p:sp>
      <p:pic>
        <p:nvPicPr>
          <p:cNvPr id="30" name="Picture 29" descr="deck-global-lst-may2026.png">
            <a:extLst>
              <a:ext uri="{FF2B5EF4-FFF2-40B4-BE49-F238E27FC236}">
                <a16:creationId xmlns:a16="http://schemas.microsoft.com/office/drawing/2014/main" id="{A4E3FD8E-D9B3-8385-DB9D-14FEDE171296}"/>
              </a:ext>
            </a:extLst>
          </p:cNvPr>
          <p:cNvPicPr>
            <a:picLocks noChangeAspect="1"/>
          </p:cNvPicPr>
          <p:nvPr/>
        </p:nvPicPr>
        <p:blipFill>
          <a:blip r:embed="rId4"/>
          <a:srcRect/>
          <a:stretch>
            <a:fillRect/>
          </a:stretch>
        </p:blipFill>
        <p:spPr>
          <a:xfrm>
            <a:off x="7415783" y="2350008"/>
            <a:ext cx="4270249" cy="3172799"/>
          </a:xfrm>
          <a:prstGeom prst="rect">
            <a:avLst/>
          </a:prstGeom>
          <a:ln w="9525">
            <a:solidFill>
              <a:srgbClr val="2A3040"/>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02 · PROBLEM UNDERSTANDING</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300" b="1" i="0">
                <a:solidFill>
                  <a:srgbClr val="FFFFFF"/>
                </a:solidFill>
                <a:latin typeface="Inter"/>
              </a:rPr>
              <a:t>Link two: heat is uncomfortable for everyone and dangerous for some</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4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Reid et al. 2009, Environ Health Perspect, doi 10.1289/ehp.0900683 (age and isolation as heat-vulnerability factors). Hospital locations: OpenStreetMap. Ward distances computed by my own pipeline.</a:t>
            </a:r>
          </a:p>
        </p:txBody>
      </p:sp>
      <p:sp>
        <p:nvSpPr>
          <p:cNvPr id="9" name="Rounded Rectangle 8"/>
          <p:cNvSpPr/>
          <p:nvPr/>
        </p:nvSpPr>
        <p:spPr>
          <a:xfrm>
            <a:off x="502920"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371600"/>
            <a:ext cx="1956815" cy="512063"/>
          </a:xfrm>
          <a:prstGeom prst="rect">
            <a:avLst/>
          </a:prstGeom>
          <a:noFill/>
        </p:spPr>
        <p:txBody>
          <a:bodyPr wrap="square" lIns="0" tIns="0" rIns="0" bIns="0" anchor="ctr">
            <a:spAutoFit/>
          </a:bodyPr>
          <a:lstStyle/>
          <a:p>
            <a:pPr algn="ctr"/>
            <a:r>
              <a:rPr sz="800" b="1" i="0" dirty="0">
                <a:solidFill>
                  <a:srgbClr val="9AA3B2"/>
                </a:solidFill>
                <a:latin typeface="JetBrains Mono"/>
              </a:rPr>
              <a:t>01</a:t>
            </a:r>
          </a:p>
          <a:p>
            <a:pPr algn="ctr">
              <a:spcBef>
                <a:spcPts val="200"/>
              </a:spcBef>
            </a:pPr>
            <a:r>
              <a:rPr sz="1000" b="1" i="0" dirty="0">
                <a:solidFill>
                  <a:srgbClr val="FFFFFF"/>
                </a:solidFill>
                <a:latin typeface="Inter"/>
              </a:rPr>
              <a:t>More heat</a:t>
            </a:r>
          </a:p>
          <a:p>
            <a:pPr algn="ctr">
              <a:spcBef>
                <a:spcPts val="100"/>
              </a:spcBef>
            </a:pPr>
            <a:r>
              <a:rPr sz="780" b="0" i="0" dirty="0">
                <a:solidFill>
                  <a:srgbClr val="9AA3B2"/>
                </a:solidFill>
                <a:latin typeface="Inter"/>
              </a:rPr>
              <a:t>Mumbai is heating,
and not evenly</a:t>
            </a:r>
          </a:p>
        </p:txBody>
      </p:sp>
      <p:sp>
        <p:nvSpPr>
          <p:cNvPr id="11" name="Right Arrow 10"/>
          <p:cNvSpPr/>
          <p:nvPr/>
        </p:nvSpPr>
        <p:spPr>
          <a:xfrm>
            <a:off x="266090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880359"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53511" y="1371600"/>
            <a:ext cx="1956815" cy="512063"/>
          </a:xfrm>
          <a:prstGeom prst="rect">
            <a:avLst/>
          </a:prstGeom>
          <a:noFill/>
        </p:spPr>
        <p:txBody>
          <a:bodyPr wrap="square" lIns="0" tIns="0" rIns="0" bIns="0" anchor="ctr">
            <a:spAutoFit/>
          </a:bodyPr>
          <a:lstStyle/>
          <a:p>
            <a:pPr algn="ctr"/>
            <a:r>
              <a:rPr sz="800" b="1" i="0" dirty="0">
                <a:solidFill>
                  <a:srgbClr val="F0A63A"/>
                </a:solidFill>
                <a:latin typeface="JetBrains Mono"/>
              </a:rPr>
              <a:t>02</a:t>
            </a:r>
          </a:p>
          <a:p>
            <a:pPr algn="ctr">
              <a:spcBef>
                <a:spcPts val="200"/>
              </a:spcBef>
            </a:pPr>
            <a:r>
              <a:rPr sz="1000" b="1" i="0" dirty="0">
                <a:solidFill>
                  <a:srgbClr val="FFFFFF"/>
                </a:solidFill>
                <a:latin typeface="Inter"/>
              </a:rPr>
              <a:t>Discomfort, then illness</a:t>
            </a:r>
          </a:p>
          <a:p>
            <a:pPr algn="ctr">
              <a:spcBef>
                <a:spcPts val="100"/>
              </a:spcBef>
            </a:pPr>
            <a:r>
              <a:rPr sz="780" b="0" i="0" dirty="0">
                <a:solidFill>
                  <a:srgbClr val="9AA3B2"/>
                </a:solidFill>
                <a:latin typeface="Inter"/>
              </a:rPr>
              <a:t>discomfort for all, danger
for some, load on hospitals</a:t>
            </a:r>
          </a:p>
        </p:txBody>
      </p:sp>
      <p:sp>
        <p:nvSpPr>
          <p:cNvPr id="14" name="Right Arrow 13"/>
          <p:cNvSpPr/>
          <p:nvPr/>
        </p:nvSpPr>
        <p:spPr>
          <a:xfrm>
            <a:off x="503834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57799"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30951" y="1371600"/>
            <a:ext cx="1956815" cy="512063"/>
          </a:xfrm>
          <a:prstGeom prst="rect">
            <a:avLst/>
          </a:prstGeom>
          <a:noFill/>
        </p:spPr>
        <p:txBody>
          <a:bodyPr wrap="square" lIns="0" tIns="0" rIns="0" bIns="0" anchor="ctr">
            <a:spAutoFit/>
          </a:bodyPr>
          <a:lstStyle/>
          <a:p>
            <a:pPr algn="ctr"/>
            <a:r>
              <a:rPr sz="800" b="1" i="0">
                <a:solidFill>
                  <a:srgbClr val="9AA3B2"/>
                </a:solidFill>
                <a:latin typeface="JetBrains Mono"/>
              </a:rPr>
              <a:t>03</a:t>
            </a:r>
          </a:p>
          <a:p>
            <a:pPr algn="ctr">
              <a:spcBef>
                <a:spcPts val="200"/>
              </a:spcBef>
            </a:pPr>
            <a:r>
              <a:rPr sz="1000" b="1" i="0">
                <a:solidFill>
                  <a:srgbClr val="FFFFFF"/>
                </a:solidFill>
                <a:latin typeface="Inter"/>
              </a:rPr>
              <a:t>Citizens suffer</a:t>
            </a:r>
          </a:p>
          <a:p>
            <a:pPr algn="ctr">
              <a:spcBef>
                <a:spcPts val="100"/>
              </a:spcBef>
            </a:pPr>
            <a:r>
              <a:rPr sz="780" b="0" i="0">
                <a:solidFill>
                  <a:srgbClr val="9AA3B2"/>
                </a:solidFill>
                <a:latin typeface="Inter"/>
              </a:rPr>
              <a:t>hardest where people
can least cope</a:t>
            </a:r>
          </a:p>
        </p:txBody>
      </p:sp>
      <p:sp>
        <p:nvSpPr>
          <p:cNvPr id="17" name="Right Arrow 16"/>
          <p:cNvSpPr/>
          <p:nvPr/>
        </p:nvSpPr>
        <p:spPr>
          <a:xfrm>
            <a:off x="7415783" y="1490472"/>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635240" y="1298448"/>
            <a:ext cx="2103120" cy="65836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08392" y="1403467"/>
            <a:ext cx="1956815" cy="448328"/>
          </a:xfrm>
          <a:prstGeom prst="rect">
            <a:avLst/>
          </a:prstGeom>
          <a:noFill/>
        </p:spPr>
        <p:txBody>
          <a:bodyPr wrap="square" lIns="0" tIns="0" rIns="0" bIns="0" anchor="ctr">
            <a:spAutoFit/>
          </a:bodyPr>
          <a:lstStyle/>
          <a:p>
            <a:pPr algn="ctr"/>
            <a:r>
              <a:rPr sz="800" b="1" i="0" dirty="0">
                <a:solidFill>
                  <a:srgbClr val="9AA3B2"/>
                </a:solidFill>
                <a:latin typeface="JetBrains Mono"/>
              </a:rPr>
              <a:t>04</a:t>
            </a:r>
          </a:p>
          <a:p>
            <a:pPr algn="ctr">
              <a:spcBef>
                <a:spcPts val="200"/>
              </a:spcBef>
            </a:pPr>
            <a:r>
              <a:rPr sz="1000" b="1" i="0" dirty="0">
                <a:solidFill>
                  <a:srgbClr val="FFFFFF"/>
                </a:solidFill>
                <a:latin typeface="Inter"/>
              </a:rPr>
              <a:t>So where to act first?</a:t>
            </a:r>
            <a:endParaRPr lang="en-US" sz="1000" b="1" i="0" dirty="0">
              <a:solidFill>
                <a:srgbClr val="FFFFFF"/>
              </a:solidFill>
              <a:latin typeface="Inter"/>
            </a:endParaRPr>
          </a:p>
          <a:p>
            <a:pPr algn="ctr">
              <a:spcBef>
                <a:spcPts val="200"/>
              </a:spcBef>
            </a:pPr>
            <a:r>
              <a:rPr sz="780" b="0" i="0" dirty="0">
                <a:solidFill>
                  <a:srgbClr val="9AA3B2"/>
                </a:solidFill>
                <a:latin typeface="Inter"/>
              </a:rPr>
              <a:t>one budget,</a:t>
            </a:r>
            <a:r>
              <a:rPr lang="en-US" sz="780" b="0" i="0" dirty="0">
                <a:solidFill>
                  <a:srgbClr val="9AA3B2"/>
                </a:solidFill>
                <a:latin typeface="Inter"/>
              </a:rPr>
              <a:t> </a:t>
            </a:r>
            <a:r>
              <a:rPr sz="780" b="0" i="0" dirty="0">
                <a:solidFill>
                  <a:srgbClr val="9AA3B2"/>
                </a:solidFill>
                <a:latin typeface="Inter"/>
              </a:rPr>
              <a:t>twenty four wards</a:t>
            </a:r>
          </a:p>
        </p:txBody>
      </p:sp>
      <p:sp>
        <p:nvSpPr>
          <p:cNvPr id="20" name="Rounded Rectangle 19"/>
          <p:cNvSpPr/>
          <p:nvPr/>
        </p:nvSpPr>
        <p:spPr>
          <a:xfrm>
            <a:off x="502920" y="2212848"/>
            <a:ext cx="2615184" cy="1609344"/>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340864"/>
            <a:ext cx="2249424" cy="274320"/>
          </a:xfrm>
          <a:prstGeom prst="rect">
            <a:avLst/>
          </a:prstGeom>
          <a:noFill/>
        </p:spPr>
        <p:txBody>
          <a:bodyPr wrap="square" lIns="0" tIns="0" rIns="0" bIns="0" anchor="t">
            <a:spAutoFit/>
          </a:bodyPr>
          <a:lstStyle/>
          <a:p>
            <a:r>
              <a:rPr sz="1250" b="1" i="0">
                <a:solidFill>
                  <a:srgbClr val="E4572E"/>
                </a:solidFill>
                <a:latin typeface="Inter"/>
              </a:rPr>
              <a:t>● </a:t>
            </a:r>
            <a:r>
              <a:rPr sz="1250" b="1" i="0">
                <a:solidFill>
                  <a:srgbClr val="FFFFFF"/>
                </a:solidFill>
                <a:latin typeface="Inter"/>
              </a:rPr>
              <a:t>Homes that hold heat</a:t>
            </a:r>
          </a:p>
        </p:txBody>
      </p:sp>
      <p:sp>
        <p:nvSpPr>
          <p:cNvPr id="22" name="TextBox 21"/>
          <p:cNvSpPr txBox="1"/>
          <p:nvPr/>
        </p:nvSpPr>
        <p:spPr>
          <a:xfrm>
            <a:off x="685800" y="2688336"/>
            <a:ext cx="2249424" cy="950976"/>
          </a:xfrm>
          <a:prstGeom prst="rect">
            <a:avLst/>
          </a:prstGeom>
          <a:noFill/>
        </p:spPr>
        <p:txBody>
          <a:bodyPr wrap="square" lIns="0" tIns="0" rIns="0" bIns="0" anchor="t">
            <a:spAutoFit/>
          </a:bodyPr>
          <a:lstStyle/>
          <a:p>
            <a:pPr algn="l">
              <a:lnSpc>
                <a:spcPct val="118000"/>
              </a:lnSpc>
            </a:pPr>
            <a:r>
              <a:rPr sz="960" b="0" i="0" dirty="0">
                <a:solidFill>
                  <a:srgbClr val="9AA3B2"/>
                </a:solidFill>
                <a:latin typeface="Inter"/>
              </a:rPr>
              <a:t>Metal and asbestos roofs soak up heat all day and give it back all night. The body never gets the cool break it needs to recover.</a:t>
            </a:r>
          </a:p>
        </p:txBody>
      </p:sp>
      <p:sp>
        <p:nvSpPr>
          <p:cNvPr id="23" name="Rounded Rectangle 22"/>
          <p:cNvSpPr/>
          <p:nvPr/>
        </p:nvSpPr>
        <p:spPr>
          <a:xfrm>
            <a:off x="3264408" y="2212848"/>
            <a:ext cx="2615184" cy="1609344"/>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47288" y="2340864"/>
            <a:ext cx="2249424" cy="274320"/>
          </a:xfrm>
          <a:prstGeom prst="rect">
            <a:avLst/>
          </a:prstGeom>
          <a:noFill/>
        </p:spPr>
        <p:txBody>
          <a:bodyPr wrap="square" lIns="0" tIns="0" rIns="0" bIns="0" anchor="t">
            <a:spAutoFit/>
          </a:bodyPr>
          <a:lstStyle/>
          <a:p>
            <a:r>
              <a:rPr sz="1250" b="1" i="0">
                <a:solidFill>
                  <a:srgbClr val="F0A63A"/>
                </a:solidFill>
                <a:latin typeface="Inter"/>
              </a:rPr>
              <a:t>● </a:t>
            </a:r>
            <a:r>
              <a:rPr sz="1250" b="1" i="0">
                <a:solidFill>
                  <a:srgbClr val="FFFFFF"/>
                </a:solidFill>
                <a:latin typeface="Inter"/>
              </a:rPr>
              <a:t>Older residents</a:t>
            </a:r>
          </a:p>
        </p:txBody>
      </p:sp>
      <p:sp>
        <p:nvSpPr>
          <p:cNvPr id="25" name="TextBox 24"/>
          <p:cNvSpPr txBox="1"/>
          <p:nvPr/>
        </p:nvSpPr>
        <p:spPr>
          <a:xfrm>
            <a:off x="3447288" y="2688336"/>
            <a:ext cx="2249424" cy="950976"/>
          </a:xfrm>
          <a:prstGeom prst="rect">
            <a:avLst/>
          </a:prstGeom>
          <a:noFill/>
        </p:spPr>
        <p:txBody>
          <a:bodyPr wrap="square" lIns="0" tIns="0" rIns="0" bIns="0" anchor="t">
            <a:spAutoFit/>
          </a:bodyPr>
          <a:lstStyle/>
          <a:p>
            <a:pPr algn="l">
              <a:lnSpc>
                <a:spcPct val="118000"/>
              </a:lnSpc>
            </a:pPr>
            <a:r>
              <a:rPr sz="960" b="0" i="0">
                <a:solidFill>
                  <a:srgbClr val="9AA3B2"/>
                </a:solidFill>
                <a:latin typeface="Inter"/>
              </a:rPr>
              <a:t>The risk of dying in a heat wave rises steeply with age, and older people are the least able to move somewhere cooler.</a:t>
            </a:r>
          </a:p>
        </p:txBody>
      </p:sp>
      <p:sp>
        <p:nvSpPr>
          <p:cNvPr id="26" name="Rounded Rectangle 25"/>
          <p:cNvSpPr/>
          <p:nvPr/>
        </p:nvSpPr>
        <p:spPr>
          <a:xfrm>
            <a:off x="6025896" y="2212848"/>
            <a:ext cx="2615184" cy="1609344"/>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2340864"/>
            <a:ext cx="2249424" cy="274320"/>
          </a:xfrm>
          <a:prstGeom prst="rect">
            <a:avLst/>
          </a:prstGeom>
          <a:noFill/>
        </p:spPr>
        <p:txBody>
          <a:bodyPr wrap="square" lIns="0" tIns="0" rIns="0" bIns="0" anchor="t">
            <a:spAutoFit/>
          </a:bodyPr>
          <a:lstStyle/>
          <a:p>
            <a:r>
              <a:rPr sz="1250" b="1" i="0">
                <a:solidFill>
                  <a:srgbClr val="0EA5B3"/>
                </a:solidFill>
                <a:latin typeface="Inter"/>
              </a:rPr>
              <a:t>● </a:t>
            </a:r>
            <a:r>
              <a:rPr sz="1250" b="1" i="0">
                <a:solidFill>
                  <a:srgbClr val="FFFFFF"/>
                </a:solidFill>
                <a:latin typeface="Inter"/>
              </a:rPr>
              <a:t>Far from help</a:t>
            </a:r>
          </a:p>
        </p:txBody>
      </p:sp>
      <p:sp>
        <p:nvSpPr>
          <p:cNvPr id="28" name="TextBox 27"/>
          <p:cNvSpPr txBox="1"/>
          <p:nvPr/>
        </p:nvSpPr>
        <p:spPr>
          <a:xfrm>
            <a:off x="6208776" y="2688336"/>
            <a:ext cx="2249424" cy="950976"/>
          </a:xfrm>
          <a:prstGeom prst="rect">
            <a:avLst/>
          </a:prstGeom>
          <a:noFill/>
        </p:spPr>
        <p:txBody>
          <a:bodyPr wrap="square" lIns="0" tIns="0" rIns="0" bIns="0" anchor="t">
            <a:spAutoFit/>
          </a:bodyPr>
          <a:lstStyle/>
          <a:p>
            <a:pPr algn="l">
              <a:lnSpc>
                <a:spcPct val="118000"/>
              </a:lnSpc>
            </a:pPr>
            <a:r>
              <a:rPr sz="960" b="0" i="0" dirty="0">
                <a:solidFill>
                  <a:srgbClr val="9AA3B2"/>
                </a:solidFill>
                <a:latin typeface="Inter"/>
              </a:rPr>
              <a:t>Heat illness gets dangerous in hours. In this city, the distance to the nearest hospital ranges from next door to six </a:t>
            </a:r>
            <a:r>
              <a:rPr sz="960" b="0" i="0" dirty="0" err="1">
                <a:solidFill>
                  <a:srgbClr val="9AA3B2"/>
                </a:solidFill>
                <a:latin typeface="Inter"/>
              </a:rPr>
              <a:t>kilometres</a:t>
            </a:r>
            <a:r>
              <a:rPr sz="960" b="0" i="0" dirty="0">
                <a:solidFill>
                  <a:srgbClr val="9AA3B2"/>
                </a:solidFill>
                <a:latin typeface="Inter"/>
              </a:rPr>
              <a:t>.</a:t>
            </a:r>
          </a:p>
        </p:txBody>
      </p:sp>
      <p:sp>
        <p:nvSpPr>
          <p:cNvPr id="29" name="Rounded Rectangle 28"/>
          <p:cNvSpPr/>
          <p:nvPr/>
        </p:nvSpPr>
        <p:spPr>
          <a:xfrm>
            <a:off x="8787384" y="2212848"/>
            <a:ext cx="2615184" cy="1609344"/>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70263" y="2340864"/>
            <a:ext cx="2249424" cy="274320"/>
          </a:xfrm>
          <a:prstGeom prst="rect">
            <a:avLst/>
          </a:prstGeom>
          <a:noFill/>
        </p:spPr>
        <p:txBody>
          <a:bodyPr wrap="square" lIns="0" tIns="0" rIns="0" bIns="0" anchor="t">
            <a:spAutoFit/>
          </a:bodyPr>
          <a:lstStyle/>
          <a:p>
            <a:r>
              <a:rPr sz="1250" b="1" i="0">
                <a:solidFill>
                  <a:srgbClr val="22C55E"/>
                </a:solidFill>
                <a:latin typeface="Inter"/>
              </a:rPr>
              <a:t>● </a:t>
            </a:r>
            <a:r>
              <a:rPr sz="1250" b="1" i="0">
                <a:solidFill>
                  <a:srgbClr val="FFFFFF"/>
                </a:solidFill>
                <a:latin typeface="Inter"/>
              </a:rPr>
              <a:t>Out in it all day</a:t>
            </a:r>
          </a:p>
        </p:txBody>
      </p:sp>
      <p:sp>
        <p:nvSpPr>
          <p:cNvPr id="31" name="TextBox 30"/>
          <p:cNvSpPr txBox="1"/>
          <p:nvPr/>
        </p:nvSpPr>
        <p:spPr>
          <a:xfrm>
            <a:off x="8970263" y="2688336"/>
            <a:ext cx="2249424" cy="860685"/>
          </a:xfrm>
          <a:prstGeom prst="rect">
            <a:avLst/>
          </a:prstGeom>
          <a:noFill/>
        </p:spPr>
        <p:txBody>
          <a:bodyPr wrap="square" lIns="0" tIns="0" rIns="0" bIns="0" anchor="t">
            <a:spAutoFit/>
          </a:bodyPr>
          <a:lstStyle/>
          <a:p>
            <a:pPr>
              <a:lnSpc>
                <a:spcPct val="118000"/>
              </a:lnSpc>
            </a:pPr>
            <a:r>
              <a:rPr sz="960" b="0" i="0" dirty="0">
                <a:solidFill>
                  <a:srgbClr val="9AA3B2"/>
                </a:solidFill>
                <a:latin typeface="Inter"/>
              </a:rPr>
              <a:t>Anyone waiting at a bus stop or on a platform takes the full exposure, with no cool room to go back to.</a:t>
            </a:r>
            <a:r>
              <a:rPr lang="en-US" sz="960" dirty="0">
                <a:solidFill>
                  <a:srgbClr val="9AA3B2"/>
                </a:solidFill>
                <a:latin typeface="Inter"/>
              </a:rPr>
              <a:t> From delivery partners to students to drivers and blue-collar workers. </a:t>
            </a:r>
            <a:endParaRPr sz="960" b="0" i="0" dirty="0">
              <a:solidFill>
                <a:srgbClr val="9AA3B2"/>
              </a:solidFill>
              <a:latin typeface="Inter"/>
            </a:endParaRPr>
          </a:p>
        </p:txBody>
      </p:sp>
      <p:sp>
        <p:nvSpPr>
          <p:cNvPr id="32" name="Rounded Rectangle 31"/>
          <p:cNvSpPr/>
          <p:nvPr/>
        </p:nvSpPr>
        <p:spPr>
          <a:xfrm>
            <a:off x="502920" y="4160520"/>
            <a:ext cx="5349240" cy="932688"/>
          </a:xfrm>
          <a:prstGeom prst="roundRect">
            <a:avLst>
              <a:gd name="adj" fmla="val 6000"/>
            </a:avLst>
          </a:prstGeom>
          <a:solidFill>
            <a:srgbClr val="1A2029"/>
          </a:solidFill>
          <a:ln w="9525">
            <a:solidFill>
              <a:srgbClr val="F0A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p:cNvSpPr txBox="1"/>
          <p:nvPr/>
        </p:nvSpPr>
        <p:spPr>
          <a:xfrm>
            <a:off x="740664" y="4306824"/>
            <a:ext cx="4892040" cy="420624"/>
          </a:xfrm>
          <a:prstGeom prst="rect">
            <a:avLst/>
          </a:prstGeom>
          <a:noFill/>
        </p:spPr>
        <p:txBody>
          <a:bodyPr wrap="square" lIns="0" tIns="0" rIns="0" bIns="0" anchor="t">
            <a:spAutoFit/>
          </a:bodyPr>
          <a:lstStyle/>
          <a:p>
            <a:pPr algn="l">
              <a:lnSpc>
                <a:spcPct val="115000"/>
              </a:lnSpc>
            </a:pPr>
            <a:r>
              <a:rPr sz="1100" b="1" i="0">
                <a:solidFill>
                  <a:srgbClr val="FFFFFF"/>
                </a:solidFill>
                <a:latin typeface="Inter"/>
              </a:rPr>
              <a:t>Why this is a public health problem, not a private discomfort</a:t>
            </a:r>
          </a:p>
        </p:txBody>
      </p:sp>
      <p:sp>
        <p:nvSpPr>
          <p:cNvPr id="34" name="TextBox 33"/>
          <p:cNvSpPr txBox="1"/>
          <p:nvPr/>
        </p:nvSpPr>
        <p:spPr>
          <a:xfrm>
            <a:off x="731521" y="4636008"/>
            <a:ext cx="4892040" cy="310896"/>
          </a:xfrm>
          <a:prstGeom prst="rect">
            <a:avLst/>
          </a:prstGeom>
          <a:noFill/>
        </p:spPr>
        <p:txBody>
          <a:bodyPr wrap="square" lIns="0" tIns="0" rIns="0" bIns="0" anchor="t">
            <a:spAutoFit/>
          </a:bodyPr>
          <a:lstStyle/>
          <a:p>
            <a:pPr algn="l">
              <a:lnSpc>
                <a:spcPct val="115000"/>
              </a:lnSpc>
            </a:pPr>
            <a:r>
              <a:rPr sz="960" b="0" i="0" dirty="0">
                <a:solidFill>
                  <a:srgbClr val="9AA3B2"/>
                </a:solidFill>
                <a:latin typeface="Inter"/>
              </a:rPr>
              <a:t>Everyone is uncomfortable. But the illness lands in the same weeks, in the same wards, on the same hospitals, and it arrives where the ambulance has furthest to travel.</a:t>
            </a:r>
          </a:p>
        </p:txBody>
      </p:sp>
      <p:sp>
        <p:nvSpPr>
          <p:cNvPr id="35" name="Rounded Rectangle 34"/>
          <p:cNvSpPr/>
          <p:nvPr/>
        </p:nvSpPr>
        <p:spPr>
          <a:xfrm>
            <a:off x="6071616" y="4160520"/>
            <a:ext cx="5349240" cy="932688"/>
          </a:xfrm>
          <a:prstGeom prst="roundRect">
            <a:avLst>
              <a:gd name="adj" fmla="val 6000"/>
            </a:avLst>
          </a:prstGeom>
          <a:solidFill>
            <a:srgbClr val="1A2029"/>
          </a:solidFill>
          <a:ln w="9525">
            <a:solidFill>
              <a:srgbClr val="0EA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59" y="4306824"/>
            <a:ext cx="4892040" cy="420624"/>
          </a:xfrm>
          <a:prstGeom prst="rect">
            <a:avLst/>
          </a:prstGeom>
          <a:noFill/>
        </p:spPr>
        <p:txBody>
          <a:bodyPr wrap="square" lIns="0" tIns="0" rIns="0" bIns="0" anchor="t">
            <a:spAutoFit/>
          </a:bodyPr>
          <a:lstStyle/>
          <a:p>
            <a:pPr algn="l">
              <a:lnSpc>
                <a:spcPct val="115000"/>
              </a:lnSpc>
            </a:pPr>
            <a:r>
              <a:rPr sz="1100" b="1" i="0" dirty="0">
                <a:solidFill>
                  <a:srgbClr val="FFFFFF"/>
                </a:solidFill>
                <a:latin typeface="Inter"/>
              </a:rPr>
              <a:t>And the people most at risk are the ones the city knows least about</a:t>
            </a:r>
          </a:p>
        </p:txBody>
      </p:sp>
      <p:sp>
        <p:nvSpPr>
          <p:cNvPr id="37" name="TextBox 36"/>
          <p:cNvSpPr txBox="1"/>
          <p:nvPr/>
        </p:nvSpPr>
        <p:spPr>
          <a:xfrm>
            <a:off x="6300216" y="4626864"/>
            <a:ext cx="4892040" cy="310896"/>
          </a:xfrm>
          <a:prstGeom prst="rect">
            <a:avLst/>
          </a:prstGeom>
          <a:noFill/>
        </p:spPr>
        <p:txBody>
          <a:bodyPr wrap="square" lIns="0" tIns="0" rIns="0" bIns="0" anchor="t">
            <a:spAutoFit/>
          </a:bodyPr>
          <a:lstStyle/>
          <a:p>
            <a:pPr algn="l">
              <a:lnSpc>
                <a:spcPct val="115000"/>
              </a:lnSpc>
            </a:pPr>
            <a:r>
              <a:rPr sz="960" b="0" i="0" dirty="0">
                <a:solidFill>
                  <a:srgbClr val="9AA3B2"/>
                </a:solidFill>
                <a:latin typeface="Inter"/>
              </a:rPr>
              <a:t>Informal </a:t>
            </a:r>
            <a:r>
              <a:rPr sz="960" b="0" i="0" dirty="0" err="1">
                <a:solidFill>
                  <a:srgbClr val="9AA3B2"/>
                </a:solidFill>
                <a:latin typeface="Inter"/>
              </a:rPr>
              <a:t>neighbourhoods</a:t>
            </a:r>
            <a:r>
              <a:rPr sz="960" b="0" i="0" dirty="0">
                <a:solidFill>
                  <a:srgbClr val="9AA3B2"/>
                </a:solidFill>
                <a:latin typeface="Inter"/>
              </a:rPr>
              <a:t> are, almost by definition, the least surveyed places in any city. Waiting for perfect local records means never acting at all.</a:t>
            </a:r>
          </a:p>
        </p:txBody>
      </p:sp>
      <p:sp>
        <p:nvSpPr>
          <p:cNvPr id="38" name="Rounded Rectangle 37"/>
          <p:cNvSpPr/>
          <p:nvPr/>
        </p:nvSpPr>
        <p:spPr>
          <a:xfrm>
            <a:off x="502920" y="5221224"/>
            <a:ext cx="10917936" cy="841248"/>
          </a:xfrm>
          <a:prstGeom prst="roundRect">
            <a:avLst>
              <a:gd name="adj" fmla="val 6000"/>
            </a:avLst>
          </a:prstGeom>
          <a:solidFill>
            <a:srgbClr val="1A2029"/>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5367528"/>
            <a:ext cx="10332720" cy="292608"/>
          </a:xfrm>
          <a:prstGeom prst="rect">
            <a:avLst/>
          </a:prstGeom>
          <a:noFill/>
        </p:spPr>
        <p:txBody>
          <a:bodyPr wrap="square" lIns="0" tIns="0" rIns="0" bIns="0" anchor="t">
            <a:spAutoFit/>
          </a:bodyPr>
          <a:lstStyle/>
          <a:p>
            <a:pPr algn="l">
              <a:lnSpc>
                <a:spcPct val="118000"/>
              </a:lnSpc>
            </a:pPr>
            <a:r>
              <a:rPr sz="1500" b="1" i="0" dirty="0">
                <a:solidFill>
                  <a:srgbClr val="FFFFFF"/>
                </a:solidFill>
                <a:latin typeface="Inter"/>
              </a:rPr>
              <a:t>That pair is the reason a city has to rank wards rather than treat itself as one place.</a:t>
            </a:r>
          </a:p>
        </p:txBody>
      </p:sp>
      <p:sp>
        <p:nvSpPr>
          <p:cNvPr id="40" name="TextBox 39"/>
          <p:cNvSpPr txBox="1"/>
          <p:nvPr/>
        </p:nvSpPr>
        <p:spPr>
          <a:xfrm>
            <a:off x="777240" y="5696712"/>
            <a:ext cx="10332720" cy="166584"/>
          </a:xfrm>
          <a:prstGeom prst="rect">
            <a:avLst/>
          </a:prstGeom>
          <a:noFill/>
        </p:spPr>
        <p:txBody>
          <a:bodyPr wrap="square" lIns="0" tIns="0" rIns="0" bIns="0" anchor="t">
            <a:spAutoFit/>
          </a:bodyPr>
          <a:lstStyle/>
          <a:p>
            <a:pPr algn="l">
              <a:lnSpc>
                <a:spcPct val="115000"/>
              </a:lnSpc>
            </a:pPr>
            <a:r>
              <a:rPr sz="1000" b="0" i="0" dirty="0">
                <a:solidFill>
                  <a:srgbClr val="9AA3B2"/>
                </a:solidFill>
                <a:latin typeface="Inter"/>
              </a:rPr>
              <a:t>I built this from satellite images and public population data, which cover every ward equally, and made it state plainly which of its own numbers are estimates.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02 · PROBLEM UNDERSTANDING</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Links three and four: people suffer, and someone has to choose</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5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Heat deaths in India 2000 to 2020, three official counts: NCRB 20,615, NDMA 17,767, IMD 10,545 (Gadgil and Narang, Down To Earth, 10 April 2025). Ahmedabad: Knowlton et al. 2014, IJERPH, doi 10.3390/ijerph110403473. Mumbai Climate Action Plan 2022 (BMC, WRI India, C40).</a:t>
            </a:r>
          </a:p>
        </p:txBody>
      </p:sp>
      <p:sp>
        <p:nvSpPr>
          <p:cNvPr id="9" name="Rounded Rectangle 8"/>
          <p:cNvSpPr/>
          <p:nvPr/>
        </p:nvSpPr>
        <p:spPr>
          <a:xfrm>
            <a:off x="1481327" y="1275587"/>
            <a:ext cx="2103120" cy="1078992"/>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79" y="1601812"/>
            <a:ext cx="1956815" cy="568361"/>
          </a:xfrm>
          <a:prstGeom prst="rect">
            <a:avLst/>
          </a:prstGeom>
          <a:noFill/>
        </p:spPr>
        <p:txBody>
          <a:bodyPr wrap="square" lIns="0" tIns="0" rIns="0" bIns="0" anchor="ctr">
            <a:spAutoFit/>
          </a:bodyPr>
          <a:lstStyle/>
          <a:p>
            <a:pPr algn="ctr"/>
            <a:r>
              <a:rPr sz="800" b="1" i="0">
                <a:solidFill>
                  <a:srgbClr val="9AA3B2"/>
                </a:solidFill>
                <a:latin typeface="JetBrains Mono"/>
              </a:rPr>
              <a:t>01</a:t>
            </a:r>
          </a:p>
          <a:p>
            <a:pPr algn="ctr">
              <a:spcBef>
                <a:spcPts val="200"/>
              </a:spcBef>
            </a:pPr>
            <a:r>
              <a:rPr sz="1000" b="1" i="0">
                <a:solidFill>
                  <a:srgbClr val="FFFFFF"/>
                </a:solidFill>
                <a:latin typeface="Inter"/>
              </a:rPr>
              <a:t>More heat</a:t>
            </a:r>
          </a:p>
          <a:p>
            <a:pPr algn="ctr">
              <a:spcBef>
                <a:spcPts val="100"/>
              </a:spcBef>
            </a:pPr>
            <a:r>
              <a:rPr sz="780" b="0" i="0">
                <a:solidFill>
                  <a:srgbClr val="9AA3B2"/>
                </a:solidFill>
                <a:latin typeface="Inter"/>
              </a:rPr>
              <a:t>Mumbai is heating,
and not evenly</a:t>
            </a:r>
          </a:p>
        </p:txBody>
      </p:sp>
      <p:sp>
        <p:nvSpPr>
          <p:cNvPr id="11" name="Right Arrow 10"/>
          <p:cNvSpPr/>
          <p:nvPr/>
        </p:nvSpPr>
        <p:spPr>
          <a:xfrm>
            <a:off x="3639310" y="1467611"/>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858766" y="1275586"/>
            <a:ext cx="2103120" cy="1078991"/>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31918" y="1601812"/>
            <a:ext cx="1956815" cy="568361"/>
          </a:xfrm>
          <a:prstGeom prst="rect">
            <a:avLst/>
          </a:prstGeom>
          <a:noFill/>
        </p:spPr>
        <p:txBody>
          <a:bodyPr wrap="square" lIns="0" tIns="0" rIns="0" bIns="0" anchor="ctr">
            <a:spAutoFit/>
          </a:bodyPr>
          <a:lstStyle/>
          <a:p>
            <a:pPr algn="ctr"/>
            <a:r>
              <a:rPr sz="800" b="1" i="0" dirty="0">
                <a:solidFill>
                  <a:srgbClr val="9AA3B2"/>
                </a:solidFill>
                <a:latin typeface="JetBrains Mono"/>
              </a:rPr>
              <a:t>02</a:t>
            </a:r>
          </a:p>
          <a:p>
            <a:pPr algn="ctr">
              <a:spcBef>
                <a:spcPts val="200"/>
              </a:spcBef>
            </a:pPr>
            <a:r>
              <a:rPr sz="1000" b="1" i="0" dirty="0">
                <a:solidFill>
                  <a:srgbClr val="FFFFFF"/>
                </a:solidFill>
                <a:latin typeface="Inter"/>
              </a:rPr>
              <a:t>Discomfort, then illness</a:t>
            </a:r>
          </a:p>
          <a:p>
            <a:pPr algn="ctr">
              <a:spcBef>
                <a:spcPts val="100"/>
              </a:spcBef>
            </a:pPr>
            <a:r>
              <a:rPr sz="780" b="0" i="0" dirty="0">
                <a:solidFill>
                  <a:srgbClr val="9AA3B2"/>
                </a:solidFill>
                <a:latin typeface="Inter"/>
              </a:rPr>
              <a:t>discomfort for all, danger
for some, load on hospitals</a:t>
            </a:r>
          </a:p>
        </p:txBody>
      </p:sp>
      <p:sp>
        <p:nvSpPr>
          <p:cNvPr id="14" name="Right Arrow 13"/>
          <p:cNvSpPr/>
          <p:nvPr/>
        </p:nvSpPr>
        <p:spPr>
          <a:xfrm>
            <a:off x="6016750" y="1467611"/>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36206" y="1275587"/>
            <a:ext cx="2103120" cy="107899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58" y="1601812"/>
            <a:ext cx="1956815" cy="568361"/>
          </a:xfrm>
          <a:prstGeom prst="rect">
            <a:avLst/>
          </a:prstGeom>
          <a:noFill/>
        </p:spPr>
        <p:txBody>
          <a:bodyPr wrap="square" lIns="0" tIns="0" rIns="0" bIns="0" anchor="ctr">
            <a:spAutoFit/>
          </a:bodyPr>
          <a:lstStyle/>
          <a:p>
            <a:pPr algn="ctr"/>
            <a:r>
              <a:rPr sz="800" b="1" i="0">
                <a:solidFill>
                  <a:srgbClr val="0EA5B3"/>
                </a:solidFill>
                <a:latin typeface="JetBrains Mono"/>
              </a:rPr>
              <a:t>03</a:t>
            </a:r>
          </a:p>
          <a:p>
            <a:pPr algn="ctr">
              <a:spcBef>
                <a:spcPts val="200"/>
              </a:spcBef>
            </a:pPr>
            <a:r>
              <a:rPr sz="1000" b="1" i="0">
                <a:solidFill>
                  <a:srgbClr val="FFFFFF"/>
                </a:solidFill>
                <a:latin typeface="Inter"/>
              </a:rPr>
              <a:t>Citizens suffer</a:t>
            </a:r>
          </a:p>
          <a:p>
            <a:pPr algn="ctr">
              <a:spcBef>
                <a:spcPts val="100"/>
              </a:spcBef>
            </a:pPr>
            <a:r>
              <a:rPr sz="780" b="0" i="0">
                <a:solidFill>
                  <a:srgbClr val="9AA3B2"/>
                </a:solidFill>
                <a:latin typeface="Inter"/>
              </a:rPr>
              <a:t>hardest where people
can least cope</a:t>
            </a:r>
          </a:p>
        </p:txBody>
      </p:sp>
      <p:sp>
        <p:nvSpPr>
          <p:cNvPr id="17" name="Right Arrow 16"/>
          <p:cNvSpPr/>
          <p:nvPr/>
        </p:nvSpPr>
        <p:spPr>
          <a:xfrm>
            <a:off x="8394190" y="1467611"/>
            <a:ext cx="164592"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613647" y="1275587"/>
            <a:ext cx="2103120" cy="107899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799" y="1650135"/>
            <a:ext cx="1956815" cy="435504"/>
          </a:xfrm>
          <a:prstGeom prst="rect">
            <a:avLst/>
          </a:prstGeom>
          <a:noFill/>
        </p:spPr>
        <p:txBody>
          <a:bodyPr wrap="square" lIns="0" tIns="0" rIns="0" bIns="0" anchor="ctr">
            <a:spAutoFit/>
          </a:bodyPr>
          <a:lstStyle/>
          <a:p>
            <a:pPr algn="ctr"/>
            <a:r>
              <a:rPr sz="800" b="1" i="0" dirty="0">
                <a:solidFill>
                  <a:srgbClr val="9AA3B2"/>
                </a:solidFill>
                <a:latin typeface="JetBrains Mono"/>
              </a:rPr>
              <a:t>04</a:t>
            </a:r>
          </a:p>
          <a:p>
            <a:pPr algn="ctr">
              <a:spcBef>
                <a:spcPts val="200"/>
              </a:spcBef>
            </a:pPr>
            <a:r>
              <a:rPr sz="1000" b="1" i="0" dirty="0">
                <a:solidFill>
                  <a:srgbClr val="FFFFFF"/>
                </a:solidFill>
                <a:latin typeface="Inter"/>
              </a:rPr>
              <a:t>So where to act first?</a:t>
            </a:r>
          </a:p>
          <a:p>
            <a:pPr algn="ctr">
              <a:spcBef>
                <a:spcPts val="100"/>
              </a:spcBef>
            </a:pPr>
            <a:r>
              <a:rPr sz="780" b="0" i="0" dirty="0">
                <a:solidFill>
                  <a:srgbClr val="9AA3B2"/>
                </a:solidFill>
                <a:latin typeface="Inter"/>
              </a:rPr>
              <a:t>one budget,</a:t>
            </a:r>
            <a:r>
              <a:rPr lang="en-US" sz="780" b="0" i="0" dirty="0">
                <a:solidFill>
                  <a:srgbClr val="9AA3B2"/>
                </a:solidFill>
                <a:latin typeface="Inter"/>
              </a:rPr>
              <a:t> </a:t>
            </a:r>
            <a:r>
              <a:rPr sz="780" b="0" i="0" dirty="0">
                <a:solidFill>
                  <a:srgbClr val="9AA3B2"/>
                </a:solidFill>
                <a:latin typeface="Inter"/>
              </a:rPr>
              <a:t>twenty</a:t>
            </a:r>
            <a:r>
              <a:rPr lang="en-US" sz="780" b="0" i="0" dirty="0">
                <a:solidFill>
                  <a:srgbClr val="9AA3B2"/>
                </a:solidFill>
                <a:latin typeface="Inter"/>
              </a:rPr>
              <a:t>-</a:t>
            </a:r>
            <a:r>
              <a:rPr sz="780" b="0" i="0" dirty="0">
                <a:solidFill>
                  <a:srgbClr val="9AA3B2"/>
                </a:solidFill>
                <a:latin typeface="Inter"/>
              </a:rPr>
              <a:t>four wards</a:t>
            </a:r>
          </a:p>
        </p:txBody>
      </p:sp>
      <p:sp>
        <p:nvSpPr>
          <p:cNvPr id="20" name="Rounded Rectangle 19"/>
          <p:cNvSpPr/>
          <p:nvPr/>
        </p:nvSpPr>
        <p:spPr>
          <a:xfrm>
            <a:off x="429767" y="2624328"/>
            <a:ext cx="5349240"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7" y="2752344"/>
            <a:ext cx="4983479" cy="274320"/>
          </a:xfrm>
          <a:prstGeom prst="rect">
            <a:avLst/>
          </a:prstGeom>
          <a:noFill/>
        </p:spPr>
        <p:txBody>
          <a:bodyPr wrap="square" lIns="0" tIns="0" rIns="0" bIns="0" anchor="t">
            <a:spAutoFit/>
          </a:bodyPr>
          <a:lstStyle/>
          <a:p>
            <a:r>
              <a:rPr sz="1250" b="1" i="0">
                <a:solidFill>
                  <a:srgbClr val="E4572E"/>
                </a:solidFill>
                <a:latin typeface="Inter"/>
              </a:rPr>
              <a:t>● </a:t>
            </a:r>
            <a:r>
              <a:rPr sz="1250" b="1" i="0">
                <a:solidFill>
                  <a:srgbClr val="FFFFFF"/>
                </a:solidFill>
                <a:latin typeface="Inter"/>
              </a:rPr>
              <a:t>Heat kills quietly, and India cannot agree how many</a:t>
            </a:r>
          </a:p>
        </p:txBody>
      </p:sp>
      <p:sp>
        <p:nvSpPr>
          <p:cNvPr id="22" name="TextBox 21"/>
          <p:cNvSpPr txBox="1"/>
          <p:nvPr/>
        </p:nvSpPr>
        <p:spPr>
          <a:xfrm>
            <a:off x="612647" y="3099816"/>
            <a:ext cx="4983479" cy="822960"/>
          </a:xfrm>
          <a:prstGeom prst="rect">
            <a:avLst/>
          </a:prstGeom>
          <a:noFill/>
        </p:spPr>
        <p:txBody>
          <a:bodyPr wrap="square" lIns="0" tIns="0" rIns="0" bIns="0" anchor="t">
            <a:spAutoFit/>
          </a:bodyPr>
          <a:lstStyle/>
          <a:p>
            <a:pPr algn="l">
              <a:lnSpc>
                <a:spcPct val="118000"/>
              </a:lnSpc>
            </a:pPr>
            <a:r>
              <a:rPr sz="1000" b="0" i="0" dirty="0">
                <a:solidFill>
                  <a:srgbClr val="9AA3B2"/>
                </a:solidFill>
                <a:latin typeface="Inter"/>
              </a:rPr>
              <a:t>Three government bodies counted heat deaths for the same twenty years and published 20,615, 17,767 and 10,545. Spread over a season instead of one dramatic day, heat rarely gets counted as an emergency, or counted well.</a:t>
            </a:r>
          </a:p>
        </p:txBody>
      </p:sp>
      <p:sp>
        <p:nvSpPr>
          <p:cNvPr id="23" name="Rounded Rectangle 22"/>
          <p:cNvSpPr/>
          <p:nvPr/>
        </p:nvSpPr>
        <p:spPr>
          <a:xfrm>
            <a:off x="429767" y="4288536"/>
            <a:ext cx="5349240" cy="1188720"/>
          </a:xfrm>
          <a:prstGeom prst="roundRect">
            <a:avLst>
              <a:gd name="adj" fmla="val 6000"/>
            </a:avLst>
          </a:prstGeom>
          <a:solidFill>
            <a:srgbClr val="1A2029"/>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1" y="4288536"/>
            <a:ext cx="1325880" cy="1188720"/>
          </a:xfrm>
          <a:prstGeom prst="rect">
            <a:avLst/>
          </a:prstGeom>
          <a:noFill/>
        </p:spPr>
        <p:txBody>
          <a:bodyPr wrap="square" lIns="0" tIns="0" rIns="0" bIns="0" anchor="ctr">
            <a:spAutoFit/>
          </a:bodyPr>
          <a:lstStyle/>
          <a:p>
            <a:pPr algn="l">
              <a:lnSpc>
                <a:spcPct val="118000"/>
              </a:lnSpc>
            </a:pPr>
            <a:r>
              <a:rPr sz="2500" b="1" i="0">
                <a:solidFill>
                  <a:srgbClr val="22C55E"/>
                </a:solidFill>
                <a:latin typeface="JetBrains Mono"/>
              </a:rPr>
              <a:t>~1,190</a:t>
            </a:r>
          </a:p>
        </p:txBody>
      </p:sp>
      <p:sp>
        <p:nvSpPr>
          <p:cNvPr id="25" name="TextBox 24"/>
          <p:cNvSpPr txBox="1"/>
          <p:nvPr/>
        </p:nvSpPr>
        <p:spPr>
          <a:xfrm>
            <a:off x="1901951" y="4635649"/>
            <a:ext cx="3730751" cy="494494"/>
          </a:xfrm>
          <a:prstGeom prst="rect">
            <a:avLst/>
          </a:prstGeom>
          <a:noFill/>
        </p:spPr>
        <p:txBody>
          <a:bodyPr wrap="square" lIns="0" tIns="0" rIns="0" bIns="0" anchor="ctr">
            <a:spAutoFit/>
          </a:bodyPr>
          <a:lstStyle/>
          <a:p>
            <a:pPr algn="l">
              <a:lnSpc>
                <a:spcPct val="115000"/>
              </a:lnSpc>
            </a:pPr>
            <a:r>
              <a:rPr sz="950" b="0" i="0" dirty="0">
                <a:solidFill>
                  <a:srgbClr val="9AA3B2"/>
                </a:solidFill>
                <a:latin typeface="Inter"/>
              </a:rPr>
              <a:t>lives estimated saved every year in Ahmedabad after India's first heat action plan. </a:t>
            </a:r>
            <a:r>
              <a:rPr lang="en-US" sz="950" b="0" i="0" dirty="0">
                <a:solidFill>
                  <a:srgbClr val="9AA3B2"/>
                </a:solidFill>
                <a:latin typeface="Inter"/>
              </a:rPr>
              <a:t>This</a:t>
            </a:r>
            <a:r>
              <a:rPr sz="950" b="0" i="0" dirty="0">
                <a:solidFill>
                  <a:srgbClr val="9AA3B2"/>
                </a:solidFill>
                <a:latin typeface="Inter"/>
              </a:rPr>
              <a:t> proves deliberate heat action works. What it does not do is say which part of a city to treat first: it is a forecast-triggered warning system.</a:t>
            </a:r>
          </a:p>
        </p:txBody>
      </p:sp>
      <p:sp>
        <p:nvSpPr>
          <p:cNvPr id="26" name="Rounded Rectangle 25"/>
          <p:cNvSpPr/>
          <p:nvPr/>
        </p:nvSpPr>
        <p:spPr>
          <a:xfrm>
            <a:off x="5998463" y="2624328"/>
            <a:ext cx="5349240" cy="2852928"/>
          </a:xfrm>
          <a:prstGeom prst="roundRect">
            <a:avLst>
              <a:gd name="adj" fmla="val 6000"/>
            </a:avLst>
          </a:prstGeom>
          <a:solidFill>
            <a:srgbClr val="151A24"/>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27063" y="2807208"/>
            <a:ext cx="4892040" cy="274320"/>
          </a:xfrm>
          <a:prstGeom prst="rect">
            <a:avLst/>
          </a:prstGeom>
          <a:noFill/>
        </p:spPr>
        <p:txBody>
          <a:bodyPr wrap="square" lIns="0" tIns="0" rIns="0" bIns="0" anchor="t">
            <a:spAutoFit/>
          </a:bodyPr>
          <a:lstStyle/>
          <a:p>
            <a:r>
              <a:rPr sz="1300" b="1" i="0">
                <a:solidFill>
                  <a:srgbClr val="22C55E"/>
                </a:solidFill>
                <a:latin typeface="Inter"/>
              </a:rPr>
              <a:t>● </a:t>
            </a:r>
            <a:r>
              <a:rPr sz="1300" b="1" i="0">
                <a:solidFill>
                  <a:srgbClr val="FFFFFF"/>
                </a:solidFill>
                <a:latin typeface="Inter"/>
              </a:rPr>
              <a:t>So why has nobody chosen?</a:t>
            </a:r>
          </a:p>
        </p:txBody>
      </p:sp>
      <p:sp>
        <p:nvSpPr>
          <p:cNvPr id="28" name="TextBox 27"/>
          <p:cNvSpPr txBox="1"/>
          <p:nvPr/>
        </p:nvSpPr>
        <p:spPr>
          <a:xfrm>
            <a:off x="6227063" y="3209544"/>
            <a:ext cx="4892040" cy="2121408"/>
          </a:xfrm>
          <a:prstGeom prst="rect">
            <a:avLst/>
          </a:prstGeom>
          <a:noFill/>
        </p:spPr>
        <p:txBody>
          <a:bodyPr wrap="square" lIns="0" tIns="0" rIns="0" bIns="0" anchor="t">
            <a:spAutoFit/>
          </a:bodyPr>
          <a:lstStyle/>
          <a:p>
            <a:pPr algn="l">
              <a:lnSpc>
                <a:spcPct val="122000"/>
              </a:lnSpc>
            </a:pPr>
            <a:r>
              <a:rPr sz="1050" b="0" i="0" dirty="0">
                <a:solidFill>
                  <a:srgbClr val="9AA3B2"/>
                </a:solidFill>
                <a:latin typeface="Inter"/>
              </a:rPr>
              <a:t>Because choosing is harder than measuring.</a:t>
            </a:r>
          </a:p>
          <a:p>
            <a:pPr algn="l">
              <a:lnSpc>
                <a:spcPct val="122000"/>
              </a:lnSpc>
              <a:spcBef>
                <a:spcPts val="700"/>
              </a:spcBef>
            </a:pPr>
            <a:r>
              <a:rPr sz="1050" b="0" i="0" dirty="0">
                <a:solidFill>
                  <a:srgbClr val="9AA3B2"/>
                </a:solidFill>
                <a:latin typeface="Inter"/>
              </a:rPr>
              <a:t>This city's climate plan already names heat as a priority. It is a serious document. But it sets goals for the whole city and stops there.</a:t>
            </a:r>
          </a:p>
          <a:p>
            <a:pPr algn="l">
              <a:lnSpc>
                <a:spcPct val="122000"/>
              </a:lnSpc>
              <a:spcBef>
                <a:spcPts val="700"/>
              </a:spcBef>
            </a:pPr>
            <a:r>
              <a:rPr sz="1050" b="0" i="0" dirty="0">
                <a:solidFill>
                  <a:srgbClr val="9AA3B2"/>
                </a:solidFill>
                <a:latin typeface="Inter"/>
              </a:rPr>
              <a:t>It never answers the question a person with one budget actually faces: which ward gets cooled first, and how do I prove that was the right one?</a:t>
            </a:r>
          </a:p>
          <a:p>
            <a:pPr algn="l">
              <a:lnSpc>
                <a:spcPct val="122000"/>
              </a:lnSpc>
              <a:spcBef>
                <a:spcPts val="700"/>
              </a:spcBef>
            </a:pPr>
            <a:r>
              <a:rPr sz="1050" b="0" i="0" dirty="0">
                <a:solidFill>
                  <a:srgbClr val="9AA3B2"/>
                </a:solidFill>
                <a:latin typeface="Inter"/>
              </a:rPr>
              <a:t>That is not missing data. It is a missing decision.</a:t>
            </a:r>
          </a:p>
        </p:txBody>
      </p:sp>
      <p:sp>
        <p:nvSpPr>
          <p:cNvPr id="29" name="TextBox 28"/>
          <p:cNvSpPr txBox="1"/>
          <p:nvPr/>
        </p:nvSpPr>
        <p:spPr>
          <a:xfrm>
            <a:off x="429767" y="5660136"/>
            <a:ext cx="10917936" cy="365760"/>
          </a:xfrm>
          <a:prstGeom prst="rect">
            <a:avLst/>
          </a:prstGeom>
          <a:noFill/>
        </p:spPr>
        <p:txBody>
          <a:bodyPr wrap="square" lIns="0" tIns="0" rIns="0" bIns="0" anchor="t">
            <a:spAutoFit/>
          </a:bodyPr>
          <a:lstStyle/>
          <a:p>
            <a:pPr algn="l">
              <a:lnSpc>
                <a:spcPct val="118000"/>
              </a:lnSpc>
            </a:pPr>
            <a:r>
              <a:rPr sz="1100" b="1" i="0">
                <a:solidFill>
                  <a:srgbClr val="E6EAF2"/>
                </a:solidFill>
                <a:latin typeface="Inter"/>
              </a:rPr>
              <a:t>Break the chain here, and everything upstream still happens, but far fewer people get hurt.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03 · RESEARCH &amp; INSIGHTS</a:t>
            </a:r>
          </a:p>
        </p:txBody>
      </p:sp>
      <p:sp>
        <p:nvSpPr>
          <p:cNvPr id="3" name="TextBox 2"/>
          <p:cNvSpPr txBox="1"/>
          <p:nvPr/>
        </p:nvSpPr>
        <p:spPr>
          <a:xfrm>
            <a:off x="502920" y="548640"/>
            <a:ext cx="9875520" cy="353943"/>
          </a:xfrm>
          <a:prstGeom prst="rect">
            <a:avLst/>
          </a:prstGeom>
          <a:noFill/>
        </p:spPr>
        <p:txBody>
          <a:bodyPr wrap="square" lIns="0" tIns="0" rIns="0" bIns="0" anchor="t">
            <a:spAutoFit/>
          </a:bodyPr>
          <a:lstStyle/>
          <a:p>
            <a:r>
              <a:rPr lang="en-US" sz="2300" b="1" i="0" dirty="0">
                <a:solidFill>
                  <a:srgbClr val="FFFFFF"/>
                </a:solidFill>
                <a:latin typeface="Inter"/>
              </a:rPr>
              <a:t>Output of m</a:t>
            </a:r>
            <a:r>
              <a:rPr lang="en-US" sz="2300" b="1" dirty="0">
                <a:solidFill>
                  <a:srgbClr val="FFFFFF"/>
                </a:solidFill>
                <a:latin typeface="Inter"/>
              </a:rPr>
              <a:t>y initial run</a:t>
            </a:r>
            <a:endParaRPr sz="2300" b="1" i="0" dirty="0">
              <a:solidFill>
                <a:srgbClr val="FFFFFF"/>
              </a:solidFill>
              <a:latin typeface="Inter"/>
            </a:endParaRP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07008"/>
            <a:ext cx="10058400" cy="178575"/>
          </a:xfrm>
          <a:prstGeom prst="rect">
            <a:avLst/>
          </a:prstGeom>
          <a:noFill/>
        </p:spPr>
        <p:txBody>
          <a:bodyPr wrap="square" lIns="0" tIns="0" rIns="0" bIns="0" anchor="t">
            <a:spAutoFit/>
          </a:bodyPr>
          <a:lstStyle/>
          <a:p>
            <a:pPr algn="l">
              <a:lnSpc>
                <a:spcPct val="118000"/>
              </a:lnSpc>
            </a:pPr>
            <a:r>
              <a:rPr sz="1050" b="0" i="0" dirty="0">
                <a:solidFill>
                  <a:srgbClr val="BBBEC6"/>
                </a:solidFill>
                <a:latin typeface="Inter"/>
              </a:rPr>
              <a:t>Every number in this deck came </a:t>
            </a:r>
            <a:r>
              <a:rPr lang="en-US" sz="1050" b="0" i="0" dirty="0">
                <a:solidFill>
                  <a:srgbClr val="BBBEC6"/>
                </a:solidFill>
                <a:latin typeface="Inter"/>
              </a:rPr>
              <a:t>out of my initial UCIP run, thus the data can be arguable.</a:t>
            </a:r>
            <a:endParaRPr sz="1050" b="0" i="0" dirty="0">
              <a:solidFill>
                <a:srgbClr val="BBBEC6"/>
              </a:solidFill>
              <a:latin typeface="Inter"/>
            </a:endParaRPr>
          </a:p>
        </p:txBody>
      </p:sp>
      <p:pic>
        <p:nvPicPr>
          <p:cNvPr id="6" name="Picture 5" descr="icon-512.png"/>
          <p:cNvPicPr>
            <a:picLocks noChangeAspect="1"/>
          </p:cNvPicPr>
          <p:nvPr/>
        </p:nvPicPr>
        <p:blipFill>
          <a:blip r:embed="rId3"/>
          <a:stretch>
            <a:fillRect/>
          </a:stretch>
        </p:blipFill>
        <p:spPr>
          <a:xfrm>
            <a:off x="10835640" y="274320"/>
            <a:ext cx="182880" cy="182880"/>
          </a:xfrm>
          <a:prstGeom prst="rect">
            <a:avLst/>
          </a:prstGeom>
        </p:spPr>
      </p:pic>
      <p:sp>
        <p:nvSpPr>
          <p:cNvPr id="7" name="TextBox 6"/>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8" name="TextBox 7"/>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6 / 21</a:t>
            </a:r>
          </a:p>
        </p:txBody>
      </p:sp>
      <p:sp>
        <p:nvSpPr>
          <p:cNvPr id="9" name="TextBox 8"/>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dirty="0">
                <a:solidFill>
                  <a:srgbClr val="52565D"/>
                </a:solidFill>
                <a:latin typeface="Inter"/>
              </a:rPr>
              <a:t>Sources: Landsat 8/9 Collection 2 (USGS), ESA </a:t>
            </a:r>
            <a:r>
              <a:rPr sz="750" b="0" i="0" dirty="0" err="1">
                <a:solidFill>
                  <a:srgbClr val="52565D"/>
                </a:solidFill>
                <a:latin typeface="Inter"/>
              </a:rPr>
              <a:t>WorldCover</a:t>
            </a:r>
            <a:r>
              <a:rPr sz="750" b="0" i="0" dirty="0">
                <a:solidFill>
                  <a:srgbClr val="52565D"/>
                </a:solidFill>
                <a:latin typeface="Inter"/>
              </a:rPr>
              <a:t> v200, </a:t>
            </a:r>
            <a:r>
              <a:rPr sz="750" b="0" i="0" dirty="0" err="1">
                <a:solidFill>
                  <a:srgbClr val="52565D"/>
                </a:solidFill>
                <a:latin typeface="Inter"/>
              </a:rPr>
              <a:t>WorldPop</a:t>
            </a:r>
            <a:r>
              <a:rPr sz="750" b="0" i="0" dirty="0">
                <a:solidFill>
                  <a:srgbClr val="52565D"/>
                </a:solidFill>
                <a:latin typeface="Inter"/>
              </a:rPr>
              <a:t> 2020, OpenStreetMap (</a:t>
            </a:r>
            <a:r>
              <a:rPr sz="750" b="0" i="0" dirty="0" err="1">
                <a:solidFill>
                  <a:srgbClr val="52565D"/>
                </a:solidFill>
                <a:latin typeface="Inter"/>
              </a:rPr>
              <a:t>ODbL</a:t>
            </a:r>
            <a:r>
              <a:rPr sz="750" b="0" i="0" dirty="0">
                <a:solidFill>
                  <a:srgbClr val="52565D"/>
                </a:solidFill>
                <a:latin typeface="Inter"/>
              </a:rPr>
              <a:t>), </a:t>
            </a:r>
            <a:r>
              <a:rPr sz="750" b="0" i="0" dirty="0" err="1">
                <a:solidFill>
                  <a:srgbClr val="52565D"/>
                </a:solidFill>
                <a:latin typeface="Inter"/>
              </a:rPr>
              <a:t>Datameet</a:t>
            </a:r>
            <a:r>
              <a:rPr sz="750" b="0" i="0" dirty="0">
                <a:solidFill>
                  <a:srgbClr val="52565D"/>
                </a:solidFill>
                <a:latin typeface="Inter"/>
              </a:rPr>
              <a:t>. Composited in Google Earth Engine. Every figure on this slide is computed by my own pipeline.</a:t>
            </a:r>
          </a:p>
        </p:txBody>
      </p:sp>
      <p:sp>
        <p:nvSpPr>
          <p:cNvPr id="10" name="Rounded Rectangle 9"/>
          <p:cNvSpPr/>
          <p:nvPr/>
        </p:nvSpPr>
        <p:spPr>
          <a:xfrm>
            <a:off x="502920" y="1700784"/>
            <a:ext cx="2633472"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1700784"/>
            <a:ext cx="2377439" cy="556869"/>
          </a:xfrm>
          <a:prstGeom prst="rect">
            <a:avLst/>
          </a:prstGeom>
          <a:noFill/>
        </p:spPr>
        <p:txBody>
          <a:bodyPr wrap="square" lIns="0" tIns="0" rIns="0" bIns="0" anchor="b">
            <a:spAutoFit/>
          </a:bodyPr>
          <a:lstStyle/>
          <a:p>
            <a:pPr algn="l">
              <a:lnSpc>
                <a:spcPct val="118000"/>
              </a:lnSpc>
            </a:pPr>
            <a:r>
              <a:rPr sz="1900" b="1" i="0">
                <a:solidFill>
                  <a:srgbClr val="22C55E"/>
                </a:solidFill>
                <a:latin typeface="JetBrains Mono"/>
              </a:rPr>
              <a:t>12</a:t>
            </a:r>
          </a:p>
        </p:txBody>
      </p:sp>
      <p:sp>
        <p:nvSpPr>
          <p:cNvPr id="12" name="TextBox 11"/>
          <p:cNvSpPr txBox="1"/>
          <p:nvPr/>
        </p:nvSpPr>
        <p:spPr>
          <a:xfrm>
            <a:off x="630936" y="2257653"/>
            <a:ext cx="2377439" cy="384048"/>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satellite passes</a:t>
            </a:r>
          </a:p>
          <a:p>
            <a:pPr algn="l">
              <a:lnSpc>
                <a:spcPct val="110000"/>
              </a:lnSpc>
              <a:spcBef>
                <a:spcPts val="400"/>
              </a:spcBef>
            </a:pPr>
            <a:r>
              <a:rPr sz="850" b="0" i="0">
                <a:solidFill>
                  <a:srgbClr val="9AA3B2"/>
                </a:solidFill>
                <a:latin typeface="Inter"/>
              </a:rPr>
              <a:t>combined</a:t>
            </a:r>
          </a:p>
        </p:txBody>
      </p:sp>
      <p:sp>
        <p:nvSpPr>
          <p:cNvPr id="13" name="Rounded Rectangle 12"/>
          <p:cNvSpPr/>
          <p:nvPr/>
        </p:nvSpPr>
        <p:spPr>
          <a:xfrm>
            <a:off x="3319272" y="1700784"/>
            <a:ext cx="2633472"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47288" y="1700784"/>
            <a:ext cx="2377439" cy="556869"/>
          </a:xfrm>
          <a:prstGeom prst="rect">
            <a:avLst/>
          </a:prstGeom>
          <a:noFill/>
        </p:spPr>
        <p:txBody>
          <a:bodyPr wrap="square" lIns="0" tIns="0" rIns="0" bIns="0" anchor="b">
            <a:spAutoFit/>
          </a:bodyPr>
          <a:lstStyle/>
          <a:p>
            <a:pPr algn="l">
              <a:lnSpc>
                <a:spcPct val="118000"/>
              </a:lnSpc>
            </a:pPr>
            <a:r>
              <a:rPr sz="1900" b="1" i="0">
                <a:solidFill>
                  <a:srgbClr val="22C55E"/>
                </a:solidFill>
                <a:latin typeface="JetBrains Mono"/>
              </a:rPr>
              <a:t>32 °C</a:t>
            </a:r>
          </a:p>
        </p:txBody>
      </p:sp>
      <p:sp>
        <p:nvSpPr>
          <p:cNvPr id="15" name="TextBox 14"/>
          <p:cNvSpPr txBox="1"/>
          <p:nvPr/>
        </p:nvSpPr>
        <p:spPr>
          <a:xfrm>
            <a:off x="3447288" y="2257653"/>
            <a:ext cx="2377439" cy="384048"/>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typical ground</a:t>
            </a:r>
          </a:p>
          <a:p>
            <a:pPr algn="l">
              <a:lnSpc>
                <a:spcPct val="110000"/>
              </a:lnSpc>
              <a:spcBef>
                <a:spcPts val="400"/>
              </a:spcBef>
            </a:pPr>
            <a:r>
              <a:rPr sz="850" b="0" i="0">
                <a:solidFill>
                  <a:srgbClr val="9AA3B2"/>
                </a:solidFill>
                <a:latin typeface="Inter"/>
              </a:rPr>
              <a:t>temperature</a:t>
            </a:r>
          </a:p>
        </p:txBody>
      </p:sp>
      <p:sp>
        <p:nvSpPr>
          <p:cNvPr id="16" name="Rounded Rectangle 15"/>
          <p:cNvSpPr/>
          <p:nvPr/>
        </p:nvSpPr>
        <p:spPr>
          <a:xfrm>
            <a:off x="6135624" y="1700784"/>
            <a:ext cx="2633472"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1700784"/>
            <a:ext cx="2377439" cy="556869"/>
          </a:xfrm>
          <a:prstGeom prst="rect">
            <a:avLst/>
          </a:prstGeom>
          <a:noFill/>
        </p:spPr>
        <p:txBody>
          <a:bodyPr wrap="square" lIns="0" tIns="0" rIns="0" bIns="0" anchor="b">
            <a:spAutoFit/>
          </a:bodyPr>
          <a:lstStyle/>
          <a:p>
            <a:pPr algn="l">
              <a:lnSpc>
                <a:spcPct val="118000"/>
              </a:lnSpc>
            </a:pPr>
            <a:r>
              <a:rPr sz="1900" b="1" i="0">
                <a:solidFill>
                  <a:srgbClr val="22C55E"/>
                </a:solidFill>
                <a:latin typeface="JetBrains Mono"/>
              </a:rPr>
              <a:t>541</a:t>
            </a:r>
          </a:p>
        </p:txBody>
      </p:sp>
      <p:sp>
        <p:nvSpPr>
          <p:cNvPr id="18" name="TextBox 17"/>
          <p:cNvSpPr txBox="1"/>
          <p:nvPr/>
        </p:nvSpPr>
        <p:spPr>
          <a:xfrm>
            <a:off x="6263640" y="2257653"/>
            <a:ext cx="2377439" cy="384048"/>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squares of the city</a:t>
            </a:r>
          </a:p>
          <a:p>
            <a:pPr algn="l">
              <a:lnSpc>
                <a:spcPct val="110000"/>
              </a:lnSpc>
              <a:spcBef>
                <a:spcPts val="400"/>
              </a:spcBef>
            </a:pPr>
            <a:r>
              <a:rPr sz="850" b="0" i="0">
                <a:solidFill>
                  <a:srgbClr val="9AA3B2"/>
                </a:solidFill>
                <a:latin typeface="Inter"/>
              </a:rPr>
              <a:t>scored separately</a:t>
            </a:r>
          </a:p>
        </p:txBody>
      </p:sp>
      <p:sp>
        <p:nvSpPr>
          <p:cNvPr id="19" name="Rounded Rectangle 18"/>
          <p:cNvSpPr/>
          <p:nvPr/>
        </p:nvSpPr>
        <p:spPr>
          <a:xfrm>
            <a:off x="8951976" y="1700784"/>
            <a:ext cx="2633472"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79992" y="1700784"/>
            <a:ext cx="2377439" cy="556869"/>
          </a:xfrm>
          <a:prstGeom prst="rect">
            <a:avLst/>
          </a:prstGeom>
          <a:noFill/>
        </p:spPr>
        <p:txBody>
          <a:bodyPr wrap="square" lIns="0" tIns="0" rIns="0" bIns="0" anchor="b">
            <a:spAutoFit/>
          </a:bodyPr>
          <a:lstStyle/>
          <a:p>
            <a:pPr algn="l">
              <a:lnSpc>
                <a:spcPct val="118000"/>
              </a:lnSpc>
            </a:pPr>
            <a:r>
              <a:rPr sz="1900" b="1" i="0">
                <a:solidFill>
                  <a:srgbClr val="22C55E"/>
                </a:solidFill>
                <a:latin typeface="JetBrains Mono"/>
              </a:rPr>
              <a:t>24</a:t>
            </a:r>
          </a:p>
        </p:txBody>
      </p:sp>
      <p:sp>
        <p:nvSpPr>
          <p:cNvPr id="21" name="TextBox 20"/>
          <p:cNvSpPr txBox="1"/>
          <p:nvPr/>
        </p:nvSpPr>
        <p:spPr>
          <a:xfrm>
            <a:off x="9079992" y="2257653"/>
            <a:ext cx="2377439" cy="384048"/>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wards covered,</a:t>
            </a:r>
          </a:p>
          <a:p>
            <a:pPr algn="l">
              <a:lnSpc>
                <a:spcPct val="110000"/>
              </a:lnSpc>
              <a:spcBef>
                <a:spcPts val="400"/>
              </a:spcBef>
            </a:pPr>
            <a:r>
              <a:rPr sz="850" b="0" i="0">
                <a:solidFill>
                  <a:srgbClr val="9AA3B2"/>
                </a:solidFill>
                <a:latin typeface="Inter"/>
              </a:rPr>
              <a:t>the whole city</a:t>
            </a:r>
          </a:p>
        </p:txBody>
      </p:sp>
      <p:graphicFrame>
        <p:nvGraphicFramePr>
          <p:cNvPr id="22" name="Table 21"/>
          <p:cNvGraphicFramePr>
            <a:graphicFrameLocks noGrp="1"/>
          </p:cNvGraphicFramePr>
          <p:nvPr/>
        </p:nvGraphicFramePr>
        <p:xfrm>
          <a:off x="502920" y="2926080"/>
          <a:ext cx="10917936" cy="2240278"/>
        </p:xfrm>
        <a:graphic>
          <a:graphicData uri="http://schemas.openxmlformats.org/drawingml/2006/table">
            <a:tbl>
              <a:tblPr>
                <a:tableStyleId>{5940675A-B579-460E-94D1-54222C63F5DA}</a:tableStyleId>
              </a:tblPr>
              <a:tblGrid>
                <a:gridCol w="35204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4425696">
                  <a:extLst>
                    <a:ext uri="{9D8B030D-6E8A-4147-A177-3AD203B41FA5}">
                      <a16:colId xmlns:a16="http://schemas.microsoft.com/office/drawing/2014/main" val="20002"/>
                    </a:ext>
                  </a:extLst>
                </a:gridCol>
              </a:tblGrid>
              <a:tr h="292608">
                <a:tc>
                  <a:txBody>
                    <a:bodyPr/>
                    <a:lstStyle/>
                    <a:p>
                      <a:pPr algn="l">
                        <a:lnSpc>
                          <a:spcPct val="105000"/>
                        </a:lnSpc>
                      </a:pPr>
                      <a:r>
                        <a:rPr sz="950" b="1">
                          <a:solidFill>
                            <a:srgbClr val="FFFFFF"/>
                          </a:solidFill>
                          <a:latin typeface="Inter"/>
                        </a:rPr>
                        <a:t>Dataset</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Published by</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What it provides</a:t>
                      </a:r>
                    </a:p>
                  </a:txBody>
                  <a:tcPr marL="73152" marR="73152" marT="27432" marB="27432" anchor="ctr">
                    <a:solidFill>
                      <a:srgbClr val="0EA5B3"/>
                    </a:solidFill>
                  </a:tcPr>
                </a:tc>
                <a:extLst>
                  <a:ext uri="{0D108BD9-81ED-4DB2-BD59-A6C34878D82A}">
                    <a16:rowId xmlns:a16="http://schemas.microsoft.com/office/drawing/2014/main" val="10000"/>
                  </a:ext>
                </a:extLst>
              </a:tr>
              <a:tr h="389534">
                <a:tc>
                  <a:txBody>
                    <a:bodyPr/>
                    <a:lstStyle/>
                    <a:p>
                      <a:pPr algn="l">
                        <a:lnSpc>
                          <a:spcPct val="105000"/>
                        </a:lnSpc>
                      </a:pPr>
                      <a:r>
                        <a:rPr sz="880" b="1">
                          <a:solidFill>
                            <a:srgbClr val="E6EAF2"/>
                          </a:solidFill>
                          <a:latin typeface="Inter"/>
                        </a:rPr>
                        <a:t>Satellite heat and greenery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US Geological Survey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How hot the ground is, how green</a:t>
                      </a:r>
                    </a:p>
                  </a:txBody>
                  <a:tcPr marL="73152" marR="73152" marT="27432" marB="27432" anchor="ctr">
                    <a:solidFill>
                      <a:srgbClr val="151A24"/>
                    </a:solidFill>
                  </a:tcPr>
                </a:tc>
                <a:extLst>
                  <a:ext uri="{0D108BD9-81ED-4DB2-BD59-A6C34878D82A}">
                    <a16:rowId xmlns:a16="http://schemas.microsoft.com/office/drawing/2014/main" val="10001"/>
                  </a:ext>
                </a:extLst>
              </a:tr>
              <a:tr h="389534">
                <a:tc>
                  <a:txBody>
                    <a:bodyPr/>
                    <a:lstStyle/>
                    <a:p>
                      <a:pPr algn="l">
                        <a:lnSpc>
                          <a:spcPct val="105000"/>
                        </a:lnSpc>
                      </a:pPr>
                      <a:r>
                        <a:rPr sz="880" b="1">
                          <a:solidFill>
                            <a:srgbClr val="E6EAF2"/>
                          </a:solidFill>
                          <a:latin typeface="Inter"/>
                        </a:rPr>
                        <a:t>Satellite land cover</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European Space Agency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Concrete, water, grass, trees</a:t>
                      </a:r>
                    </a:p>
                  </a:txBody>
                  <a:tcPr marL="73152" marR="73152" marT="27432" marB="27432" anchor="ctr">
                    <a:solidFill>
                      <a:srgbClr val="151A24"/>
                    </a:solidFill>
                  </a:tcPr>
                </a:tc>
                <a:extLst>
                  <a:ext uri="{0D108BD9-81ED-4DB2-BD59-A6C34878D82A}">
                    <a16:rowId xmlns:a16="http://schemas.microsoft.com/office/drawing/2014/main" val="10002"/>
                  </a:ext>
                </a:extLst>
              </a:tr>
              <a:tr h="389534">
                <a:tc>
                  <a:txBody>
                    <a:bodyPr/>
                    <a:lstStyle/>
                    <a:p>
                      <a:pPr algn="l">
                        <a:lnSpc>
                          <a:spcPct val="105000"/>
                        </a:lnSpc>
                      </a:pPr>
                      <a:r>
                        <a:rPr sz="880" b="1">
                          <a:solidFill>
                            <a:srgbClr val="E6EAF2"/>
                          </a:solidFill>
                          <a:latin typeface="Inter"/>
                        </a:rPr>
                        <a:t>Population estimates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WorldPop</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How many people, and how many are older</a:t>
                      </a:r>
                    </a:p>
                  </a:txBody>
                  <a:tcPr marL="73152" marR="73152" marT="27432" marB="27432" anchor="ctr">
                    <a:solidFill>
                      <a:srgbClr val="151A24"/>
                    </a:solidFill>
                  </a:tcPr>
                </a:tc>
                <a:extLst>
                  <a:ext uri="{0D108BD9-81ED-4DB2-BD59-A6C34878D82A}">
                    <a16:rowId xmlns:a16="http://schemas.microsoft.com/office/drawing/2014/main" val="10003"/>
                  </a:ext>
                </a:extLst>
              </a:tr>
              <a:tr h="389534">
                <a:tc>
                  <a:txBody>
                    <a:bodyPr/>
                    <a:lstStyle/>
                    <a:p>
                      <a:pPr algn="l">
                        <a:lnSpc>
                          <a:spcPct val="105000"/>
                        </a:lnSpc>
                      </a:pPr>
                      <a:r>
                        <a:rPr sz="880" b="1">
                          <a:solidFill>
                            <a:srgbClr val="E6EAF2"/>
                          </a:solidFill>
                          <a:latin typeface="Inter"/>
                        </a:rPr>
                        <a:t>Community map data</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OpenStreetMap</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Where the hospitals are</a:t>
                      </a:r>
                    </a:p>
                  </a:txBody>
                  <a:tcPr marL="73152" marR="73152" marT="27432" marB="27432" anchor="ctr">
                    <a:solidFill>
                      <a:srgbClr val="151A24"/>
                    </a:solidFill>
                  </a:tcPr>
                </a:tc>
                <a:extLst>
                  <a:ext uri="{0D108BD9-81ED-4DB2-BD59-A6C34878D82A}">
                    <a16:rowId xmlns:a16="http://schemas.microsoft.com/office/drawing/2014/main" val="10004"/>
                  </a:ext>
                </a:extLst>
              </a:tr>
              <a:tr h="389534">
                <a:tc>
                  <a:txBody>
                    <a:bodyPr/>
                    <a:lstStyle/>
                    <a:p>
                      <a:pPr algn="l">
                        <a:lnSpc>
                          <a:spcPct val="105000"/>
                        </a:lnSpc>
                      </a:pPr>
                      <a:r>
                        <a:rPr sz="880" b="1" dirty="0">
                          <a:solidFill>
                            <a:srgbClr val="E6EAF2"/>
                          </a:solidFill>
                          <a:latin typeface="Inter"/>
                        </a:rPr>
                        <a:t>Municipal boundaries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Datameet, open data</a:t>
                      </a:r>
                    </a:p>
                  </a:txBody>
                  <a:tcPr marL="73152" marR="73152" marT="27432" marB="27432" anchor="ctr">
                    <a:solidFill>
                      <a:srgbClr val="151A24"/>
                    </a:solidFill>
                  </a:tcPr>
                </a:tc>
                <a:tc>
                  <a:txBody>
                    <a:bodyPr/>
                    <a:lstStyle/>
                    <a:p>
                      <a:pPr algn="l">
                        <a:lnSpc>
                          <a:spcPct val="105000"/>
                        </a:lnSpc>
                      </a:pPr>
                      <a:r>
                        <a:rPr sz="880" b="0" dirty="0">
                          <a:solidFill>
                            <a:srgbClr val="9AA3B2"/>
                          </a:solidFill>
                          <a:latin typeface="Inter"/>
                        </a:rPr>
                        <a:t>Ward outlines, informal settlements</a:t>
                      </a:r>
                    </a:p>
                  </a:txBody>
                  <a:tcPr marL="73152" marR="73152" marT="27432" marB="27432" anchor="ctr">
                    <a:solidFill>
                      <a:srgbClr val="151A24"/>
                    </a:solidFill>
                  </a:tcPr>
                </a:tc>
                <a:extLst>
                  <a:ext uri="{0D108BD9-81ED-4DB2-BD59-A6C34878D82A}">
                    <a16:rowId xmlns:a16="http://schemas.microsoft.com/office/drawing/2014/main" val="10005"/>
                  </a:ext>
                </a:extLst>
              </a:tr>
            </a:tbl>
          </a:graphicData>
        </a:graphic>
      </p:graphicFrame>
      <p:sp>
        <p:nvSpPr>
          <p:cNvPr id="23" name="TextBox 22"/>
          <p:cNvSpPr txBox="1"/>
          <p:nvPr/>
        </p:nvSpPr>
        <p:spPr>
          <a:xfrm>
            <a:off x="502920" y="5303520"/>
            <a:ext cx="7132320" cy="178575"/>
          </a:xfrm>
          <a:prstGeom prst="rect">
            <a:avLst/>
          </a:prstGeom>
          <a:noFill/>
        </p:spPr>
        <p:txBody>
          <a:bodyPr wrap="square" lIns="0" tIns="0" rIns="0" bIns="0" anchor="t">
            <a:spAutoFit/>
          </a:bodyPr>
          <a:lstStyle/>
          <a:p>
            <a:pPr algn="l">
              <a:lnSpc>
                <a:spcPct val="118000"/>
              </a:lnSpc>
            </a:pPr>
            <a:r>
              <a:rPr sz="1050" b="1" i="0" dirty="0">
                <a:solidFill>
                  <a:srgbClr val="E6EAF2"/>
                </a:solidFill>
                <a:latin typeface="Inter"/>
              </a:rPr>
              <a:t>Every one of these is free and public</a:t>
            </a:r>
            <a:r>
              <a:rPr lang="en-US" sz="1050" b="1" dirty="0">
                <a:solidFill>
                  <a:srgbClr val="E6EAF2"/>
                </a:solidFill>
                <a:latin typeface="Inter"/>
              </a:rPr>
              <a:t> on the </a:t>
            </a:r>
            <a:r>
              <a:rPr lang="en-US" sz="1050" b="1" dirty="0" err="1">
                <a:solidFill>
                  <a:srgbClr val="E6EAF2"/>
                </a:solidFill>
                <a:latin typeface="Inter"/>
              </a:rPr>
              <a:t>Github</a:t>
            </a:r>
            <a:r>
              <a:rPr lang="en-US" sz="1050" b="1" dirty="0">
                <a:solidFill>
                  <a:srgbClr val="E6EAF2"/>
                </a:solidFill>
                <a:latin typeface="Inter"/>
              </a:rPr>
              <a:t> repository at https://github.com/anaydhawan/ucip</a:t>
            </a:r>
            <a:endParaRPr sz="1050" b="1" i="0" dirty="0">
              <a:solidFill>
                <a:srgbClr val="E6EAF2"/>
              </a:solidFill>
              <a:latin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03 · RESEARCH &amp; INSIGHTS</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What the science says, including the finding I did not want</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7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Ziter et al. 2019, PNAS, doi 10.1073/pnas.1817561116. Santamouris 2014, Solar Energy, doi 10.1016/j.solener.2012.07.003. Bastin et al. 2019, Science, doi 10.1126/science.aax0848 and Veldman et al. 2019, Science, doi 10.1126/science.aay7976.</a:t>
            </a:r>
          </a:p>
        </p:txBody>
      </p:sp>
      <p:sp>
        <p:nvSpPr>
          <p:cNvPr id="9" name="Rounded Rectangle 8"/>
          <p:cNvSpPr/>
          <p:nvPr/>
        </p:nvSpPr>
        <p:spPr>
          <a:xfrm>
            <a:off x="502920" y="1645920"/>
            <a:ext cx="3529584" cy="224028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773936"/>
            <a:ext cx="3163824" cy="274320"/>
          </a:xfrm>
          <a:prstGeom prst="rect">
            <a:avLst/>
          </a:prstGeom>
          <a:noFill/>
        </p:spPr>
        <p:txBody>
          <a:bodyPr wrap="square" lIns="0" tIns="0" rIns="0" bIns="0" anchor="t">
            <a:spAutoFit/>
          </a:bodyPr>
          <a:lstStyle/>
          <a:p>
            <a:r>
              <a:rPr sz="1250" b="1" i="0">
                <a:solidFill>
                  <a:srgbClr val="22C55E"/>
                </a:solidFill>
                <a:latin typeface="Inter"/>
              </a:rPr>
              <a:t>● </a:t>
            </a:r>
            <a:r>
              <a:rPr sz="1250" b="1" i="0">
                <a:solidFill>
                  <a:srgbClr val="FFFFFF"/>
                </a:solidFill>
                <a:latin typeface="Inter"/>
              </a:rPr>
              <a:t>A few trees will not do it</a:t>
            </a:r>
          </a:p>
        </p:txBody>
      </p:sp>
      <p:sp>
        <p:nvSpPr>
          <p:cNvPr id="11" name="TextBox 10"/>
          <p:cNvSpPr txBox="1"/>
          <p:nvPr/>
        </p:nvSpPr>
        <p:spPr>
          <a:xfrm>
            <a:off x="685800" y="2121408"/>
            <a:ext cx="3163824" cy="1581912"/>
          </a:xfrm>
          <a:prstGeom prst="rect">
            <a:avLst/>
          </a:prstGeom>
          <a:noFill/>
        </p:spPr>
        <p:txBody>
          <a:bodyPr wrap="square" lIns="0" tIns="0" rIns="0" bIns="0" anchor="t">
            <a:spAutoFit/>
          </a:bodyPr>
          <a:lstStyle/>
          <a:p>
            <a:pPr algn="l">
              <a:lnSpc>
                <a:spcPct val="118000"/>
              </a:lnSpc>
            </a:pPr>
            <a:r>
              <a:rPr sz="1000" b="0" i="0">
                <a:solidFill>
                  <a:srgbClr val="9AA3B2"/>
                </a:solidFill>
                <a:latin typeface="Inter"/>
              </a:rPr>
              <a:t>Cooling only really begins once an area is roughly two fifths covered by tree canopy. Below that, planting a handful of trees looks good and changes almost nothing.</a:t>
            </a:r>
          </a:p>
          <a:p>
            <a:pPr algn="l">
              <a:lnSpc>
                <a:spcPct val="118000"/>
              </a:lnSpc>
              <a:spcBef>
                <a:spcPts val="400"/>
              </a:spcBef>
            </a:pPr>
            <a:endParaRPr sz="1000" b="0" i="0">
              <a:solidFill>
                <a:srgbClr val="9AA3B2"/>
              </a:solidFill>
              <a:latin typeface="Inter"/>
            </a:endParaRPr>
          </a:p>
          <a:p>
            <a:pPr algn="l">
              <a:lnSpc>
                <a:spcPct val="118000"/>
              </a:lnSpc>
              <a:spcBef>
                <a:spcPts val="400"/>
              </a:spcBef>
            </a:pPr>
            <a:r>
              <a:rPr sz="1000" b="0" i="0">
                <a:solidFill>
                  <a:srgbClr val="9AA3B2"/>
                </a:solidFill>
                <a:latin typeface="Inter"/>
              </a:rPr>
              <a:t>Ziter and colleagues, 2019</a:t>
            </a:r>
          </a:p>
        </p:txBody>
      </p:sp>
      <p:sp>
        <p:nvSpPr>
          <p:cNvPr id="12" name="Rounded Rectangle 11"/>
          <p:cNvSpPr/>
          <p:nvPr/>
        </p:nvSpPr>
        <p:spPr>
          <a:xfrm>
            <a:off x="4197096" y="1645920"/>
            <a:ext cx="3529584" cy="224028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9976" y="1773936"/>
            <a:ext cx="3163824" cy="274320"/>
          </a:xfrm>
          <a:prstGeom prst="rect">
            <a:avLst/>
          </a:prstGeom>
          <a:noFill/>
        </p:spPr>
        <p:txBody>
          <a:bodyPr wrap="square" lIns="0" tIns="0" rIns="0" bIns="0" anchor="t">
            <a:spAutoFit/>
          </a:bodyPr>
          <a:lstStyle/>
          <a:p>
            <a:r>
              <a:rPr sz="1250" b="1" i="0">
                <a:solidFill>
                  <a:srgbClr val="0EA5B3"/>
                </a:solidFill>
                <a:latin typeface="Inter"/>
              </a:rPr>
              <a:t>● </a:t>
            </a:r>
            <a:r>
              <a:rPr sz="1250" b="1" i="0">
                <a:solidFill>
                  <a:srgbClr val="FFFFFF"/>
                </a:solidFill>
                <a:latin typeface="Inter"/>
              </a:rPr>
              <a:t>Pale roofs work, reliably</a:t>
            </a:r>
          </a:p>
        </p:txBody>
      </p:sp>
      <p:sp>
        <p:nvSpPr>
          <p:cNvPr id="14" name="TextBox 13"/>
          <p:cNvSpPr txBox="1"/>
          <p:nvPr/>
        </p:nvSpPr>
        <p:spPr>
          <a:xfrm>
            <a:off x="4379976" y="2121408"/>
            <a:ext cx="3163824" cy="1581912"/>
          </a:xfrm>
          <a:prstGeom prst="rect">
            <a:avLst/>
          </a:prstGeom>
          <a:noFill/>
        </p:spPr>
        <p:txBody>
          <a:bodyPr wrap="square" lIns="0" tIns="0" rIns="0" bIns="0" anchor="t">
            <a:spAutoFit/>
          </a:bodyPr>
          <a:lstStyle/>
          <a:p>
            <a:pPr algn="l">
              <a:lnSpc>
                <a:spcPct val="118000"/>
              </a:lnSpc>
            </a:pPr>
            <a:r>
              <a:rPr sz="1000" b="0" i="0">
                <a:solidFill>
                  <a:srgbClr val="9AA3B2"/>
                </a:solidFill>
                <a:latin typeface="Inter"/>
              </a:rPr>
              <a:t>Painting a dark roof a reflective colour measurably drops the peak temperature underneath. It is cheap, it is fast, and it works on exactly the roofs that trap the most heat.</a:t>
            </a:r>
          </a:p>
          <a:p>
            <a:pPr algn="l">
              <a:lnSpc>
                <a:spcPct val="118000"/>
              </a:lnSpc>
              <a:spcBef>
                <a:spcPts val="400"/>
              </a:spcBef>
            </a:pPr>
            <a:endParaRPr sz="1000" b="0" i="0">
              <a:solidFill>
                <a:srgbClr val="9AA3B2"/>
              </a:solidFill>
              <a:latin typeface="Inter"/>
            </a:endParaRPr>
          </a:p>
          <a:p>
            <a:pPr algn="l">
              <a:lnSpc>
                <a:spcPct val="118000"/>
              </a:lnSpc>
              <a:spcBef>
                <a:spcPts val="400"/>
              </a:spcBef>
            </a:pPr>
            <a:r>
              <a:rPr sz="1000" b="0" i="0">
                <a:solidFill>
                  <a:srgbClr val="9AA3B2"/>
                </a:solidFill>
                <a:latin typeface="Inter"/>
              </a:rPr>
              <a:t>Santamouris, 2014</a:t>
            </a:r>
          </a:p>
        </p:txBody>
      </p:sp>
      <p:sp>
        <p:nvSpPr>
          <p:cNvPr id="15" name="Rounded Rectangle 14"/>
          <p:cNvSpPr/>
          <p:nvPr/>
        </p:nvSpPr>
        <p:spPr>
          <a:xfrm>
            <a:off x="7891272" y="1645920"/>
            <a:ext cx="3529584" cy="224028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74152" y="1773936"/>
            <a:ext cx="3163824" cy="274320"/>
          </a:xfrm>
          <a:prstGeom prst="rect">
            <a:avLst/>
          </a:prstGeom>
          <a:noFill/>
        </p:spPr>
        <p:txBody>
          <a:bodyPr wrap="square" lIns="0" tIns="0" rIns="0" bIns="0" anchor="t">
            <a:spAutoFit/>
          </a:bodyPr>
          <a:lstStyle/>
          <a:p>
            <a:r>
              <a:rPr sz="1250" b="1" i="0">
                <a:solidFill>
                  <a:srgbClr val="E4572E"/>
                </a:solidFill>
                <a:latin typeface="Inter"/>
              </a:rPr>
              <a:t>● </a:t>
            </a:r>
            <a:r>
              <a:rPr sz="1250" b="1" i="0">
                <a:solidFill>
                  <a:srgbClr val="FFFFFF"/>
                </a:solidFill>
                <a:latin typeface="Inter"/>
              </a:rPr>
              <a:t>Trees in the wrong place do harm</a:t>
            </a:r>
          </a:p>
        </p:txBody>
      </p:sp>
      <p:sp>
        <p:nvSpPr>
          <p:cNvPr id="17" name="TextBox 16"/>
          <p:cNvSpPr txBox="1"/>
          <p:nvPr/>
        </p:nvSpPr>
        <p:spPr>
          <a:xfrm>
            <a:off x="8074152" y="2121408"/>
            <a:ext cx="3163824" cy="1581912"/>
          </a:xfrm>
          <a:prstGeom prst="rect">
            <a:avLst/>
          </a:prstGeom>
          <a:noFill/>
        </p:spPr>
        <p:txBody>
          <a:bodyPr wrap="square" lIns="0" tIns="0" rIns="0" bIns="0" anchor="t">
            <a:spAutoFit/>
          </a:bodyPr>
          <a:lstStyle/>
          <a:p>
            <a:pPr algn="l">
              <a:lnSpc>
                <a:spcPct val="118000"/>
              </a:lnSpc>
            </a:pPr>
            <a:r>
              <a:rPr sz="1000" b="0" i="0">
                <a:solidFill>
                  <a:srgbClr val="9AA3B2"/>
                </a:solidFill>
                <a:latin typeface="Inter"/>
              </a:rPr>
              <a:t>Some open land is naturally grassland, not forest. Planting trees there damages the ecosystem that is already doing a job. Good intentions, real damage.</a:t>
            </a:r>
          </a:p>
          <a:p>
            <a:pPr algn="l">
              <a:lnSpc>
                <a:spcPct val="118000"/>
              </a:lnSpc>
              <a:spcBef>
                <a:spcPts val="400"/>
              </a:spcBef>
            </a:pPr>
            <a:endParaRPr sz="1000" b="0" i="0">
              <a:solidFill>
                <a:srgbClr val="9AA3B2"/>
              </a:solidFill>
              <a:latin typeface="Inter"/>
            </a:endParaRPr>
          </a:p>
          <a:p>
            <a:pPr algn="l">
              <a:lnSpc>
                <a:spcPct val="118000"/>
              </a:lnSpc>
              <a:spcBef>
                <a:spcPts val="400"/>
              </a:spcBef>
            </a:pPr>
            <a:r>
              <a:rPr sz="1000" b="0" i="0">
                <a:solidFill>
                  <a:srgbClr val="9AA3B2"/>
                </a:solidFill>
                <a:latin typeface="Inter"/>
              </a:rPr>
              <a:t>Bastin 2019 and Veldman 2019</a:t>
            </a:r>
          </a:p>
        </p:txBody>
      </p:sp>
      <p:sp>
        <p:nvSpPr>
          <p:cNvPr id="18" name="Rounded Rectangle 17"/>
          <p:cNvSpPr/>
          <p:nvPr/>
        </p:nvSpPr>
        <p:spPr>
          <a:xfrm>
            <a:off x="502920" y="4114800"/>
            <a:ext cx="10917936" cy="1664208"/>
          </a:xfrm>
          <a:prstGeom prst="roundRect">
            <a:avLst>
              <a:gd name="adj" fmla="val 6000"/>
            </a:avLst>
          </a:prstGeom>
          <a:solidFill>
            <a:srgbClr val="1A2029"/>
          </a:solidFill>
          <a:ln w="9525">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297680"/>
            <a:ext cx="64008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Why the third finding changed the design</a:t>
            </a:r>
          </a:p>
        </p:txBody>
      </p:sp>
      <p:sp>
        <p:nvSpPr>
          <p:cNvPr id="20" name="TextBox 19"/>
          <p:cNvSpPr txBox="1"/>
          <p:nvPr/>
        </p:nvSpPr>
        <p:spPr>
          <a:xfrm>
            <a:off x="777240" y="4590288"/>
            <a:ext cx="10332720" cy="1005840"/>
          </a:xfrm>
          <a:prstGeom prst="rect">
            <a:avLst/>
          </a:prstGeom>
          <a:noFill/>
        </p:spPr>
        <p:txBody>
          <a:bodyPr wrap="square" lIns="0" tIns="0" rIns="0" bIns="0" anchor="t">
            <a:spAutoFit/>
          </a:bodyPr>
          <a:lstStyle/>
          <a:p>
            <a:pPr algn="l">
              <a:lnSpc>
                <a:spcPct val="122000"/>
              </a:lnSpc>
            </a:pPr>
            <a:r>
              <a:rPr sz="1050" b="0" i="0">
                <a:solidFill>
                  <a:srgbClr val="9AA3B2"/>
                </a:solidFill>
                <a:latin typeface="Inter"/>
              </a:rPr>
              <a:t>Almost every green-city tool answers heat with the same three words: plant more trees. Two teams of scientists arguing in the journal Science established that this is wrong often enough to matter. So this tool does not recommend planting until it has checked whether trees belong there, and when the answer is no, it says no and suggests pale roofs instead. I will show that running shortly.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03 · RESEARCH &amp; INSIGHTS</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300" b="1" i="0">
                <a:solidFill>
                  <a:srgbClr val="FFFFFF"/>
                </a:solidFill>
                <a:latin typeface="Inter"/>
              </a:rPr>
              <a:t>Five serious efforts already exist. None of them combines all five jobs.</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07008"/>
            <a:ext cx="10058400" cy="274320"/>
          </a:xfrm>
          <a:prstGeom prst="rect">
            <a:avLst/>
          </a:prstGeom>
          <a:noFill/>
        </p:spPr>
        <p:txBody>
          <a:bodyPr wrap="square" lIns="0" tIns="0" rIns="0" bIns="0" anchor="t">
            <a:spAutoFit/>
          </a:bodyPr>
          <a:lstStyle/>
          <a:p>
            <a:pPr algn="l">
              <a:lnSpc>
                <a:spcPct val="118000"/>
              </a:lnSpc>
            </a:pPr>
            <a:r>
              <a:rPr sz="1050" b="0" i="0">
                <a:solidFill>
                  <a:srgbClr val="BBBEC6"/>
                </a:solidFill>
                <a:latin typeface="Inter"/>
              </a:rPr>
              <a:t>Every one of these is better resourced than I am. This is what each one sets out to do, not a scorecard of how well it does it.</a:t>
            </a:r>
          </a:p>
        </p:txBody>
      </p:sp>
      <p:pic>
        <p:nvPicPr>
          <p:cNvPr id="6" name="Picture 5" descr="icon-512.png"/>
          <p:cNvPicPr>
            <a:picLocks noChangeAspect="1"/>
          </p:cNvPicPr>
          <p:nvPr/>
        </p:nvPicPr>
        <p:blipFill>
          <a:blip r:embed="rId3"/>
          <a:stretch>
            <a:fillRect/>
          </a:stretch>
        </p:blipFill>
        <p:spPr>
          <a:xfrm>
            <a:off x="10835640" y="274320"/>
            <a:ext cx="182880" cy="182880"/>
          </a:xfrm>
          <a:prstGeom prst="rect">
            <a:avLst/>
          </a:prstGeom>
        </p:spPr>
      </p:pic>
      <p:sp>
        <p:nvSpPr>
          <p:cNvPr id="7" name="TextBox 6"/>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8" name="TextBox 7"/>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8 / 21</a:t>
            </a:r>
          </a:p>
        </p:txBody>
      </p:sp>
      <p:sp>
        <p:nvSpPr>
          <p:cNvPr id="9" name="TextBox 8"/>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Mumbai Climate Action Plan 2022 (BMC, WRI India, C40); Azhar et al. 2017, doi 10.3390/ijerph14040357; Mehrotra, Bardhan and Ramamritham 2018, doi 10.1177/0975425318783548; C40 and Ramboll, Urban Cooling Toolbox 2021; Knowlton et al. 2014. Each row reflects what that tool's own publications claim to do, read and tabulated by me.</a:t>
            </a:r>
          </a:p>
        </p:txBody>
      </p:sp>
      <p:graphicFrame>
        <p:nvGraphicFramePr>
          <p:cNvPr id="10" name="Table 9"/>
          <p:cNvGraphicFramePr>
            <a:graphicFrameLocks noGrp="1"/>
          </p:cNvGraphicFramePr>
          <p:nvPr>
            <p:extLst>
              <p:ext uri="{D42A27DB-BD31-4B8C-83A1-F6EECF244321}">
                <p14:modId xmlns:p14="http://schemas.microsoft.com/office/powerpoint/2010/main" val="1700201895"/>
              </p:ext>
            </p:extLst>
          </p:nvPr>
        </p:nvGraphicFramePr>
        <p:xfrm>
          <a:off x="502920" y="1874519"/>
          <a:ext cx="10917934" cy="2677414"/>
        </p:xfrm>
        <a:graphic>
          <a:graphicData uri="http://schemas.openxmlformats.org/drawingml/2006/table">
            <a:tbl>
              <a:tblPr>
                <a:tableStyleId>{5940675A-B579-460E-94D1-54222C63F5DA}</a:tableStyleId>
              </a:tblPr>
              <a:tblGrid>
                <a:gridCol w="3785615">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1481328">
                  <a:extLst>
                    <a:ext uri="{9D8B030D-6E8A-4147-A177-3AD203B41FA5}">
                      <a16:colId xmlns:a16="http://schemas.microsoft.com/office/drawing/2014/main" val="20003"/>
                    </a:ext>
                  </a:extLst>
                </a:gridCol>
                <a:gridCol w="1591056">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tblGrid>
              <a:tr h="292608">
                <a:tc>
                  <a:txBody>
                    <a:bodyPr/>
                    <a:lstStyle/>
                    <a:p>
                      <a:pPr algn="l">
                        <a:lnSpc>
                          <a:spcPct val="105000"/>
                        </a:lnSpc>
                      </a:pPr>
                      <a:r>
                        <a:rPr sz="840" b="1">
                          <a:solidFill>
                            <a:srgbClr val="FFFFFF"/>
                          </a:solidFill>
                          <a:latin typeface="Inter"/>
                        </a:rPr>
                        <a:t>Tool</a:t>
                      </a:r>
                    </a:p>
                  </a:txBody>
                  <a:tcPr marL="73152" marR="73152" marT="27432" marB="27432" anchor="ctr">
                    <a:solidFill>
                      <a:srgbClr val="0EA5B3"/>
                    </a:solidFill>
                  </a:tcPr>
                </a:tc>
                <a:tc>
                  <a:txBody>
                    <a:bodyPr/>
                    <a:lstStyle/>
                    <a:p>
                      <a:pPr algn="l">
                        <a:lnSpc>
                          <a:spcPct val="105000"/>
                        </a:lnSpc>
                      </a:pPr>
                      <a:r>
                        <a:rPr sz="840" b="1">
                          <a:solidFill>
                            <a:srgbClr val="FFFFFF"/>
                          </a:solidFill>
                          <a:latin typeface="Inter"/>
                        </a:rPr>
                        <a:t>Ranks every</a:t>
                      </a:r>
                    </a:p>
                    <a:p>
                      <a:pPr algn="l">
                        <a:lnSpc>
                          <a:spcPct val="105000"/>
                        </a:lnSpc>
                      </a:pPr>
                      <a:r>
                        <a:rPr sz="840" b="1">
                          <a:solidFill>
                            <a:srgbClr val="FFFFFF"/>
                          </a:solidFill>
                          <a:latin typeface="Inter"/>
                        </a:rPr>
                        <a:t>ward</a:t>
                      </a:r>
                    </a:p>
                  </a:txBody>
                  <a:tcPr marL="73152" marR="73152" marT="27432" marB="27432" anchor="ctr">
                    <a:solidFill>
                      <a:srgbClr val="0EA5B3"/>
                    </a:solidFill>
                  </a:tcPr>
                </a:tc>
                <a:tc>
                  <a:txBody>
                    <a:bodyPr/>
                    <a:lstStyle/>
                    <a:p>
                      <a:pPr algn="l">
                        <a:lnSpc>
                          <a:spcPct val="105000"/>
                        </a:lnSpc>
                      </a:pPr>
                      <a:r>
                        <a:rPr sz="840" b="1">
                          <a:solidFill>
                            <a:srgbClr val="FFFFFF"/>
                          </a:solidFill>
                          <a:latin typeface="Inter"/>
                        </a:rPr>
                        <a:t>Explains</a:t>
                      </a:r>
                    </a:p>
                    <a:p>
                      <a:pPr algn="l">
                        <a:lnSpc>
                          <a:spcPct val="105000"/>
                        </a:lnSpc>
                      </a:pPr>
                      <a:r>
                        <a:rPr sz="840" b="1">
                          <a:solidFill>
                            <a:srgbClr val="FFFFFF"/>
                          </a:solidFill>
                          <a:latin typeface="Inter"/>
                        </a:rPr>
                        <a:t>why</a:t>
                      </a:r>
                    </a:p>
                  </a:txBody>
                  <a:tcPr marL="73152" marR="73152" marT="27432" marB="27432" anchor="ctr">
                    <a:solidFill>
                      <a:srgbClr val="0EA5B3"/>
                    </a:solidFill>
                  </a:tcPr>
                </a:tc>
                <a:tc>
                  <a:txBody>
                    <a:bodyPr/>
                    <a:lstStyle/>
                    <a:p>
                      <a:pPr algn="l">
                        <a:lnSpc>
                          <a:spcPct val="105000"/>
                        </a:lnSpc>
                      </a:pPr>
                      <a:r>
                        <a:rPr sz="840" b="1">
                          <a:solidFill>
                            <a:srgbClr val="FFFFFF"/>
                          </a:solidFill>
                          <a:latin typeface="Inter"/>
                        </a:rPr>
                        <a:t>Names an</a:t>
                      </a:r>
                    </a:p>
                    <a:p>
                      <a:pPr algn="l">
                        <a:lnSpc>
                          <a:spcPct val="105000"/>
                        </a:lnSpc>
                      </a:pPr>
                      <a:r>
                        <a:rPr sz="840" b="1">
                          <a:solidFill>
                            <a:srgbClr val="FFFFFF"/>
                          </a:solidFill>
                          <a:latin typeface="Inter"/>
                        </a:rPr>
                        <a:t>intervention</a:t>
                      </a:r>
                    </a:p>
                  </a:txBody>
                  <a:tcPr marL="73152" marR="73152" marT="27432" marB="27432" anchor="ctr">
                    <a:solidFill>
                      <a:srgbClr val="0EA5B3"/>
                    </a:solidFill>
                  </a:tcPr>
                </a:tc>
                <a:tc>
                  <a:txBody>
                    <a:bodyPr/>
                    <a:lstStyle/>
                    <a:p>
                      <a:pPr algn="l">
                        <a:lnSpc>
                          <a:spcPct val="105000"/>
                        </a:lnSpc>
                      </a:pPr>
                      <a:r>
                        <a:rPr sz="840" b="1">
                          <a:solidFill>
                            <a:srgbClr val="FFFFFF"/>
                          </a:solidFill>
                          <a:latin typeface="Inter"/>
                        </a:rPr>
                        <a:t>Refuses unsuitable</a:t>
                      </a:r>
                    </a:p>
                    <a:p>
                      <a:pPr algn="l">
                        <a:lnSpc>
                          <a:spcPct val="105000"/>
                        </a:lnSpc>
                      </a:pPr>
                      <a:r>
                        <a:rPr sz="840" b="1">
                          <a:solidFill>
                            <a:srgbClr val="FFFFFF"/>
                          </a:solidFill>
                          <a:latin typeface="Inter"/>
                        </a:rPr>
                        <a:t>ones</a:t>
                      </a:r>
                    </a:p>
                  </a:txBody>
                  <a:tcPr marL="73152" marR="73152" marT="27432" marB="27432" anchor="ctr">
                    <a:solidFill>
                      <a:srgbClr val="0EA5B3"/>
                    </a:solidFill>
                  </a:tcPr>
                </a:tc>
                <a:tc>
                  <a:txBody>
                    <a:bodyPr/>
                    <a:lstStyle/>
                    <a:p>
                      <a:pPr algn="l">
                        <a:lnSpc>
                          <a:spcPct val="105000"/>
                        </a:lnSpc>
                      </a:pPr>
                      <a:r>
                        <a:rPr sz="840" b="1">
                          <a:solidFill>
                            <a:srgbClr val="FFFFFF"/>
                          </a:solidFill>
                          <a:latin typeface="Inter"/>
                        </a:rPr>
                        <a:t>Handles</a:t>
                      </a:r>
                    </a:p>
                    <a:p>
                      <a:pPr algn="l">
                        <a:lnSpc>
                          <a:spcPct val="105000"/>
                        </a:lnSpc>
                      </a:pPr>
                      <a:r>
                        <a:rPr sz="840" b="1">
                          <a:solidFill>
                            <a:srgbClr val="FFFFFF"/>
                          </a:solidFill>
                          <a:latin typeface="Inter"/>
                        </a:rPr>
                        <a:t>budget</a:t>
                      </a:r>
                    </a:p>
                  </a:txBody>
                  <a:tcPr marL="73152" marR="73152" marT="27432" marB="27432" anchor="ctr">
                    <a:solidFill>
                      <a:srgbClr val="0EA5B3"/>
                    </a:solidFill>
                  </a:tcPr>
                </a:tc>
                <a:extLst>
                  <a:ext uri="{0D108BD9-81ED-4DB2-BD59-A6C34878D82A}">
                    <a16:rowId xmlns:a16="http://schemas.microsoft.com/office/drawing/2014/main" val="10000"/>
                  </a:ext>
                </a:extLst>
              </a:tr>
              <a:tr h="393192">
                <a:tc>
                  <a:txBody>
                    <a:bodyPr/>
                    <a:lstStyle/>
                    <a:p>
                      <a:pPr algn="l">
                        <a:lnSpc>
                          <a:spcPct val="105000"/>
                        </a:lnSpc>
                      </a:pPr>
                      <a:r>
                        <a:rPr sz="880" b="1">
                          <a:solidFill>
                            <a:srgbClr val="E6EAF2"/>
                          </a:solidFill>
                          <a:latin typeface="Inter"/>
                        </a:rPr>
                        <a:t>Mumbai Climate Action Plan 2022</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city scale</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yes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extLst>
                  <a:ext uri="{0D108BD9-81ED-4DB2-BD59-A6C34878D82A}">
                    <a16:rowId xmlns:a16="http://schemas.microsoft.com/office/drawing/2014/main" val="10001"/>
                  </a:ext>
                </a:extLst>
              </a:tr>
              <a:tr h="393192">
                <a:tc>
                  <a:txBody>
                    <a:bodyPr/>
                    <a:lstStyle/>
                    <a:p>
                      <a:pPr algn="l">
                        <a:lnSpc>
                          <a:spcPct val="105000"/>
                        </a:lnSpc>
                      </a:pPr>
                      <a:r>
                        <a:rPr sz="880" b="1">
                          <a:solidFill>
                            <a:srgbClr val="E6EAF2"/>
                          </a:solidFill>
                          <a:latin typeface="Inter"/>
                        </a:rPr>
                        <a:t>RAND India heat risk study 2017</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640 districts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partly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extLst>
                  <a:ext uri="{0D108BD9-81ED-4DB2-BD59-A6C34878D82A}">
                    <a16:rowId xmlns:a16="http://schemas.microsoft.com/office/drawing/2014/main" val="10002"/>
                  </a:ext>
                </a:extLst>
              </a:tr>
              <a:tr h="393192">
                <a:tc>
                  <a:txBody>
                    <a:bodyPr/>
                    <a:lstStyle/>
                    <a:p>
                      <a:pPr algn="l">
                        <a:lnSpc>
                          <a:spcPct val="105000"/>
                        </a:lnSpc>
                      </a:pPr>
                      <a:r>
                        <a:rPr sz="880" b="1">
                          <a:solidFill>
                            <a:srgbClr val="E6EAF2"/>
                          </a:solidFill>
                          <a:latin typeface="Inter"/>
                        </a:rPr>
                        <a:t>IIT Bombay Mumbai heat mapping</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yes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partly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extLst>
                  <a:ext uri="{0D108BD9-81ED-4DB2-BD59-A6C34878D82A}">
                    <a16:rowId xmlns:a16="http://schemas.microsoft.com/office/drawing/2014/main" val="10003"/>
                  </a:ext>
                </a:extLst>
              </a:tr>
              <a:tr h="393192">
                <a:tc>
                  <a:txBody>
                    <a:bodyPr/>
                    <a:lstStyle/>
                    <a:p>
                      <a:pPr algn="l">
                        <a:lnSpc>
                          <a:spcPct val="105000"/>
                        </a:lnSpc>
                      </a:pPr>
                      <a:r>
                        <a:rPr sz="880" b="1">
                          <a:solidFill>
                            <a:srgbClr val="E6EAF2"/>
                          </a:solidFill>
                          <a:latin typeface="Inter"/>
                        </a:rPr>
                        <a:t>C40 global cooling toolbox</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yes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partly</a:t>
                      </a:r>
                    </a:p>
                  </a:txBody>
                  <a:tcPr marL="73152" marR="73152" marT="27432" marB="27432" anchor="ctr">
                    <a:solidFill>
                      <a:srgbClr val="151A24"/>
                    </a:solidFill>
                  </a:tcPr>
                </a:tc>
                <a:extLst>
                  <a:ext uri="{0D108BD9-81ED-4DB2-BD59-A6C34878D82A}">
                    <a16:rowId xmlns:a16="http://schemas.microsoft.com/office/drawing/2014/main" val="10004"/>
                  </a:ext>
                </a:extLst>
              </a:tr>
              <a:tr h="393192">
                <a:tc>
                  <a:txBody>
                    <a:bodyPr/>
                    <a:lstStyle/>
                    <a:p>
                      <a:pPr algn="l">
                        <a:lnSpc>
                          <a:spcPct val="105000"/>
                        </a:lnSpc>
                      </a:pPr>
                      <a:r>
                        <a:rPr sz="880" b="1">
                          <a:solidFill>
                            <a:srgbClr val="E6EAF2"/>
                          </a:solidFill>
                          <a:latin typeface="Inter"/>
                        </a:rPr>
                        <a:t>Ahmedabad heat action plan</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yes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no</a:t>
                      </a:r>
                    </a:p>
                  </a:txBody>
                  <a:tcPr marL="73152" marR="73152" marT="27432" marB="27432" anchor="ctr">
                    <a:solidFill>
                      <a:srgbClr val="151A24"/>
                    </a:solidFill>
                  </a:tcPr>
                </a:tc>
                <a:extLst>
                  <a:ext uri="{0D108BD9-81ED-4DB2-BD59-A6C34878D82A}">
                    <a16:rowId xmlns:a16="http://schemas.microsoft.com/office/drawing/2014/main" val="10005"/>
                  </a:ext>
                </a:extLst>
              </a:tr>
              <a:tr h="393192">
                <a:tc>
                  <a:txBody>
                    <a:bodyPr/>
                    <a:lstStyle/>
                    <a:p>
                      <a:pPr algn="l">
                        <a:lnSpc>
                          <a:spcPct val="105000"/>
                        </a:lnSpc>
                      </a:pPr>
                      <a:r>
                        <a:rPr sz="880" b="1">
                          <a:solidFill>
                            <a:srgbClr val="22C55E"/>
                          </a:solidFill>
                          <a:latin typeface="Inter"/>
                        </a:rPr>
                        <a:t>UCIP</a:t>
                      </a:r>
                    </a:p>
                  </a:txBody>
                  <a:tcPr marL="73152" marR="73152" marT="27432" marB="27432" anchor="ctr">
                    <a:solidFill>
                      <a:srgbClr val="1A2029"/>
                    </a:solidFill>
                  </a:tcPr>
                </a:tc>
                <a:tc>
                  <a:txBody>
                    <a:bodyPr/>
                    <a:lstStyle/>
                    <a:p>
                      <a:pPr algn="l">
                        <a:lnSpc>
                          <a:spcPct val="105000"/>
                        </a:lnSpc>
                      </a:pPr>
                      <a:r>
                        <a:rPr sz="880" b="1">
                          <a:solidFill>
                            <a:srgbClr val="E6EAF2"/>
                          </a:solidFill>
                          <a:latin typeface="Inter"/>
                        </a:rPr>
                        <a:t>24 wards</a:t>
                      </a:r>
                    </a:p>
                  </a:txBody>
                  <a:tcPr marL="73152" marR="73152" marT="27432" marB="27432" anchor="ctr">
                    <a:solidFill>
                      <a:srgbClr val="1A2029"/>
                    </a:solidFill>
                  </a:tcPr>
                </a:tc>
                <a:tc>
                  <a:txBody>
                    <a:bodyPr/>
                    <a:lstStyle/>
                    <a:p>
                      <a:pPr algn="l">
                        <a:lnSpc>
                          <a:spcPct val="105000"/>
                        </a:lnSpc>
                      </a:pPr>
                      <a:r>
                        <a:rPr sz="880" b="1">
                          <a:solidFill>
                            <a:srgbClr val="E6EAF2"/>
                          </a:solidFill>
                          <a:latin typeface="Inter"/>
                        </a:rPr>
                        <a:t>yes</a:t>
                      </a:r>
                    </a:p>
                  </a:txBody>
                  <a:tcPr marL="73152" marR="73152" marT="27432" marB="27432" anchor="ctr">
                    <a:solidFill>
                      <a:srgbClr val="1A2029"/>
                    </a:solidFill>
                  </a:tcPr>
                </a:tc>
                <a:tc>
                  <a:txBody>
                    <a:bodyPr/>
                    <a:lstStyle/>
                    <a:p>
                      <a:pPr algn="l">
                        <a:lnSpc>
                          <a:spcPct val="105000"/>
                        </a:lnSpc>
                      </a:pPr>
                      <a:r>
                        <a:rPr sz="880" b="1">
                          <a:solidFill>
                            <a:srgbClr val="E6EAF2"/>
                          </a:solidFill>
                          <a:latin typeface="Inter"/>
                        </a:rPr>
                        <a:t>yes</a:t>
                      </a:r>
                    </a:p>
                  </a:txBody>
                  <a:tcPr marL="73152" marR="73152" marT="27432" marB="27432" anchor="ctr">
                    <a:solidFill>
                      <a:srgbClr val="1A2029"/>
                    </a:solidFill>
                  </a:tcPr>
                </a:tc>
                <a:tc>
                  <a:txBody>
                    <a:bodyPr/>
                    <a:lstStyle/>
                    <a:p>
                      <a:pPr algn="l">
                        <a:lnSpc>
                          <a:spcPct val="105000"/>
                        </a:lnSpc>
                      </a:pPr>
                      <a:r>
                        <a:rPr sz="880" b="1">
                          <a:solidFill>
                            <a:srgbClr val="E6EAF2"/>
                          </a:solidFill>
                          <a:latin typeface="Inter"/>
                        </a:rPr>
                        <a:t>yes</a:t>
                      </a:r>
                    </a:p>
                  </a:txBody>
                  <a:tcPr marL="73152" marR="73152" marT="27432" marB="27432" anchor="ctr">
                    <a:solidFill>
                      <a:srgbClr val="1A2029"/>
                    </a:solidFill>
                  </a:tcPr>
                </a:tc>
                <a:tc>
                  <a:txBody>
                    <a:bodyPr/>
                    <a:lstStyle/>
                    <a:p>
                      <a:pPr algn="l">
                        <a:lnSpc>
                          <a:spcPct val="105000"/>
                        </a:lnSpc>
                      </a:pPr>
                      <a:r>
                        <a:rPr lang="en-US" sz="880" b="1" dirty="0">
                          <a:solidFill>
                            <a:srgbClr val="E6EAF2"/>
                          </a:solidFill>
                          <a:latin typeface="Inter"/>
                        </a:rPr>
                        <a:t>P</a:t>
                      </a:r>
                      <a:r>
                        <a:rPr sz="880" b="1" dirty="0">
                          <a:solidFill>
                            <a:srgbClr val="E6EAF2"/>
                          </a:solidFill>
                          <a:latin typeface="Inter"/>
                        </a:rPr>
                        <a:t>lanned</a:t>
                      </a:r>
                      <a:r>
                        <a:rPr lang="en-US" sz="880" b="1" dirty="0">
                          <a:solidFill>
                            <a:srgbClr val="E6EAF2"/>
                          </a:solidFill>
                          <a:latin typeface="Inter"/>
                        </a:rPr>
                        <a:t> as a future goal</a:t>
                      </a:r>
                      <a:endParaRPr sz="880" b="1" dirty="0">
                        <a:solidFill>
                          <a:srgbClr val="E6EAF2"/>
                        </a:solidFill>
                        <a:latin typeface="Inter"/>
                      </a:endParaRPr>
                    </a:p>
                  </a:txBody>
                  <a:tcPr marL="73152" marR="73152" marT="27432" marB="27432" anchor="ctr">
                    <a:solidFill>
                      <a:srgbClr val="1A2029"/>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502920" y="4663440"/>
            <a:ext cx="7178040" cy="1188720"/>
          </a:xfrm>
          <a:prstGeom prst="roundRect">
            <a:avLst>
              <a:gd name="adj" fmla="val 6000"/>
            </a:avLst>
          </a:prstGeom>
          <a:solidFill>
            <a:srgbClr val="1A2029"/>
          </a:solidFill>
          <a:ln w="9525">
            <a:solidFill>
              <a:srgbClr val="0EA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4818888"/>
            <a:ext cx="6675120" cy="246606"/>
          </a:xfrm>
          <a:prstGeom prst="rect">
            <a:avLst/>
          </a:prstGeom>
          <a:noFill/>
        </p:spPr>
        <p:txBody>
          <a:bodyPr wrap="square" lIns="0" tIns="0" rIns="0" bIns="0" anchor="t">
            <a:spAutoFit/>
          </a:bodyPr>
          <a:lstStyle/>
          <a:p>
            <a:pPr algn="l">
              <a:lnSpc>
                <a:spcPct val="118000"/>
              </a:lnSpc>
            </a:pPr>
            <a:r>
              <a:rPr sz="1450" b="1" i="0" dirty="0">
                <a:solidFill>
                  <a:srgbClr val="FFFFFF"/>
                </a:solidFill>
                <a:latin typeface="Inter"/>
              </a:rPr>
              <a:t>Each one is built for at most two of these five jobs. </a:t>
            </a:r>
            <a:r>
              <a:rPr lang="en-US" sz="1450" b="1" i="0" dirty="0">
                <a:solidFill>
                  <a:srgbClr val="FFFFFF"/>
                </a:solidFill>
                <a:latin typeface="Inter"/>
              </a:rPr>
              <a:t>UCIP currently does four.</a:t>
            </a:r>
            <a:endParaRPr sz="1450" b="1" i="0" dirty="0">
              <a:solidFill>
                <a:srgbClr val="FFFFFF"/>
              </a:solidFill>
              <a:latin typeface="Inter"/>
            </a:endParaRPr>
          </a:p>
        </p:txBody>
      </p:sp>
      <p:sp>
        <p:nvSpPr>
          <p:cNvPr id="13" name="TextBox 12"/>
          <p:cNvSpPr txBox="1"/>
          <p:nvPr/>
        </p:nvSpPr>
        <p:spPr>
          <a:xfrm>
            <a:off x="758952" y="5212080"/>
            <a:ext cx="6675120" cy="475488"/>
          </a:xfrm>
          <a:prstGeom prst="rect">
            <a:avLst/>
          </a:prstGeom>
          <a:noFill/>
        </p:spPr>
        <p:txBody>
          <a:bodyPr wrap="square" lIns="0" tIns="0" rIns="0" bIns="0" anchor="t">
            <a:spAutoFit/>
          </a:bodyPr>
          <a:lstStyle/>
          <a:p>
            <a:pPr algn="l">
              <a:lnSpc>
                <a:spcPct val="120000"/>
              </a:lnSpc>
            </a:pPr>
            <a:r>
              <a:rPr sz="1000" b="0" i="0" dirty="0">
                <a:solidFill>
                  <a:srgbClr val="9AA3B2"/>
                </a:solidFill>
                <a:latin typeface="Inter"/>
              </a:rPr>
              <a:t>The fifth, spending a fixed budget well, is designed but not built. It appears on the last slide as a plan, and is not claimed here as a feature.</a:t>
            </a:r>
          </a:p>
        </p:txBody>
      </p:sp>
      <p:sp>
        <p:nvSpPr>
          <p:cNvPr id="14" name="Rounded Rectangle 13"/>
          <p:cNvSpPr/>
          <p:nvPr/>
        </p:nvSpPr>
        <p:spPr>
          <a:xfrm>
            <a:off x="7973568" y="4663440"/>
            <a:ext cx="3118104" cy="11887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4919172"/>
            <a:ext cx="1527048" cy="544188"/>
          </a:xfrm>
          <a:prstGeom prst="rect">
            <a:avLst/>
          </a:prstGeom>
          <a:noFill/>
        </p:spPr>
        <p:txBody>
          <a:bodyPr wrap="square" lIns="0" tIns="0" rIns="0" bIns="0" anchor="b">
            <a:spAutoFit/>
          </a:bodyPr>
          <a:lstStyle/>
          <a:p>
            <a:pPr algn="l">
              <a:lnSpc>
                <a:spcPct val="118000"/>
              </a:lnSpc>
            </a:pPr>
            <a:r>
              <a:rPr sz="3200" b="1" i="0" dirty="0">
                <a:solidFill>
                  <a:srgbClr val="F0A63A"/>
                </a:solidFill>
                <a:latin typeface="JetBrains Mono"/>
              </a:rPr>
              <a:t>640</a:t>
            </a:r>
          </a:p>
        </p:txBody>
      </p:sp>
      <p:sp>
        <p:nvSpPr>
          <p:cNvPr id="16" name="TextBox 15"/>
          <p:cNvSpPr txBox="1"/>
          <p:nvPr/>
        </p:nvSpPr>
        <p:spPr>
          <a:xfrm>
            <a:off x="9034272" y="5065494"/>
            <a:ext cx="2057400" cy="397866"/>
          </a:xfrm>
          <a:prstGeom prst="rect">
            <a:avLst/>
          </a:prstGeom>
          <a:noFill/>
        </p:spPr>
        <p:txBody>
          <a:bodyPr wrap="square" lIns="0" tIns="0" rIns="0" bIns="0" anchor="t">
            <a:spAutoFit/>
          </a:bodyPr>
          <a:lstStyle/>
          <a:p>
            <a:pPr algn="l">
              <a:lnSpc>
                <a:spcPct val="110000"/>
              </a:lnSpc>
            </a:pPr>
            <a:r>
              <a:rPr sz="1050" b="0" i="0" dirty="0">
                <a:solidFill>
                  <a:srgbClr val="9AA3B2"/>
                </a:solidFill>
                <a:latin typeface="Inter"/>
              </a:rPr>
              <a:t>districts nationally</a:t>
            </a:r>
            <a:r>
              <a:rPr lang="en-US" sz="1050" b="0" i="0" dirty="0">
                <a:solidFill>
                  <a:srgbClr val="9AA3B2"/>
                </a:solidFill>
                <a:latin typeface="Inter"/>
              </a:rPr>
              <a:t> explored</a:t>
            </a:r>
            <a:r>
              <a:rPr sz="1050" b="0" i="0" dirty="0">
                <a:solidFill>
                  <a:srgbClr val="9AA3B2"/>
                </a:solidFill>
                <a:latin typeface="Inter"/>
              </a:rPr>
              <a:t> in</a:t>
            </a:r>
          </a:p>
          <a:p>
            <a:pPr algn="l">
              <a:lnSpc>
                <a:spcPct val="110000"/>
              </a:lnSpc>
              <a:spcBef>
                <a:spcPts val="400"/>
              </a:spcBef>
            </a:pPr>
            <a:r>
              <a:rPr sz="1050" b="0" i="0" dirty="0">
                <a:solidFill>
                  <a:srgbClr val="9AA3B2"/>
                </a:solidFill>
                <a:latin typeface="Inter"/>
              </a:rPr>
              <a:t>the closest study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04 · PROPOSED SOLUTION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The solution, in four steps: score, explain, suggest, check</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9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The four steps are my design. Each one is evidenced on the slides that follow.</a:t>
            </a:r>
          </a:p>
        </p:txBody>
      </p:sp>
      <p:sp>
        <p:nvSpPr>
          <p:cNvPr id="9" name="Rounded Rectangle 8"/>
          <p:cNvSpPr/>
          <p:nvPr/>
        </p:nvSpPr>
        <p:spPr>
          <a:xfrm>
            <a:off x="502920" y="1691640"/>
            <a:ext cx="2487168" cy="169164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764792"/>
            <a:ext cx="2340864" cy="1545336"/>
          </a:xfrm>
          <a:prstGeom prst="rect">
            <a:avLst/>
          </a:prstGeom>
          <a:noFill/>
        </p:spPr>
        <p:txBody>
          <a:bodyPr wrap="square" lIns="0" tIns="0" rIns="0" bIns="0" anchor="ctr">
            <a:spAutoFit/>
          </a:bodyPr>
          <a:lstStyle/>
          <a:p>
            <a:pPr algn="ctr"/>
            <a:r>
              <a:rPr sz="800" b="1" i="0">
                <a:solidFill>
                  <a:srgbClr val="0EA5B3"/>
                </a:solidFill>
                <a:latin typeface="JetBrains Mono"/>
              </a:rPr>
              <a:t>01</a:t>
            </a:r>
          </a:p>
          <a:p>
            <a:pPr algn="ctr">
              <a:spcBef>
                <a:spcPts val="200"/>
              </a:spcBef>
            </a:pPr>
            <a:r>
              <a:rPr sz="1000" b="1" i="0">
                <a:solidFill>
                  <a:srgbClr val="FFFFFF"/>
                </a:solidFill>
                <a:latin typeface="Inter"/>
              </a:rPr>
              <a:t>Score</a:t>
            </a:r>
          </a:p>
          <a:p>
            <a:pPr algn="ctr">
              <a:spcBef>
                <a:spcPts val="100"/>
              </a:spcBef>
            </a:pPr>
            <a:r>
              <a:rPr sz="780" b="0" i="0">
                <a:solidFill>
                  <a:srgbClr val="9AA3B2"/>
                </a:solidFill>
                <a:latin typeface="Inter"/>
              </a:rPr>
              <a:t>Every ward gets
one heat risk number,
0 to 100</a:t>
            </a:r>
          </a:p>
        </p:txBody>
      </p:sp>
      <p:sp>
        <p:nvSpPr>
          <p:cNvPr id="11" name="Right Arrow 10"/>
          <p:cNvSpPr/>
          <p:nvPr/>
        </p:nvSpPr>
        <p:spPr>
          <a:xfrm>
            <a:off x="3044952" y="2395728"/>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337560" y="1691640"/>
            <a:ext cx="2487168" cy="169164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1764792"/>
            <a:ext cx="2340864" cy="1545336"/>
          </a:xfrm>
          <a:prstGeom prst="rect">
            <a:avLst/>
          </a:prstGeom>
          <a:noFill/>
        </p:spPr>
        <p:txBody>
          <a:bodyPr wrap="square" lIns="0" tIns="0" rIns="0" bIns="0" anchor="ctr">
            <a:spAutoFit/>
          </a:bodyPr>
          <a:lstStyle/>
          <a:p>
            <a:pPr algn="ctr"/>
            <a:r>
              <a:rPr sz="800" b="1" i="0">
                <a:solidFill>
                  <a:srgbClr val="0EA5B3"/>
                </a:solidFill>
                <a:latin typeface="JetBrains Mono"/>
              </a:rPr>
              <a:t>02</a:t>
            </a:r>
          </a:p>
          <a:p>
            <a:pPr algn="ctr">
              <a:spcBef>
                <a:spcPts val="200"/>
              </a:spcBef>
            </a:pPr>
            <a:r>
              <a:rPr sz="1000" b="1" i="0">
                <a:solidFill>
                  <a:srgbClr val="FFFFFF"/>
                </a:solidFill>
                <a:latin typeface="Inter"/>
              </a:rPr>
              <a:t>Explain</a:t>
            </a:r>
          </a:p>
          <a:p>
            <a:pPr algn="ctr">
              <a:spcBef>
                <a:spcPts val="100"/>
              </a:spcBef>
            </a:pPr>
            <a:r>
              <a:rPr sz="780" b="0" i="0">
                <a:solidFill>
                  <a:srgbClr val="9AA3B2"/>
                </a:solidFill>
                <a:latin typeface="Inter"/>
              </a:rPr>
              <a:t>Show which factors
pushed that number up,
and by how much</a:t>
            </a:r>
          </a:p>
        </p:txBody>
      </p:sp>
      <p:sp>
        <p:nvSpPr>
          <p:cNvPr id="14" name="Right Arrow 13"/>
          <p:cNvSpPr/>
          <p:nvPr/>
        </p:nvSpPr>
        <p:spPr>
          <a:xfrm>
            <a:off x="5879592" y="2395728"/>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72200" y="1691640"/>
            <a:ext cx="2487168" cy="169164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45352" y="1764792"/>
            <a:ext cx="2340864" cy="1545336"/>
          </a:xfrm>
          <a:prstGeom prst="rect">
            <a:avLst/>
          </a:prstGeom>
          <a:noFill/>
        </p:spPr>
        <p:txBody>
          <a:bodyPr wrap="square" lIns="0" tIns="0" rIns="0" bIns="0" anchor="ctr">
            <a:spAutoFit/>
          </a:bodyPr>
          <a:lstStyle/>
          <a:p>
            <a:pPr algn="ctr"/>
            <a:r>
              <a:rPr sz="800" b="1" i="0">
                <a:solidFill>
                  <a:srgbClr val="22C55E"/>
                </a:solidFill>
                <a:latin typeface="JetBrains Mono"/>
              </a:rPr>
              <a:t>03</a:t>
            </a:r>
          </a:p>
          <a:p>
            <a:pPr algn="ctr">
              <a:spcBef>
                <a:spcPts val="200"/>
              </a:spcBef>
            </a:pPr>
            <a:r>
              <a:rPr sz="1000" b="1" i="0">
                <a:solidFill>
                  <a:srgbClr val="FFFFFF"/>
                </a:solidFill>
                <a:latin typeface="Inter"/>
              </a:rPr>
              <a:t>Suggest</a:t>
            </a:r>
          </a:p>
          <a:p>
            <a:pPr algn="ctr">
              <a:spcBef>
                <a:spcPts val="100"/>
              </a:spcBef>
            </a:pPr>
            <a:r>
              <a:rPr sz="780" b="0" i="0">
                <a:solidFill>
                  <a:srgbClr val="9AA3B2"/>
                </a:solidFill>
                <a:latin typeface="Inter"/>
              </a:rPr>
              <a:t>Turn the score into a
specific thing to build,
with the research behind it</a:t>
            </a:r>
          </a:p>
        </p:txBody>
      </p:sp>
      <p:sp>
        <p:nvSpPr>
          <p:cNvPr id="17" name="Right Arrow 16"/>
          <p:cNvSpPr/>
          <p:nvPr/>
        </p:nvSpPr>
        <p:spPr>
          <a:xfrm>
            <a:off x="8714232" y="2395728"/>
            <a:ext cx="237744" cy="274320"/>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06840" y="1691640"/>
            <a:ext cx="2487168" cy="1691640"/>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79992" y="1764792"/>
            <a:ext cx="2340864" cy="1545336"/>
          </a:xfrm>
          <a:prstGeom prst="rect">
            <a:avLst/>
          </a:prstGeom>
          <a:noFill/>
        </p:spPr>
        <p:txBody>
          <a:bodyPr wrap="square" lIns="0" tIns="0" rIns="0" bIns="0" anchor="ctr">
            <a:spAutoFit/>
          </a:bodyPr>
          <a:lstStyle/>
          <a:p>
            <a:pPr algn="ctr"/>
            <a:r>
              <a:rPr sz="800" b="1" i="0">
                <a:solidFill>
                  <a:srgbClr val="E4572E"/>
                </a:solidFill>
                <a:latin typeface="JetBrains Mono"/>
              </a:rPr>
              <a:t>04</a:t>
            </a:r>
          </a:p>
          <a:p>
            <a:pPr algn="ctr">
              <a:spcBef>
                <a:spcPts val="200"/>
              </a:spcBef>
            </a:pPr>
            <a:r>
              <a:rPr sz="1000" b="1" i="0">
                <a:solidFill>
                  <a:srgbClr val="FFFFFF"/>
                </a:solidFill>
                <a:latin typeface="Inter"/>
              </a:rPr>
              <a:t>Check</a:t>
            </a:r>
          </a:p>
          <a:p>
            <a:pPr algn="ctr">
              <a:spcBef>
                <a:spcPts val="100"/>
              </a:spcBef>
            </a:pPr>
            <a:r>
              <a:rPr sz="780" b="0" i="0">
                <a:solidFill>
                  <a:srgbClr val="9AA3B2"/>
                </a:solidFill>
                <a:latin typeface="Inter"/>
              </a:rPr>
              <a:t>Refuse the suggestion
if it would damage
what is already there</a:t>
            </a:r>
          </a:p>
        </p:txBody>
      </p:sp>
      <p:sp>
        <p:nvSpPr>
          <p:cNvPr id="20" name="TextBox 19"/>
          <p:cNvSpPr txBox="1"/>
          <p:nvPr/>
        </p:nvSpPr>
        <p:spPr>
          <a:xfrm>
            <a:off x="502920" y="3749039"/>
            <a:ext cx="54864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Who it is built for</a:t>
            </a:r>
          </a:p>
        </p:txBody>
      </p:sp>
      <p:sp>
        <p:nvSpPr>
          <p:cNvPr id="21" name="Rounded Rectangle 20"/>
          <p:cNvSpPr/>
          <p:nvPr/>
        </p:nvSpPr>
        <p:spPr>
          <a:xfrm>
            <a:off x="502920" y="4041648"/>
            <a:ext cx="10917936" cy="512063"/>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 y="4041648"/>
            <a:ext cx="10625328" cy="512063"/>
          </a:xfrm>
          <a:prstGeom prst="rect">
            <a:avLst/>
          </a:prstGeom>
          <a:noFill/>
        </p:spPr>
        <p:txBody>
          <a:bodyPr wrap="square" lIns="0" tIns="0" rIns="0" bIns="0" anchor="ctr">
            <a:spAutoFit/>
          </a:bodyPr>
          <a:lstStyle/>
          <a:p>
            <a:pPr>
              <a:lnSpc>
                <a:spcPct val="115000"/>
              </a:lnSpc>
            </a:pPr>
            <a:r>
              <a:rPr sz="1100" b="1" i="0">
                <a:solidFill>
                  <a:srgbClr val="FFFFFF"/>
                </a:solidFill>
                <a:latin typeface="Inter"/>
              </a:rPr>
              <a:t>City officials: </a:t>
            </a:r>
            <a:r>
              <a:rPr sz="980" b="0" i="0">
                <a:solidFill>
                  <a:srgbClr val="9AA3B2"/>
                </a:solidFill>
                <a:latin typeface="Inter"/>
              </a:rPr>
              <a:t>a ranked list they can defend in a meeting, where every position can be traced back to the thing that caused it.</a:t>
            </a:r>
          </a:p>
        </p:txBody>
      </p:sp>
      <p:sp>
        <p:nvSpPr>
          <p:cNvPr id="23" name="Rounded Rectangle 22"/>
          <p:cNvSpPr/>
          <p:nvPr/>
        </p:nvSpPr>
        <p:spPr>
          <a:xfrm>
            <a:off x="502920" y="4645152"/>
            <a:ext cx="10917936" cy="512063"/>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 y="4645152"/>
            <a:ext cx="10625328" cy="512063"/>
          </a:xfrm>
          <a:prstGeom prst="rect">
            <a:avLst/>
          </a:prstGeom>
          <a:noFill/>
        </p:spPr>
        <p:txBody>
          <a:bodyPr wrap="square" lIns="0" tIns="0" rIns="0" bIns="0" anchor="ctr">
            <a:spAutoFit/>
          </a:bodyPr>
          <a:lstStyle/>
          <a:p>
            <a:pPr>
              <a:lnSpc>
                <a:spcPct val="115000"/>
              </a:lnSpc>
            </a:pPr>
            <a:r>
              <a:rPr sz="1100" b="1" i="0" dirty="0">
                <a:solidFill>
                  <a:srgbClr val="FFFFFF"/>
                </a:solidFill>
                <a:latin typeface="Inter"/>
              </a:rPr>
              <a:t>Residents: </a:t>
            </a:r>
            <a:r>
              <a:rPr sz="980" b="0" i="0" dirty="0">
                <a:solidFill>
                  <a:srgbClr val="9AA3B2"/>
                </a:solidFill>
                <a:latin typeface="Inter"/>
              </a:rPr>
              <a:t>a plain answer to why their ward ranks where it does, and what is being suggested for it.</a:t>
            </a:r>
          </a:p>
        </p:txBody>
      </p:sp>
      <p:sp>
        <p:nvSpPr>
          <p:cNvPr id="25" name="Rounded Rectangle 24"/>
          <p:cNvSpPr/>
          <p:nvPr/>
        </p:nvSpPr>
        <p:spPr>
          <a:xfrm>
            <a:off x="502920" y="5248656"/>
            <a:ext cx="10917936" cy="512063"/>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 y="5248656"/>
            <a:ext cx="10625328" cy="512063"/>
          </a:xfrm>
          <a:prstGeom prst="rect">
            <a:avLst/>
          </a:prstGeom>
          <a:noFill/>
        </p:spPr>
        <p:txBody>
          <a:bodyPr wrap="square" lIns="0" tIns="0" rIns="0" bIns="0" anchor="ctr">
            <a:spAutoFit/>
          </a:bodyPr>
          <a:lstStyle/>
          <a:p>
            <a:pPr>
              <a:lnSpc>
                <a:spcPct val="115000"/>
              </a:lnSpc>
            </a:pPr>
            <a:r>
              <a:rPr sz="1100" b="1" i="0" dirty="0">
                <a:solidFill>
                  <a:srgbClr val="FFFFFF"/>
                </a:solidFill>
                <a:latin typeface="Inter"/>
              </a:rPr>
              <a:t>Researchers and NGOs: </a:t>
            </a:r>
            <a:r>
              <a:rPr sz="980" b="0" i="0" dirty="0">
                <a:solidFill>
                  <a:srgbClr val="9AA3B2"/>
                </a:solidFill>
                <a:latin typeface="Inter"/>
              </a:rPr>
              <a:t>the full method, the data sources, and a written list of what the tool cannot 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04 · PROPOSED SOLUTION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The seven things that go into the score</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10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Indicator set and the direction of each one follow Reid et al. 2009, doi 10.1289/ehp.0900683, and Azhar et al. 2017, doi 10.3390/ijerph14040357. Values computed by my own pipeline.</a:t>
            </a:r>
          </a:p>
        </p:txBody>
      </p:sp>
      <p:graphicFrame>
        <p:nvGraphicFramePr>
          <p:cNvPr id="9" name="Table 8"/>
          <p:cNvGraphicFramePr>
            <a:graphicFrameLocks noGrp="1"/>
          </p:cNvGraphicFramePr>
          <p:nvPr/>
        </p:nvGraphicFramePr>
        <p:xfrm>
          <a:off x="502920" y="1645920"/>
          <a:ext cx="10917935" cy="3063236"/>
        </p:xfrm>
        <a:graphic>
          <a:graphicData uri="http://schemas.openxmlformats.org/drawingml/2006/table">
            <a:tbl>
              <a:tblPr>
                <a:tableStyleId>{5940675A-B579-460E-94D1-54222C63F5DA}</a:tableStyleId>
              </a:tblPr>
              <a:tblGrid>
                <a:gridCol w="3749039">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157216">
                  <a:extLst>
                    <a:ext uri="{9D8B030D-6E8A-4147-A177-3AD203B41FA5}">
                      <a16:colId xmlns:a16="http://schemas.microsoft.com/office/drawing/2014/main" val="20002"/>
                    </a:ext>
                  </a:extLst>
                </a:gridCol>
              </a:tblGrid>
              <a:tr h="292608">
                <a:tc>
                  <a:txBody>
                    <a:bodyPr/>
                    <a:lstStyle/>
                    <a:p>
                      <a:pPr algn="l">
                        <a:lnSpc>
                          <a:spcPct val="105000"/>
                        </a:lnSpc>
                      </a:pPr>
                      <a:r>
                        <a:rPr sz="950" b="1">
                          <a:solidFill>
                            <a:srgbClr val="FFFFFF"/>
                          </a:solidFill>
                          <a:latin typeface="Inter"/>
                        </a:rPr>
                        <a:t>Indicator</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Direction</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Why it is included</a:t>
                      </a:r>
                    </a:p>
                  </a:txBody>
                  <a:tcPr marL="73152" marR="73152" marT="27432" marB="27432" anchor="ctr">
                    <a:solidFill>
                      <a:srgbClr val="0EA5B3"/>
                    </a:solidFill>
                  </a:tcPr>
                </a:tc>
                <a:extLst>
                  <a:ext uri="{0D108BD9-81ED-4DB2-BD59-A6C34878D82A}">
                    <a16:rowId xmlns:a16="http://schemas.microsoft.com/office/drawing/2014/main" val="10000"/>
                  </a:ext>
                </a:extLst>
              </a:tr>
              <a:tr h="395804">
                <a:tc>
                  <a:txBody>
                    <a:bodyPr/>
                    <a:lstStyle/>
                    <a:p>
                      <a:pPr algn="l">
                        <a:lnSpc>
                          <a:spcPct val="105000"/>
                        </a:lnSpc>
                      </a:pPr>
                      <a:r>
                        <a:rPr sz="919" b="1">
                          <a:solidFill>
                            <a:srgbClr val="E6EAF2"/>
                          </a:solidFill>
                          <a:latin typeface="Inter"/>
                        </a:rPr>
                        <a:t>How hot the ground gets</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The hazard itself.</a:t>
                      </a:r>
                    </a:p>
                  </a:txBody>
                  <a:tcPr marL="73152" marR="73152" marT="27432" marB="27432" anchor="ctr">
                    <a:solidFill>
                      <a:srgbClr val="151A24"/>
                    </a:solidFill>
                  </a:tcPr>
                </a:tc>
                <a:extLst>
                  <a:ext uri="{0D108BD9-81ED-4DB2-BD59-A6C34878D82A}">
                    <a16:rowId xmlns:a16="http://schemas.microsoft.com/office/drawing/2014/main" val="10001"/>
                  </a:ext>
                </a:extLst>
              </a:tr>
              <a:tr h="395804">
                <a:tc>
                  <a:txBody>
                    <a:bodyPr/>
                    <a:lstStyle/>
                    <a:p>
                      <a:pPr algn="l">
                        <a:lnSpc>
                          <a:spcPct val="105000"/>
                        </a:lnSpc>
                      </a:pPr>
                      <a:r>
                        <a:rPr sz="919" b="1">
                          <a:solidFill>
                            <a:srgbClr val="E6EAF2"/>
                          </a:solidFill>
                          <a:latin typeface="Inter"/>
                        </a:rPr>
                        <a:t>How green it is</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lowers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Plants cool the air around them.</a:t>
                      </a:r>
                    </a:p>
                  </a:txBody>
                  <a:tcPr marL="73152" marR="73152" marT="27432" marB="27432" anchor="ctr">
                    <a:solidFill>
                      <a:srgbClr val="151A24"/>
                    </a:solidFill>
                  </a:tcPr>
                </a:tc>
                <a:extLst>
                  <a:ext uri="{0D108BD9-81ED-4DB2-BD59-A6C34878D82A}">
                    <a16:rowId xmlns:a16="http://schemas.microsoft.com/office/drawing/2014/main" val="10002"/>
                  </a:ext>
                </a:extLst>
              </a:tr>
              <a:tr h="395804">
                <a:tc>
                  <a:txBody>
                    <a:bodyPr/>
                    <a:lstStyle/>
                    <a:p>
                      <a:pPr algn="l">
                        <a:lnSpc>
                          <a:spcPct val="105000"/>
                        </a:lnSpc>
                      </a:pPr>
                      <a:r>
                        <a:rPr sz="919" b="1">
                          <a:solidFill>
                            <a:srgbClr val="E6EAF2"/>
                          </a:solidFill>
                          <a:latin typeface="Inter"/>
                        </a:rPr>
                        <a:t>How crowded it is</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More people exposed in the same space.</a:t>
                      </a:r>
                    </a:p>
                  </a:txBody>
                  <a:tcPr marL="73152" marR="73152" marT="27432" marB="27432" anchor="ctr">
                    <a:solidFill>
                      <a:srgbClr val="151A24"/>
                    </a:solidFill>
                  </a:tcPr>
                </a:tc>
                <a:extLst>
                  <a:ext uri="{0D108BD9-81ED-4DB2-BD59-A6C34878D82A}">
                    <a16:rowId xmlns:a16="http://schemas.microsoft.com/office/drawing/2014/main" val="10003"/>
                  </a:ext>
                </a:extLst>
              </a:tr>
              <a:tr h="395804">
                <a:tc>
                  <a:txBody>
                    <a:bodyPr/>
                    <a:lstStyle/>
                    <a:p>
                      <a:pPr algn="l">
                        <a:lnSpc>
                          <a:spcPct val="105000"/>
                        </a:lnSpc>
                      </a:pPr>
                      <a:r>
                        <a:rPr sz="919" b="1">
                          <a:solidFill>
                            <a:srgbClr val="E6EAF2"/>
                          </a:solidFill>
                          <a:latin typeface="Inter"/>
                        </a:rPr>
                        <a:t>Share of older residents</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Heat deaths climb steeply with age.</a:t>
                      </a:r>
                    </a:p>
                  </a:txBody>
                  <a:tcPr marL="73152" marR="73152" marT="27432" marB="27432" anchor="ctr">
                    <a:solidFill>
                      <a:srgbClr val="151A24"/>
                    </a:solidFill>
                  </a:tcPr>
                </a:tc>
                <a:extLst>
                  <a:ext uri="{0D108BD9-81ED-4DB2-BD59-A6C34878D82A}">
                    <a16:rowId xmlns:a16="http://schemas.microsoft.com/office/drawing/2014/main" val="10004"/>
                  </a:ext>
                </a:extLst>
              </a:tr>
              <a:tr h="395804">
                <a:tc>
                  <a:txBody>
                    <a:bodyPr/>
                    <a:lstStyle/>
                    <a:p>
                      <a:pPr algn="l">
                        <a:lnSpc>
                          <a:spcPct val="105000"/>
                        </a:lnSpc>
                      </a:pPr>
                      <a:r>
                        <a:rPr sz="919" b="1">
                          <a:solidFill>
                            <a:srgbClr val="E6EAF2"/>
                          </a:solidFill>
                          <a:latin typeface="Inter"/>
                        </a:rPr>
                        <a:t>Share of informal housing</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Roofs that trap heat, little relief indoors.</a:t>
                      </a:r>
                    </a:p>
                  </a:txBody>
                  <a:tcPr marL="73152" marR="73152" marT="27432" marB="27432" anchor="ctr">
                    <a:solidFill>
                      <a:srgbClr val="151A24"/>
                    </a:solidFill>
                  </a:tcPr>
                </a:tc>
                <a:extLst>
                  <a:ext uri="{0D108BD9-81ED-4DB2-BD59-A6C34878D82A}">
                    <a16:rowId xmlns:a16="http://schemas.microsoft.com/office/drawing/2014/main" val="10005"/>
                  </a:ext>
                </a:extLst>
              </a:tr>
              <a:tr h="395804">
                <a:tc>
                  <a:txBody>
                    <a:bodyPr/>
                    <a:lstStyle/>
                    <a:p>
                      <a:pPr algn="l">
                        <a:lnSpc>
                          <a:spcPct val="105000"/>
                        </a:lnSpc>
                      </a:pPr>
                      <a:r>
                        <a:rPr sz="919" b="1">
                          <a:solidFill>
                            <a:srgbClr val="E6EAF2"/>
                          </a:solidFill>
                          <a:latin typeface="Inter"/>
                        </a:rPr>
                        <a:t>Distance to a hospital</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Heat illness is dangerous within hours.</a:t>
                      </a:r>
                    </a:p>
                  </a:txBody>
                  <a:tcPr marL="73152" marR="73152" marT="27432" marB="27432" anchor="ctr">
                    <a:solidFill>
                      <a:srgbClr val="151A24"/>
                    </a:solidFill>
                  </a:tcPr>
                </a:tc>
                <a:extLst>
                  <a:ext uri="{0D108BD9-81ED-4DB2-BD59-A6C34878D82A}">
                    <a16:rowId xmlns:a16="http://schemas.microsoft.com/office/drawing/2014/main" val="10006"/>
                  </a:ext>
                </a:extLst>
              </a:tr>
              <a:tr h="395804">
                <a:tc>
                  <a:txBody>
                    <a:bodyPr/>
                    <a:lstStyle/>
                    <a:p>
                      <a:pPr algn="l">
                        <a:lnSpc>
                          <a:spcPct val="105000"/>
                        </a:lnSpc>
                      </a:pPr>
                      <a:r>
                        <a:rPr sz="919" b="1">
                          <a:solidFill>
                            <a:srgbClr val="E6EAF2"/>
                          </a:solidFill>
                          <a:latin typeface="Inter"/>
                        </a:rPr>
                        <a:t>Concrete and paving</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raises risk</a:t>
                      </a:r>
                    </a:p>
                  </a:txBody>
                  <a:tcPr marL="73152" marR="73152" marT="27432" marB="27432" anchor="ctr">
                    <a:solidFill>
                      <a:srgbClr val="151A24"/>
                    </a:solidFill>
                  </a:tcPr>
                </a:tc>
                <a:tc>
                  <a:txBody>
                    <a:bodyPr/>
                    <a:lstStyle/>
                    <a:p>
                      <a:pPr algn="l">
                        <a:lnSpc>
                          <a:spcPct val="105000"/>
                        </a:lnSpc>
                      </a:pPr>
                      <a:r>
                        <a:rPr sz="919" b="0">
                          <a:solidFill>
                            <a:srgbClr val="9AA3B2"/>
                          </a:solidFill>
                          <a:latin typeface="Inter"/>
                        </a:rPr>
                        <a:t>Hard surfaces store heat and release it at night.</a:t>
                      </a:r>
                    </a:p>
                  </a:txBody>
                  <a:tcPr marL="73152" marR="73152" marT="27432" marB="27432" anchor="ctr">
                    <a:solidFill>
                      <a:srgbClr val="151A24"/>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502920" y="4892040"/>
            <a:ext cx="5349240" cy="100584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 y="5047488"/>
            <a:ext cx="4892040" cy="274320"/>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I did not invent this list.</a:t>
            </a:r>
          </a:p>
        </p:txBody>
      </p:sp>
      <p:sp>
        <p:nvSpPr>
          <p:cNvPr id="12" name="TextBox 11"/>
          <p:cNvSpPr txBox="1"/>
          <p:nvPr/>
        </p:nvSpPr>
        <p:spPr>
          <a:xfrm>
            <a:off x="740664" y="5330952"/>
            <a:ext cx="4892040" cy="457200"/>
          </a:xfrm>
          <a:prstGeom prst="rect">
            <a:avLst/>
          </a:prstGeom>
          <a:noFill/>
        </p:spPr>
        <p:txBody>
          <a:bodyPr wrap="square" lIns="0" tIns="0" rIns="0" bIns="0" anchor="t">
            <a:spAutoFit/>
          </a:bodyPr>
          <a:lstStyle/>
          <a:p>
            <a:pPr algn="l">
              <a:lnSpc>
                <a:spcPct val="118000"/>
              </a:lnSpc>
            </a:pPr>
            <a:r>
              <a:rPr sz="950" b="0" i="0">
                <a:solidFill>
                  <a:srgbClr val="9AA3B2"/>
                </a:solidFill>
                <a:latin typeface="Inter"/>
              </a:rPr>
              <a:t>These are the factors published heat risk studies already use. Greenery is the only one where more of it means less risk.</a:t>
            </a:r>
          </a:p>
        </p:txBody>
      </p:sp>
      <p:sp>
        <p:nvSpPr>
          <p:cNvPr id="13" name="Rounded Rectangle 12"/>
          <p:cNvSpPr/>
          <p:nvPr/>
        </p:nvSpPr>
        <p:spPr>
          <a:xfrm>
            <a:off x="6071616" y="4892040"/>
            <a:ext cx="5349240" cy="100584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59" y="5047488"/>
            <a:ext cx="4892040" cy="274320"/>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Everything is put on the same scale first.</a:t>
            </a:r>
          </a:p>
        </p:txBody>
      </p:sp>
      <p:sp>
        <p:nvSpPr>
          <p:cNvPr id="15" name="TextBox 14"/>
          <p:cNvSpPr txBox="1"/>
          <p:nvPr/>
        </p:nvSpPr>
        <p:spPr>
          <a:xfrm>
            <a:off x="6309359" y="5330952"/>
            <a:ext cx="4892040" cy="457200"/>
          </a:xfrm>
          <a:prstGeom prst="rect">
            <a:avLst/>
          </a:prstGeom>
          <a:noFill/>
        </p:spPr>
        <p:txBody>
          <a:bodyPr wrap="square" lIns="0" tIns="0" rIns="0" bIns="0" anchor="t">
            <a:spAutoFit/>
          </a:bodyPr>
          <a:lstStyle/>
          <a:p>
            <a:pPr algn="l">
              <a:lnSpc>
                <a:spcPct val="118000"/>
              </a:lnSpc>
            </a:pPr>
            <a:r>
              <a:rPr sz="950" b="0" i="0">
                <a:solidFill>
                  <a:srgbClr val="9AA3B2"/>
                </a:solidFill>
                <a:latin typeface="Inter"/>
              </a:rPr>
              <a:t>Degrees, people and metres are different units. They get converted to a common scale so no factor wins simply because its numbers are bigger.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04 · PROPOSED SOLUTION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How much should each factor count?</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11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Weighting method follows Reid et al. 2009, doi 10.1289/ehp.0900683. Weights, explained variance and the fallback state are read from data/hvi_pca_log.json, computed by my own pipeline.</a:t>
            </a:r>
          </a:p>
        </p:txBody>
      </p:sp>
      <p:sp>
        <p:nvSpPr>
          <p:cNvPr id="9" name="Rounded Rectangle 8"/>
          <p:cNvSpPr/>
          <p:nvPr/>
        </p:nvSpPr>
        <p:spPr>
          <a:xfrm>
            <a:off x="502920" y="1645920"/>
            <a:ext cx="6309360" cy="1005840"/>
          </a:xfrm>
          <a:prstGeom prst="roundRect">
            <a:avLst>
              <a:gd name="adj" fmla="val 6000"/>
            </a:avLst>
          </a:prstGeom>
          <a:solidFill>
            <a:srgbClr val="1A2029"/>
          </a:solidFill>
          <a:ln w="9525">
            <a:solidFill>
              <a:srgbClr val="F0A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0664" y="1810512"/>
            <a:ext cx="5852160" cy="274320"/>
          </a:xfrm>
          <a:prstGeom prst="rect">
            <a:avLst/>
          </a:prstGeom>
          <a:noFill/>
        </p:spPr>
        <p:txBody>
          <a:bodyPr wrap="square" lIns="0" tIns="0" rIns="0" bIns="0" anchor="t">
            <a:spAutoFit/>
          </a:bodyPr>
          <a:lstStyle/>
          <a:p>
            <a:pPr algn="l">
              <a:lnSpc>
                <a:spcPct val="118000"/>
              </a:lnSpc>
            </a:pPr>
            <a:r>
              <a:rPr sz="1150" b="1" i="0">
                <a:solidFill>
                  <a:srgbClr val="FFFFFF"/>
                </a:solidFill>
                <a:latin typeface="Inter"/>
              </a:rPr>
              <a:t>The easy way, and why I did not take it</a:t>
            </a:r>
          </a:p>
        </p:txBody>
      </p:sp>
      <p:sp>
        <p:nvSpPr>
          <p:cNvPr id="11" name="TextBox 10"/>
          <p:cNvSpPr txBox="1"/>
          <p:nvPr/>
        </p:nvSpPr>
        <p:spPr>
          <a:xfrm>
            <a:off x="740664" y="2103120"/>
            <a:ext cx="5852160" cy="457200"/>
          </a:xfrm>
          <a:prstGeom prst="rect">
            <a:avLst/>
          </a:prstGeom>
          <a:noFill/>
        </p:spPr>
        <p:txBody>
          <a:bodyPr wrap="square" lIns="0" tIns="0" rIns="0" bIns="0" anchor="t">
            <a:spAutoFit/>
          </a:bodyPr>
          <a:lstStyle/>
          <a:p>
            <a:pPr algn="l">
              <a:lnSpc>
                <a:spcPct val="118000"/>
              </a:lnSpc>
            </a:pPr>
            <a:r>
              <a:rPr sz="1000" b="0" i="0">
                <a:solidFill>
                  <a:srgbClr val="9AA3B2"/>
                </a:solidFill>
                <a:latin typeface="Inter"/>
              </a:rPr>
              <a:t>Most risk scores let the author pick the weights. Pick numbers that feel about right, publish, and nobody can check you.</a:t>
            </a:r>
          </a:p>
        </p:txBody>
      </p:sp>
      <p:sp>
        <p:nvSpPr>
          <p:cNvPr id="12" name="Rounded Rectangle 11"/>
          <p:cNvSpPr/>
          <p:nvPr/>
        </p:nvSpPr>
        <p:spPr>
          <a:xfrm>
            <a:off x="502920" y="2761488"/>
            <a:ext cx="6309360" cy="786384"/>
          </a:xfrm>
          <a:prstGeom prst="roundRect">
            <a:avLst>
              <a:gd name="adj" fmla="val 6000"/>
            </a:avLst>
          </a:prstGeom>
          <a:solidFill>
            <a:srgbClr val="1A2029"/>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 y="2761488"/>
            <a:ext cx="1325880" cy="786384"/>
          </a:xfrm>
          <a:prstGeom prst="rect">
            <a:avLst/>
          </a:prstGeom>
          <a:noFill/>
        </p:spPr>
        <p:txBody>
          <a:bodyPr wrap="square" lIns="0" tIns="0" rIns="0" bIns="0" anchor="ctr">
            <a:spAutoFit/>
          </a:bodyPr>
          <a:lstStyle/>
          <a:p>
            <a:pPr algn="l">
              <a:lnSpc>
                <a:spcPct val="118000"/>
              </a:lnSpc>
            </a:pPr>
            <a:r>
              <a:rPr sz="2400" b="1" i="0">
                <a:solidFill>
                  <a:srgbClr val="22C55E"/>
                </a:solidFill>
                <a:latin typeface="JetBrains Mono"/>
              </a:rPr>
              <a:t>58%</a:t>
            </a:r>
          </a:p>
        </p:txBody>
      </p:sp>
      <p:sp>
        <p:nvSpPr>
          <p:cNvPr id="14" name="TextBox 13"/>
          <p:cNvSpPr txBox="1"/>
          <p:nvPr/>
        </p:nvSpPr>
        <p:spPr>
          <a:xfrm>
            <a:off x="1975104" y="2816352"/>
            <a:ext cx="4690872" cy="676656"/>
          </a:xfrm>
          <a:prstGeom prst="rect">
            <a:avLst/>
          </a:prstGeom>
          <a:noFill/>
        </p:spPr>
        <p:txBody>
          <a:bodyPr wrap="square" lIns="0" tIns="0" rIns="0" bIns="0" anchor="ctr">
            <a:spAutoFit/>
          </a:bodyPr>
          <a:lstStyle/>
          <a:p>
            <a:pPr algn="l">
              <a:lnSpc>
                <a:spcPct val="115000"/>
              </a:lnSpc>
            </a:pPr>
            <a:r>
              <a:rPr sz="950" b="0" i="0">
                <a:solidFill>
                  <a:srgbClr val="9AA3B2"/>
                </a:solidFill>
                <a:latin typeface="Inter"/>
              </a:rPr>
              <a:t>of the variation between wards comes down to one underlying pattern. Strong enough that I let that pattern set the weights, instead of setting them by hand.</a:t>
            </a:r>
          </a:p>
        </p:txBody>
      </p:sp>
      <p:sp>
        <p:nvSpPr>
          <p:cNvPr id="15" name="TextBox 14"/>
          <p:cNvSpPr txBox="1"/>
          <p:nvPr/>
        </p:nvSpPr>
        <p:spPr>
          <a:xfrm>
            <a:off x="502920" y="3712463"/>
            <a:ext cx="54864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The weights the data produced</a:t>
            </a:r>
          </a:p>
        </p:txBody>
      </p:sp>
      <p:sp>
        <p:nvSpPr>
          <p:cNvPr id="16" name="TextBox 15"/>
          <p:cNvSpPr txBox="1"/>
          <p:nvPr/>
        </p:nvSpPr>
        <p:spPr>
          <a:xfrm>
            <a:off x="502920" y="4005072"/>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Concrete and paving</a:t>
            </a:r>
          </a:p>
        </p:txBody>
      </p:sp>
      <p:sp>
        <p:nvSpPr>
          <p:cNvPr id="17" name="Rounded Rectangle 16"/>
          <p:cNvSpPr/>
          <p:nvPr/>
        </p:nvSpPr>
        <p:spPr>
          <a:xfrm>
            <a:off x="2377439" y="4087368"/>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377439" y="4087368"/>
            <a:ext cx="3323076"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53912" y="4005072"/>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18%</a:t>
            </a:r>
          </a:p>
        </p:txBody>
      </p:sp>
      <p:sp>
        <p:nvSpPr>
          <p:cNvPr id="20" name="TextBox 19"/>
          <p:cNvSpPr txBox="1"/>
          <p:nvPr/>
        </p:nvSpPr>
        <p:spPr>
          <a:xfrm>
            <a:off x="502920" y="4297680"/>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How crowded</a:t>
            </a:r>
          </a:p>
        </p:txBody>
      </p:sp>
      <p:sp>
        <p:nvSpPr>
          <p:cNvPr id="21" name="Rounded Rectangle 20"/>
          <p:cNvSpPr/>
          <p:nvPr/>
        </p:nvSpPr>
        <p:spPr>
          <a:xfrm>
            <a:off x="2377439" y="4379976"/>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377439" y="4379976"/>
            <a:ext cx="3083953"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53912" y="4297680"/>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17%</a:t>
            </a:r>
          </a:p>
        </p:txBody>
      </p:sp>
      <p:sp>
        <p:nvSpPr>
          <p:cNvPr id="24" name="TextBox 23"/>
          <p:cNvSpPr txBox="1"/>
          <p:nvPr/>
        </p:nvSpPr>
        <p:spPr>
          <a:xfrm>
            <a:off x="502920" y="4590288"/>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Ground temperature</a:t>
            </a:r>
          </a:p>
        </p:txBody>
      </p:sp>
      <p:sp>
        <p:nvSpPr>
          <p:cNvPr id="25" name="Rounded Rectangle 24"/>
          <p:cNvSpPr/>
          <p:nvPr/>
        </p:nvSpPr>
        <p:spPr>
          <a:xfrm>
            <a:off x="2377439" y="4672584"/>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377439" y="4672584"/>
            <a:ext cx="3081609"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53912" y="4590288"/>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17%</a:t>
            </a:r>
          </a:p>
        </p:txBody>
      </p:sp>
      <p:sp>
        <p:nvSpPr>
          <p:cNvPr id="28" name="TextBox 27"/>
          <p:cNvSpPr txBox="1"/>
          <p:nvPr/>
        </p:nvSpPr>
        <p:spPr>
          <a:xfrm>
            <a:off x="502920" y="4882896"/>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How green</a:t>
            </a:r>
          </a:p>
        </p:txBody>
      </p:sp>
      <p:sp>
        <p:nvSpPr>
          <p:cNvPr id="29" name="Rounded Rectangle 28"/>
          <p:cNvSpPr/>
          <p:nvPr/>
        </p:nvSpPr>
        <p:spPr>
          <a:xfrm>
            <a:off x="2377439" y="4965192"/>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377439" y="4965192"/>
            <a:ext cx="2738974"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53912" y="4882896"/>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15%</a:t>
            </a:r>
          </a:p>
        </p:txBody>
      </p:sp>
      <p:sp>
        <p:nvSpPr>
          <p:cNvPr id="32" name="TextBox 31"/>
          <p:cNvSpPr txBox="1"/>
          <p:nvPr/>
        </p:nvSpPr>
        <p:spPr>
          <a:xfrm>
            <a:off x="502920" y="5175504"/>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Distance to hospital</a:t>
            </a:r>
          </a:p>
        </p:txBody>
      </p:sp>
      <p:sp>
        <p:nvSpPr>
          <p:cNvPr id="33" name="Rounded Rectangle 32"/>
          <p:cNvSpPr/>
          <p:nvPr/>
        </p:nvSpPr>
        <p:spPr>
          <a:xfrm>
            <a:off x="2377439" y="5257800"/>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2377439" y="5257800"/>
            <a:ext cx="2728266"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53912" y="5175504"/>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15%</a:t>
            </a:r>
          </a:p>
        </p:txBody>
      </p:sp>
      <p:sp>
        <p:nvSpPr>
          <p:cNvPr id="36" name="TextBox 35"/>
          <p:cNvSpPr txBox="1"/>
          <p:nvPr/>
        </p:nvSpPr>
        <p:spPr>
          <a:xfrm>
            <a:off x="502920" y="5468112"/>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Informal housing</a:t>
            </a:r>
          </a:p>
        </p:txBody>
      </p:sp>
      <p:sp>
        <p:nvSpPr>
          <p:cNvPr id="37" name="Rounded Rectangle 36"/>
          <p:cNvSpPr/>
          <p:nvPr/>
        </p:nvSpPr>
        <p:spPr>
          <a:xfrm>
            <a:off x="2377439" y="5550408"/>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377439" y="5550408"/>
            <a:ext cx="1970816"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53912" y="5468112"/>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11%</a:t>
            </a:r>
          </a:p>
        </p:txBody>
      </p:sp>
      <p:sp>
        <p:nvSpPr>
          <p:cNvPr id="40" name="TextBox 39"/>
          <p:cNvSpPr txBox="1"/>
          <p:nvPr/>
        </p:nvSpPr>
        <p:spPr>
          <a:xfrm>
            <a:off x="502920" y="5760720"/>
            <a:ext cx="1874519" cy="274320"/>
          </a:xfrm>
          <a:prstGeom prst="rect">
            <a:avLst/>
          </a:prstGeom>
          <a:noFill/>
        </p:spPr>
        <p:txBody>
          <a:bodyPr wrap="square" lIns="0" tIns="0" rIns="0" bIns="0" anchor="ctr">
            <a:spAutoFit/>
          </a:bodyPr>
          <a:lstStyle/>
          <a:p>
            <a:pPr algn="l">
              <a:lnSpc>
                <a:spcPct val="118000"/>
              </a:lnSpc>
            </a:pPr>
            <a:r>
              <a:rPr sz="950" b="0" i="0">
                <a:solidFill>
                  <a:srgbClr val="E6EAF2"/>
                </a:solidFill>
                <a:latin typeface="Inter"/>
              </a:rPr>
              <a:t>Older residents</a:t>
            </a:r>
          </a:p>
        </p:txBody>
      </p:sp>
      <p:sp>
        <p:nvSpPr>
          <p:cNvPr id="41" name="Rounded Rectangle 40"/>
          <p:cNvSpPr/>
          <p:nvPr/>
        </p:nvSpPr>
        <p:spPr>
          <a:xfrm>
            <a:off x="2377439" y="5843016"/>
            <a:ext cx="3666744" cy="109728"/>
          </a:xfrm>
          <a:prstGeom prst="roundRect">
            <a:avLst>
              <a:gd name="adj" fmla="val 50000"/>
            </a:avLst>
          </a:prstGeom>
          <a:solidFill>
            <a:srgbClr val="1A2029"/>
          </a:solidFill>
          <a:ln w="6350">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2377439" y="5843016"/>
            <a:ext cx="1407023" cy="109728"/>
          </a:xfrm>
          <a:prstGeom prst="roundRect">
            <a:avLst>
              <a:gd name="adj" fmla="val 50000"/>
            </a:avLst>
          </a:prstGeom>
          <a:solidFill>
            <a:srgbClr val="0EA5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53912" y="5760720"/>
            <a:ext cx="658368" cy="274320"/>
          </a:xfrm>
          <a:prstGeom prst="rect">
            <a:avLst/>
          </a:prstGeom>
          <a:noFill/>
        </p:spPr>
        <p:txBody>
          <a:bodyPr wrap="square" lIns="0" tIns="0" rIns="0" bIns="0" anchor="ctr">
            <a:spAutoFit/>
          </a:bodyPr>
          <a:lstStyle/>
          <a:p>
            <a:pPr algn="r">
              <a:lnSpc>
                <a:spcPct val="118000"/>
              </a:lnSpc>
            </a:pPr>
            <a:r>
              <a:rPr sz="950" b="1" i="0">
                <a:solidFill>
                  <a:srgbClr val="E6EAF2"/>
                </a:solidFill>
                <a:latin typeface="JetBrains Mono"/>
              </a:rPr>
              <a:t>8%</a:t>
            </a:r>
          </a:p>
        </p:txBody>
      </p:sp>
      <p:sp>
        <p:nvSpPr>
          <p:cNvPr id="44" name="Rounded Rectangle 43"/>
          <p:cNvSpPr/>
          <p:nvPr/>
        </p:nvSpPr>
        <p:spPr>
          <a:xfrm>
            <a:off x="7086600" y="1645920"/>
            <a:ext cx="4599432" cy="1042415"/>
          </a:xfrm>
          <a:prstGeom prst="roundRect">
            <a:avLst>
              <a:gd name="adj" fmla="val 6000"/>
            </a:avLst>
          </a:prstGeom>
          <a:solidFill>
            <a:srgbClr val="1A2029"/>
          </a:solidFill>
          <a:ln w="9525">
            <a:solidFill>
              <a:srgbClr val="F0A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0" y="1792224"/>
            <a:ext cx="4206240" cy="256032"/>
          </a:xfrm>
          <a:prstGeom prst="rect">
            <a:avLst/>
          </a:prstGeom>
          <a:noFill/>
        </p:spPr>
        <p:txBody>
          <a:bodyPr wrap="square" lIns="0" tIns="0" rIns="0" bIns="0" anchor="t">
            <a:spAutoFit/>
          </a:bodyPr>
          <a:lstStyle/>
          <a:p>
            <a:r>
              <a:rPr sz="1150" b="1" i="0">
                <a:solidFill>
                  <a:srgbClr val="F0A63A"/>
                </a:solidFill>
                <a:latin typeface="Inter"/>
              </a:rPr>
              <a:t>● </a:t>
            </a:r>
            <a:r>
              <a:rPr sz="1150" b="1" i="0">
                <a:solidFill>
                  <a:srgbClr val="FFFFFF"/>
                </a:solidFill>
                <a:latin typeface="Inter"/>
              </a:rPr>
              <a:t>To be exact about what I did choose</a:t>
            </a:r>
          </a:p>
        </p:txBody>
      </p:sp>
      <p:sp>
        <p:nvSpPr>
          <p:cNvPr id="46" name="TextBox 45"/>
          <p:cNvSpPr txBox="1"/>
          <p:nvPr/>
        </p:nvSpPr>
        <p:spPr>
          <a:xfrm>
            <a:off x="7315200" y="2084831"/>
            <a:ext cx="4142232" cy="530352"/>
          </a:xfrm>
          <a:prstGeom prst="rect">
            <a:avLst/>
          </a:prstGeom>
          <a:noFill/>
        </p:spPr>
        <p:txBody>
          <a:bodyPr wrap="square" lIns="0" tIns="0" rIns="0" bIns="0" anchor="t">
            <a:spAutoFit/>
          </a:bodyPr>
          <a:lstStyle/>
          <a:p>
            <a:pPr algn="l">
              <a:lnSpc>
                <a:spcPct val="115000"/>
              </a:lnSpc>
            </a:pPr>
            <a:r>
              <a:rPr sz="940" b="0" i="0">
                <a:solidFill>
                  <a:srgbClr val="9AA3B2"/>
                </a:solidFill>
                <a:latin typeface="Inter"/>
              </a:rPr>
              <a:t>I chose the seven factors and which direction each one points, both taken from published studies. What I did not choose is how much each one counts. That is the part the data sets, and it is the part that is usually hidden.</a:t>
            </a:r>
          </a:p>
        </p:txBody>
      </p:sp>
      <p:sp>
        <p:nvSpPr>
          <p:cNvPr id="47" name="Rounded Rectangle 46"/>
          <p:cNvSpPr/>
          <p:nvPr/>
        </p:nvSpPr>
        <p:spPr>
          <a:xfrm>
            <a:off x="7086600" y="2761488"/>
            <a:ext cx="4599432" cy="804672"/>
          </a:xfrm>
          <a:prstGeom prst="roundRect">
            <a:avLst>
              <a:gd name="adj" fmla="val 6000"/>
            </a:avLst>
          </a:prstGeom>
          <a:solidFill>
            <a:srgbClr val="1A2029"/>
          </a:solidFill>
          <a:ln w="9525">
            <a:solidFill>
              <a:srgbClr val="0EA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0" y="2871216"/>
            <a:ext cx="4114800" cy="237744"/>
          </a:xfrm>
          <a:prstGeom prst="rect">
            <a:avLst/>
          </a:prstGeom>
          <a:noFill/>
        </p:spPr>
        <p:txBody>
          <a:bodyPr wrap="square" lIns="0" tIns="0" rIns="0" bIns="0" anchor="t">
            <a:spAutoFit/>
          </a:bodyPr>
          <a:lstStyle/>
          <a:p>
            <a:r>
              <a:rPr sz="1150" b="1" i="0">
                <a:solidFill>
                  <a:srgbClr val="0EA5B3"/>
                </a:solidFill>
                <a:latin typeface="Inter"/>
              </a:rPr>
              <a:t>● </a:t>
            </a:r>
            <a:r>
              <a:rPr sz="1150" b="1" i="0">
                <a:solidFill>
                  <a:srgbClr val="FFFFFF"/>
                </a:solidFill>
                <a:latin typeface="Inter"/>
              </a:rPr>
              <a:t>The safety catch</a:t>
            </a:r>
          </a:p>
        </p:txBody>
      </p:sp>
      <p:sp>
        <p:nvSpPr>
          <p:cNvPr id="49" name="TextBox 48"/>
          <p:cNvSpPr txBox="1"/>
          <p:nvPr/>
        </p:nvSpPr>
        <p:spPr>
          <a:xfrm>
            <a:off x="7315200" y="3145536"/>
            <a:ext cx="4142232" cy="347472"/>
          </a:xfrm>
          <a:prstGeom prst="rect">
            <a:avLst/>
          </a:prstGeom>
          <a:noFill/>
        </p:spPr>
        <p:txBody>
          <a:bodyPr wrap="square" lIns="0" tIns="0" rIns="0" bIns="0" anchor="t">
            <a:spAutoFit/>
          </a:bodyPr>
          <a:lstStyle/>
          <a:p>
            <a:pPr algn="l">
              <a:lnSpc>
                <a:spcPct val="112000"/>
              </a:lnSpc>
            </a:pPr>
            <a:r>
              <a:rPr sz="919" b="0" i="0">
                <a:solidFill>
                  <a:srgbClr val="9AA3B2"/>
                </a:solidFill>
                <a:latin typeface="Inter"/>
              </a:rPr>
              <a:t>Below a set threshold the program stops trusting that pattern and counts every factor equally instead. It did not need to here, and the site says so.</a:t>
            </a:r>
          </a:p>
        </p:txBody>
      </p:sp>
      <p:pic>
        <p:nvPicPr>
          <p:cNvPr id="50" name="Picture 49" descr="deck-methodology-weights-dark.png"/>
          <p:cNvPicPr>
            <a:picLocks noChangeAspect="1"/>
          </p:cNvPicPr>
          <p:nvPr/>
        </p:nvPicPr>
        <p:blipFill>
          <a:blip r:embed="rId4"/>
          <a:srcRect l="21000" t="39500" r="21000" b="31000"/>
          <a:stretch>
            <a:fillRect/>
          </a:stretch>
        </p:blipFill>
        <p:spPr>
          <a:xfrm>
            <a:off x="7086600" y="3712463"/>
            <a:ext cx="4599432" cy="1216470"/>
          </a:xfrm>
          <a:prstGeom prst="rect">
            <a:avLst/>
          </a:prstGeom>
          <a:ln w="9525">
            <a:solidFill>
              <a:srgbClr val="2A3040"/>
            </a:solidFill>
          </a:ln>
        </p:spPr>
      </p:pic>
      <p:sp>
        <p:nvSpPr>
          <p:cNvPr id="51" name="TextBox 50"/>
          <p:cNvSpPr txBox="1"/>
          <p:nvPr/>
        </p:nvSpPr>
        <p:spPr>
          <a:xfrm>
            <a:off x="7086600" y="4992942"/>
            <a:ext cx="4599432" cy="365760"/>
          </a:xfrm>
          <a:prstGeom prst="rect">
            <a:avLst/>
          </a:prstGeom>
          <a:noFill/>
        </p:spPr>
        <p:txBody>
          <a:bodyPr wrap="square" lIns="0" tIns="0" rIns="0" bIns="0" anchor="t">
            <a:spAutoFit/>
          </a:bodyPr>
          <a:lstStyle/>
          <a:p>
            <a:pPr algn="ctr">
              <a:lnSpc>
                <a:spcPct val="112000"/>
              </a:lnSpc>
            </a:pPr>
            <a:r>
              <a:rPr sz="819" b="0" i="0">
                <a:solidFill>
                  <a:srgbClr val="9AA3B2"/>
                </a:solidFill>
                <a:latin typeface="Inter"/>
              </a:rPr>
              <a:t>The website reads these numbers straight from the program's own output.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04 · PROPOSED SOLUTION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From a score to something you can actually build</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12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Planting gate: Bastin et al. 2019 and Veldman et al. 2019, Science. Cooling evidence: Ziter et al. 2019, PNAS, and Santamouris 2014, Solar Energy. Rule output: data/nbs_recommendations.json, computed by my own pipeline.</a:t>
            </a:r>
          </a:p>
        </p:txBody>
      </p:sp>
      <p:graphicFrame>
        <p:nvGraphicFramePr>
          <p:cNvPr id="9" name="Table 8"/>
          <p:cNvGraphicFramePr>
            <a:graphicFrameLocks noGrp="1"/>
          </p:cNvGraphicFramePr>
          <p:nvPr/>
        </p:nvGraphicFramePr>
        <p:xfrm>
          <a:off x="502920" y="1645920"/>
          <a:ext cx="7178040" cy="2331718"/>
        </p:xfrm>
        <a:graphic>
          <a:graphicData uri="http://schemas.openxmlformats.org/drawingml/2006/table">
            <a:tbl>
              <a:tblPr>
                <a:tableStyleId>{5940675A-B579-460E-94D1-54222C63F5DA}</a:tableStyleId>
              </a:tblPr>
              <a:tblGrid>
                <a:gridCol w="36118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92608">
                <a:tc>
                  <a:txBody>
                    <a:bodyPr/>
                    <a:lstStyle/>
                    <a:p>
                      <a:pPr algn="l">
                        <a:lnSpc>
                          <a:spcPct val="105000"/>
                        </a:lnSpc>
                      </a:pPr>
                      <a:r>
                        <a:rPr sz="950" b="1">
                          <a:solidFill>
                            <a:srgbClr val="FFFFFF"/>
                          </a:solidFill>
                          <a:latin typeface="Inter"/>
                        </a:rPr>
                        <a:t>Intervention</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When it is suggested</a:t>
                      </a:r>
                    </a:p>
                  </a:txBody>
                  <a:tcPr marL="73152" marR="73152" marT="27432" marB="27432" anchor="ctr">
                    <a:solidFill>
                      <a:srgbClr val="0EA5B3"/>
                    </a:solidFill>
                  </a:tcPr>
                </a:tc>
                <a:tc>
                  <a:txBody>
                    <a:bodyPr/>
                    <a:lstStyle/>
                    <a:p>
                      <a:pPr algn="l">
                        <a:lnSpc>
                          <a:spcPct val="105000"/>
                        </a:lnSpc>
                      </a:pPr>
                      <a:r>
                        <a:rPr sz="950" b="1">
                          <a:solidFill>
                            <a:srgbClr val="FFFFFF"/>
                          </a:solidFill>
                          <a:latin typeface="Inter"/>
                        </a:rPr>
                        <a:t>Priority</a:t>
                      </a:r>
                    </a:p>
                  </a:txBody>
                  <a:tcPr marL="73152" marR="73152" marT="27432" marB="27432" anchor="ctr">
                    <a:solidFill>
                      <a:srgbClr val="0EA5B3"/>
                    </a:solidFill>
                  </a:tcPr>
                </a:tc>
                <a:extLst>
                  <a:ext uri="{0D108BD9-81ED-4DB2-BD59-A6C34878D82A}">
                    <a16:rowId xmlns:a16="http://schemas.microsoft.com/office/drawing/2014/main" val="10000"/>
                  </a:ext>
                </a:extLst>
              </a:tr>
              <a:tr h="407822">
                <a:tc>
                  <a:txBody>
                    <a:bodyPr/>
                    <a:lstStyle/>
                    <a:p>
                      <a:pPr algn="l">
                        <a:lnSpc>
                          <a:spcPct val="105000"/>
                        </a:lnSpc>
                      </a:pPr>
                      <a:r>
                        <a:rPr sz="880" b="1">
                          <a:solidFill>
                            <a:srgbClr val="E6EAF2"/>
                          </a:solidFill>
                          <a:latin typeface="Inter"/>
                        </a:rPr>
                        <a:t>Plant native trees and green corridors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Hot, bare, and trees belong there</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1</a:t>
                      </a:r>
                    </a:p>
                  </a:txBody>
                  <a:tcPr marL="73152" marR="73152" marT="27432" marB="27432" anchor="ctr">
                    <a:solidFill>
                      <a:srgbClr val="151A24"/>
                    </a:solidFill>
                  </a:tcPr>
                </a:tc>
                <a:extLst>
                  <a:ext uri="{0D108BD9-81ED-4DB2-BD59-A6C34878D82A}">
                    <a16:rowId xmlns:a16="http://schemas.microsoft.com/office/drawing/2014/main" val="10001"/>
                  </a:ext>
                </a:extLst>
              </a:tr>
              <a:tr h="407822">
                <a:tc>
                  <a:txBody>
                    <a:bodyPr/>
                    <a:lstStyle/>
                    <a:p>
                      <a:pPr algn="l">
                        <a:lnSpc>
                          <a:spcPct val="105000"/>
                        </a:lnSpc>
                      </a:pPr>
                      <a:r>
                        <a:rPr sz="880" b="1">
                          <a:solidFill>
                            <a:srgbClr val="E6EAF2"/>
                          </a:solidFill>
                          <a:latin typeface="Inter"/>
                        </a:rPr>
                        <a:t>Pale roofs and reflective paving</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Hot and bare, but trees do NOT belong</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1</a:t>
                      </a:r>
                    </a:p>
                  </a:txBody>
                  <a:tcPr marL="73152" marR="73152" marT="27432" marB="27432" anchor="ctr">
                    <a:solidFill>
                      <a:srgbClr val="151A24"/>
                    </a:solidFill>
                  </a:tcPr>
                </a:tc>
                <a:extLst>
                  <a:ext uri="{0D108BD9-81ED-4DB2-BD59-A6C34878D82A}">
                    <a16:rowId xmlns:a16="http://schemas.microsoft.com/office/drawing/2014/main" val="10002"/>
                  </a:ext>
                </a:extLst>
              </a:tr>
              <a:tr h="407822">
                <a:tc>
                  <a:txBody>
                    <a:bodyPr/>
                    <a:lstStyle/>
                    <a:p>
                      <a:pPr algn="l">
                        <a:lnSpc>
                          <a:spcPct val="105000"/>
                        </a:lnSpc>
                      </a:pPr>
                      <a:r>
                        <a:rPr sz="880" b="1">
                          <a:solidFill>
                            <a:srgbClr val="E6EAF2"/>
                          </a:solidFill>
                          <a:latin typeface="Inter"/>
                        </a:rPr>
                        <a:t>Cooling centres, placed deliberately</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Many older residents, far from a hospital</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1</a:t>
                      </a:r>
                    </a:p>
                  </a:txBody>
                  <a:tcPr marL="73152" marR="73152" marT="27432" marB="27432" anchor="ctr">
                    <a:solidFill>
                      <a:srgbClr val="151A24"/>
                    </a:solidFill>
                  </a:tcPr>
                </a:tc>
                <a:extLst>
                  <a:ext uri="{0D108BD9-81ED-4DB2-BD59-A6C34878D82A}">
                    <a16:rowId xmlns:a16="http://schemas.microsoft.com/office/drawing/2014/main" val="10003"/>
                  </a:ext>
                </a:extLst>
              </a:tr>
              <a:tr h="407822">
                <a:tc>
                  <a:txBody>
                    <a:bodyPr/>
                    <a:lstStyle/>
                    <a:p>
                      <a:pPr algn="l">
                        <a:lnSpc>
                          <a:spcPct val="105000"/>
                        </a:lnSpc>
                      </a:pPr>
                      <a:r>
                        <a:rPr sz="880" b="1">
                          <a:solidFill>
                            <a:srgbClr val="E6EAF2"/>
                          </a:solidFill>
                          <a:latin typeface="Inter"/>
                        </a:rPr>
                        <a:t>Rain gardens and soak-away paving</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Lots of concrete, close to water</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2</a:t>
                      </a:r>
                    </a:p>
                  </a:txBody>
                  <a:tcPr marL="73152" marR="73152" marT="27432" marB="27432" anchor="ctr">
                    <a:solidFill>
                      <a:srgbClr val="151A24"/>
                    </a:solidFill>
                  </a:tcPr>
                </a:tc>
                <a:extLst>
                  <a:ext uri="{0D108BD9-81ED-4DB2-BD59-A6C34878D82A}">
                    <a16:rowId xmlns:a16="http://schemas.microsoft.com/office/drawing/2014/main" val="10004"/>
                  </a:ext>
                </a:extLst>
              </a:tr>
              <a:tr h="407822">
                <a:tc>
                  <a:txBody>
                    <a:bodyPr/>
                    <a:lstStyle/>
                    <a:p>
                      <a:pPr algn="l">
                        <a:lnSpc>
                          <a:spcPct val="105000"/>
                        </a:lnSpc>
                      </a:pPr>
                      <a:r>
                        <a:rPr sz="880" b="1">
                          <a:solidFill>
                            <a:srgbClr val="E6EAF2"/>
                          </a:solidFill>
                          <a:latin typeface="Inter"/>
                        </a:rPr>
                        <a:t>Pocket parks</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Very crowded, almost no open space</a:t>
                      </a:r>
                    </a:p>
                  </a:txBody>
                  <a:tcPr marL="73152" marR="73152" marT="27432" marB="27432" anchor="ctr">
                    <a:solidFill>
                      <a:srgbClr val="151A24"/>
                    </a:solidFill>
                  </a:tcPr>
                </a:tc>
                <a:tc>
                  <a:txBody>
                    <a:bodyPr/>
                    <a:lstStyle/>
                    <a:p>
                      <a:pPr algn="l">
                        <a:lnSpc>
                          <a:spcPct val="105000"/>
                        </a:lnSpc>
                      </a:pPr>
                      <a:r>
                        <a:rPr sz="880" b="0">
                          <a:solidFill>
                            <a:srgbClr val="9AA3B2"/>
                          </a:solidFill>
                          <a:latin typeface="Inter"/>
                        </a:rPr>
                        <a:t>3</a:t>
                      </a:r>
                    </a:p>
                  </a:txBody>
                  <a:tcPr marL="73152" marR="73152" marT="27432" marB="27432" anchor="ctr">
                    <a:solidFill>
                      <a:srgbClr val="151A24"/>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502920" y="4160520"/>
            <a:ext cx="7178040" cy="1645920"/>
          </a:xfrm>
          <a:prstGeom prst="roundRect">
            <a:avLst>
              <a:gd name="adj" fmla="val 6000"/>
            </a:avLst>
          </a:prstGeom>
          <a:solidFill>
            <a:srgbClr val="1A2029"/>
          </a:solidFill>
          <a:ln w="9525">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 y="4334256"/>
            <a:ext cx="6675120" cy="256032"/>
          </a:xfrm>
          <a:prstGeom prst="rect">
            <a:avLst/>
          </a:prstGeom>
          <a:noFill/>
        </p:spPr>
        <p:txBody>
          <a:bodyPr wrap="square" lIns="0" tIns="0" rIns="0" bIns="0" anchor="t">
            <a:spAutoFit/>
          </a:bodyPr>
          <a:lstStyle/>
          <a:p>
            <a:r>
              <a:rPr sz="1200" b="1" i="0">
                <a:solidFill>
                  <a:srgbClr val="E4572E"/>
                </a:solidFill>
                <a:latin typeface="Inter"/>
              </a:rPr>
              <a:t>● </a:t>
            </a:r>
            <a:r>
              <a:rPr sz="1200" b="1" i="0">
                <a:solidFill>
                  <a:srgbClr val="FFFFFF"/>
                </a:solidFill>
                <a:latin typeface="Inter"/>
              </a:rPr>
              <a:t>The check, in plain words</a:t>
            </a:r>
          </a:p>
        </p:txBody>
      </p:sp>
      <p:sp>
        <p:nvSpPr>
          <p:cNvPr id="12" name="TextBox 11"/>
          <p:cNvSpPr txBox="1"/>
          <p:nvPr/>
        </p:nvSpPr>
        <p:spPr>
          <a:xfrm>
            <a:off x="740664" y="4681728"/>
            <a:ext cx="6675120" cy="868680"/>
          </a:xfrm>
          <a:prstGeom prst="rect">
            <a:avLst/>
          </a:prstGeom>
          <a:noFill/>
        </p:spPr>
        <p:txBody>
          <a:bodyPr wrap="square" lIns="0" tIns="0" rIns="0" bIns="0" anchor="t">
            <a:spAutoFit/>
          </a:bodyPr>
          <a:lstStyle/>
          <a:p>
            <a:pPr algn="l">
              <a:lnSpc>
                <a:spcPct val="128000"/>
              </a:lnSpc>
            </a:pPr>
            <a:r>
              <a:rPr sz="1000" b="0" i="0">
                <a:solidFill>
                  <a:srgbClr val="22C55E"/>
                </a:solidFill>
                <a:latin typeface="Inter"/>
              </a:rPr>
              <a:t>Trees are allowed only if the ground is not already built on, not water or wetland,</a:t>
            </a:r>
          </a:p>
          <a:p>
            <a:pPr algn="l">
              <a:lnSpc>
                <a:spcPct val="128000"/>
              </a:lnSpc>
              <a:spcBef>
                <a:spcPts val="300"/>
              </a:spcBef>
            </a:pPr>
            <a:r>
              <a:rPr sz="1000" b="0" i="0">
                <a:solidFill>
                  <a:srgbClr val="22C55E"/>
                </a:solidFill>
                <a:latin typeface="Inter"/>
              </a:rPr>
              <a:t>not naturally grassland, and not almost entirely paved over.</a:t>
            </a:r>
          </a:p>
          <a:p>
            <a:pPr algn="l">
              <a:lnSpc>
                <a:spcPct val="128000"/>
              </a:lnSpc>
              <a:spcBef>
                <a:spcPts val="300"/>
              </a:spcBef>
            </a:pPr>
            <a:r>
              <a:rPr sz="1000" b="0" i="0">
                <a:solidFill>
                  <a:srgbClr val="22C55E"/>
                </a:solidFill>
                <a:latin typeface="Inter"/>
              </a:rPr>
              <a:t>Fail any one of those and the suggestion switches to pale roofs instead.</a:t>
            </a:r>
          </a:p>
        </p:txBody>
      </p:sp>
      <p:sp>
        <p:nvSpPr>
          <p:cNvPr id="13" name="Rounded Rectangle 12"/>
          <p:cNvSpPr/>
          <p:nvPr/>
        </p:nvSpPr>
        <p:spPr>
          <a:xfrm>
            <a:off x="7973568" y="1645920"/>
            <a:ext cx="3712463"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1645920"/>
            <a:ext cx="1134221" cy="960120"/>
          </a:xfrm>
          <a:prstGeom prst="rect">
            <a:avLst/>
          </a:prstGeom>
          <a:noFill/>
        </p:spPr>
        <p:txBody>
          <a:bodyPr wrap="square" lIns="0" tIns="0" rIns="0" bIns="0" anchor="ctr">
            <a:spAutoFit/>
          </a:bodyPr>
          <a:lstStyle/>
          <a:p>
            <a:pPr algn="l">
              <a:lnSpc>
                <a:spcPct val="118000"/>
              </a:lnSpc>
            </a:pPr>
            <a:r>
              <a:rPr sz="2000" b="1" i="0">
                <a:solidFill>
                  <a:srgbClr val="22C55E"/>
                </a:solidFill>
                <a:latin typeface="JetBrains Mono"/>
              </a:rPr>
              <a:t>81</a:t>
            </a:r>
          </a:p>
        </p:txBody>
      </p:sp>
      <p:sp>
        <p:nvSpPr>
          <p:cNvPr id="15" name="TextBox 14"/>
          <p:cNvSpPr txBox="1"/>
          <p:nvPr/>
        </p:nvSpPr>
        <p:spPr>
          <a:xfrm>
            <a:off x="9235805" y="1645920"/>
            <a:ext cx="2322210" cy="960120"/>
          </a:xfrm>
          <a:prstGeom prst="rect">
            <a:avLst/>
          </a:prstGeom>
          <a:noFill/>
        </p:spPr>
        <p:txBody>
          <a:bodyPr wrap="square" lIns="0" tIns="0" rIns="0" bIns="0" anchor="ctr">
            <a:spAutoFit/>
          </a:bodyPr>
          <a:lstStyle/>
          <a:p>
            <a:pPr algn="l">
              <a:lnSpc>
                <a:spcPct val="110000"/>
              </a:lnSpc>
            </a:pPr>
            <a:r>
              <a:rPr sz="950" b="0" i="0">
                <a:solidFill>
                  <a:srgbClr val="9AA3B2"/>
                </a:solidFill>
                <a:latin typeface="Inter"/>
              </a:rPr>
              <a:t>suggestions generated,</a:t>
            </a:r>
          </a:p>
          <a:p>
            <a:pPr algn="l">
              <a:lnSpc>
                <a:spcPct val="110000"/>
              </a:lnSpc>
              <a:spcBef>
                <a:spcPts val="400"/>
              </a:spcBef>
            </a:pPr>
            <a:r>
              <a:rPr sz="950" b="0" i="0">
                <a:solidFill>
                  <a:srgbClr val="9AA3B2"/>
                </a:solidFill>
                <a:latin typeface="Inter"/>
              </a:rPr>
              <a:t>covering every ward</a:t>
            </a:r>
          </a:p>
        </p:txBody>
      </p:sp>
      <p:sp>
        <p:nvSpPr>
          <p:cNvPr id="16" name="Rounded Rectangle 15"/>
          <p:cNvSpPr/>
          <p:nvPr/>
        </p:nvSpPr>
        <p:spPr>
          <a:xfrm>
            <a:off x="7973568" y="2715768"/>
            <a:ext cx="3712463"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01584" y="2715768"/>
            <a:ext cx="1134221" cy="960120"/>
          </a:xfrm>
          <a:prstGeom prst="rect">
            <a:avLst/>
          </a:prstGeom>
          <a:noFill/>
        </p:spPr>
        <p:txBody>
          <a:bodyPr wrap="square" lIns="0" tIns="0" rIns="0" bIns="0" anchor="ctr">
            <a:spAutoFit/>
          </a:bodyPr>
          <a:lstStyle/>
          <a:p>
            <a:pPr algn="l">
              <a:lnSpc>
                <a:spcPct val="118000"/>
              </a:lnSpc>
            </a:pPr>
            <a:r>
              <a:rPr sz="2000" b="1" i="0">
                <a:solidFill>
                  <a:srgbClr val="22C55E"/>
                </a:solidFill>
                <a:latin typeface="JetBrains Mono"/>
              </a:rPr>
              <a:t>38%</a:t>
            </a:r>
          </a:p>
        </p:txBody>
      </p:sp>
      <p:sp>
        <p:nvSpPr>
          <p:cNvPr id="18" name="TextBox 17"/>
          <p:cNvSpPr txBox="1"/>
          <p:nvPr/>
        </p:nvSpPr>
        <p:spPr>
          <a:xfrm>
            <a:off x="9235805" y="2715768"/>
            <a:ext cx="2322210" cy="960120"/>
          </a:xfrm>
          <a:prstGeom prst="rect">
            <a:avLst/>
          </a:prstGeom>
          <a:noFill/>
        </p:spPr>
        <p:txBody>
          <a:bodyPr wrap="square" lIns="0" tIns="0" rIns="0" bIns="0" anchor="ctr">
            <a:spAutoFit/>
          </a:bodyPr>
          <a:lstStyle/>
          <a:p>
            <a:pPr algn="l">
              <a:lnSpc>
                <a:spcPct val="110000"/>
              </a:lnSpc>
            </a:pPr>
            <a:r>
              <a:rPr sz="950" b="0" i="0">
                <a:solidFill>
                  <a:srgbClr val="9AA3B2"/>
                </a:solidFill>
                <a:latin typeface="Inter"/>
              </a:rPr>
              <a:t>of the city where planting trees</a:t>
            </a:r>
          </a:p>
          <a:p>
            <a:pPr algn="l">
              <a:lnSpc>
                <a:spcPct val="110000"/>
              </a:lnSpc>
              <a:spcBef>
                <a:spcPts val="400"/>
              </a:spcBef>
            </a:pPr>
            <a:r>
              <a:rPr sz="950" b="0" i="0">
                <a:solidFill>
                  <a:srgbClr val="9AA3B2"/>
                </a:solidFill>
                <a:latin typeface="Inter"/>
              </a:rPr>
              <a:t>would be the wrong answer</a:t>
            </a:r>
          </a:p>
        </p:txBody>
      </p:sp>
      <p:sp>
        <p:nvSpPr>
          <p:cNvPr id="19" name="Rounded Rectangle 18"/>
          <p:cNvSpPr/>
          <p:nvPr/>
        </p:nvSpPr>
        <p:spPr>
          <a:xfrm>
            <a:off x="7973568" y="3785615"/>
            <a:ext cx="3712463" cy="96012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01584" y="3785615"/>
            <a:ext cx="1134221" cy="960120"/>
          </a:xfrm>
          <a:prstGeom prst="rect">
            <a:avLst/>
          </a:prstGeom>
          <a:noFill/>
        </p:spPr>
        <p:txBody>
          <a:bodyPr wrap="square" lIns="0" tIns="0" rIns="0" bIns="0" anchor="ctr">
            <a:spAutoFit/>
          </a:bodyPr>
          <a:lstStyle/>
          <a:p>
            <a:pPr algn="l">
              <a:lnSpc>
                <a:spcPct val="118000"/>
              </a:lnSpc>
            </a:pPr>
            <a:r>
              <a:rPr sz="2000" b="1" i="0">
                <a:solidFill>
                  <a:srgbClr val="22C55E"/>
                </a:solidFill>
                <a:latin typeface="JetBrains Mono"/>
              </a:rPr>
              <a:t>5</a:t>
            </a:r>
          </a:p>
        </p:txBody>
      </p:sp>
      <p:sp>
        <p:nvSpPr>
          <p:cNvPr id="21" name="TextBox 20"/>
          <p:cNvSpPr txBox="1"/>
          <p:nvPr/>
        </p:nvSpPr>
        <p:spPr>
          <a:xfrm>
            <a:off x="9235805" y="3785615"/>
            <a:ext cx="2322210" cy="960120"/>
          </a:xfrm>
          <a:prstGeom prst="rect">
            <a:avLst/>
          </a:prstGeom>
          <a:noFill/>
        </p:spPr>
        <p:txBody>
          <a:bodyPr wrap="square" lIns="0" tIns="0" rIns="0" bIns="0" anchor="ctr">
            <a:spAutoFit/>
          </a:bodyPr>
          <a:lstStyle/>
          <a:p>
            <a:pPr algn="l">
              <a:lnSpc>
                <a:spcPct val="110000"/>
              </a:lnSpc>
            </a:pPr>
            <a:r>
              <a:rPr sz="950" b="0" i="0">
                <a:solidFill>
                  <a:srgbClr val="9AA3B2"/>
                </a:solidFill>
                <a:latin typeface="Inter"/>
              </a:rPr>
              <a:t>kinds of intervention, each with</a:t>
            </a:r>
          </a:p>
          <a:p>
            <a:pPr algn="l">
              <a:lnSpc>
                <a:spcPct val="110000"/>
              </a:lnSpc>
              <a:spcBef>
                <a:spcPts val="400"/>
              </a:spcBef>
            </a:pPr>
            <a:r>
              <a:rPr sz="950" b="0" i="0">
                <a:solidFill>
                  <a:srgbClr val="9AA3B2"/>
                </a:solidFill>
                <a:latin typeface="Inter"/>
              </a:rPr>
              <a:t>its own research behind it</a:t>
            </a:r>
          </a:p>
        </p:txBody>
      </p:sp>
      <p:sp>
        <p:nvSpPr>
          <p:cNvPr id="22" name="Rounded Rectangle 21"/>
          <p:cNvSpPr/>
          <p:nvPr/>
        </p:nvSpPr>
        <p:spPr>
          <a:xfrm>
            <a:off x="7973568" y="4892040"/>
            <a:ext cx="3712463" cy="91440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11312" y="5047488"/>
            <a:ext cx="3255264" cy="640080"/>
          </a:xfrm>
          <a:prstGeom prst="rect">
            <a:avLst/>
          </a:prstGeom>
          <a:noFill/>
        </p:spPr>
        <p:txBody>
          <a:bodyPr wrap="square" lIns="0" tIns="0" rIns="0" bIns="0" anchor="t">
            <a:spAutoFit/>
          </a:bodyPr>
          <a:lstStyle/>
          <a:p>
            <a:pPr algn="l">
              <a:lnSpc>
                <a:spcPct val="120000"/>
              </a:lnSpc>
            </a:pPr>
            <a:r>
              <a:rPr sz="950" b="0" i="0">
                <a:solidFill>
                  <a:srgbClr val="9AA3B2"/>
                </a:solidFill>
                <a:latin typeface="Inter"/>
              </a:rPr>
              <a:t>The first two rows are the same situation with opposite answers. What decides between them is the check.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05 · PROTOTYPE / SOLUTION DESIGN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How the prototype works, end to end</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13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Google Earth Engine, Supabase Postgres, Next.js and Leaflet. Basemap tiles: CARTO and OpenStreetMap contributors. The offline test was run by me on 2026-07-24. Live at ucip-eight.vercel.app. Code at github.com/AnayDhawan/UCIP.</a:t>
            </a:r>
          </a:p>
        </p:txBody>
      </p:sp>
      <p:sp>
        <p:nvSpPr>
          <p:cNvPr id="9" name="Rounded Rectangle 8"/>
          <p:cNvSpPr/>
          <p:nvPr/>
        </p:nvSpPr>
        <p:spPr>
          <a:xfrm>
            <a:off x="521208" y="2560320"/>
            <a:ext cx="1975104"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633472"/>
            <a:ext cx="1828800" cy="1335024"/>
          </a:xfrm>
          <a:prstGeom prst="rect">
            <a:avLst/>
          </a:prstGeom>
          <a:noFill/>
        </p:spPr>
        <p:txBody>
          <a:bodyPr wrap="square" lIns="0" tIns="0" rIns="0" bIns="0" anchor="ctr">
            <a:spAutoFit/>
          </a:bodyPr>
          <a:lstStyle/>
          <a:p>
            <a:pPr algn="ctr"/>
            <a:r>
              <a:rPr sz="800" b="1" i="0">
                <a:solidFill>
                  <a:srgbClr val="0EA5B3"/>
                </a:solidFill>
                <a:latin typeface="JetBrains Mono"/>
              </a:rPr>
              <a:t>01</a:t>
            </a:r>
          </a:p>
          <a:p>
            <a:pPr algn="ctr">
              <a:spcBef>
                <a:spcPts val="200"/>
              </a:spcBef>
            </a:pPr>
            <a:r>
              <a:rPr sz="1000" b="1" i="0">
                <a:solidFill>
                  <a:srgbClr val="FFFFFF"/>
                </a:solidFill>
                <a:latin typeface="Inter"/>
              </a:rPr>
              <a:t>Free public data</a:t>
            </a:r>
          </a:p>
          <a:p>
            <a:pPr algn="ctr">
              <a:spcBef>
                <a:spcPts val="100"/>
              </a:spcBef>
            </a:pPr>
            <a:r>
              <a:rPr sz="780" b="0" i="0">
                <a:solidFill>
                  <a:srgbClr val="9AA3B2"/>
                </a:solidFill>
                <a:latin typeface="Inter"/>
              </a:rPr>
              <a:t>Satellite images,
population estimates,
maps</a:t>
            </a:r>
          </a:p>
        </p:txBody>
      </p:sp>
      <p:sp>
        <p:nvSpPr>
          <p:cNvPr id="11" name="Right Arrow 10"/>
          <p:cNvSpPr/>
          <p:nvPr/>
        </p:nvSpPr>
        <p:spPr>
          <a:xfrm>
            <a:off x="2532888" y="3172968"/>
            <a:ext cx="219456" cy="256032"/>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88920" y="2560320"/>
            <a:ext cx="1975104"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62072" y="2950375"/>
            <a:ext cx="1828800" cy="701218"/>
          </a:xfrm>
          <a:prstGeom prst="rect">
            <a:avLst/>
          </a:prstGeom>
          <a:noFill/>
        </p:spPr>
        <p:txBody>
          <a:bodyPr wrap="square" lIns="0" tIns="0" rIns="0" bIns="0" anchor="ctr">
            <a:spAutoFit/>
          </a:bodyPr>
          <a:lstStyle/>
          <a:p>
            <a:pPr algn="ctr"/>
            <a:r>
              <a:rPr sz="800" b="1" i="0" dirty="0">
                <a:solidFill>
                  <a:srgbClr val="0EA5B3"/>
                </a:solidFill>
                <a:latin typeface="JetBrains Mono"/>
              </a:rPr>
              <a:t>02</a:t>
            </a:r>
          </a:p>
          <a:p>
            <a:pPr algn="ctr">
              <a:spcBef>
                <a:spcPts val="200"/>
              </a:spcBef>
            </a:pPr>
            <a:r>
              <a:rPr sz="1000" b="1" i="0" dirty="0">
                <a:solidFill>
                  <a:srgbClr val="FFFFFF"/>
                </a:solidFill>
                <a:latin typeface="Inter"/>
              </a:rPr>
              <a:t>Processing</a:t>
            </a:r>
          </a:p>
          <a:p>
            <a:pPr algn="ctr">
              <a:spcBef>
                <a:spcPts val="100"/>
              </a:spcBef>
            </a:pPr>
            <a:r>
              <a:rPr sz="780" b="0" i="0" dirty="0">
                <a:solidFill>
                  <a:srgbClr val="9AA3B2"/>
                </a:solidFill>
                <a:latin typeface="Inter"/>
              </a:rPr>
              <a:t>steps that clean it,
score it, and apply
the rules</a:t>
            </a:r>
          </a:p>
        </p:txBody>
      </p:sp>
      <p:sp>
        <p:nvSpPr>
          <p:cNvPr id="14" name="Right Arrow 13"/>
          <p:cNvSpPr/>
          <p:nvPr/>
        </p:nvSpPr>
        <p:spPr>
          <a:xfrm>
            <a:off x="4800600" y="3172968"/>
            <a:ext cx="219456" cy="256032"/>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56632" y="2560320"/>
            <a:ext cx="1975104"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29784" y="3016804"/>
            <a:ext cx="1828800" cy="568361"/>
          </a:xfrm>
          <a:prstGeom prst="rect">
            <a:avLst/>
          </a:prstGeom>
          <a:noFill/>
        </p:spPr>
        <p:txBody>
          <a:bodyPr wrap="square" lIns="0" tIns="0" rIns="0" bIns="0" anchor="ctr">
            <a:spAutoFit/>
          </a:bodyPr>
          <a:lstStyle/>
          <a:p>
            <a:pPr algn="ctr"/>
            <a:r>
              <a:rPr sz="800" b="1" i="0" dirty="0">
                <a:solidFill>
                  <a:srgbClr val="0EA5B3"/>
                </a:solidFill>
                <a:latin typeface="JetBrains Mono"/>
              </a:rPr>
              <a:t>03</a:t>
            </a:r>
          </a:p>
          <a:p>
            <a:pPr algn="ctr">
              <a:spcBef>
                <a:spcPts val="200"/>
              </a:spcBef>
            </a:pPr>
            <a:r>
              <a:rPr lang="en-US" sz="1000" b="1" i="0" dirty="0">
                <a:solidFill>
                  <a:srgbClr val="FFFFFF"/>
                </a:solidFill>
                <a:latin typeface="Inter"/>
              </a:rPr>
              <a:t>Stored online</a:t>
            </a:r>
          </a:p>
          <a:p>
            <a:pPr algn="ctr">
              <a:spcBef>
                <a:spcPts val="100"/>
              </a:spcBef>
            </a:pPr>
            <a:r>
              <a:rPr lang="en-US" sz="780" dirty="0">
                <a:solidFill>
                  <a:srgbClr val="9AA3B2"/>
                </a:solidFill>
                <a:latin typeface="Inter"/>
              </a:rPr>
              <a:t>Data stored in </a:t>
            </a:r>
            <a:r>
              <a:rPr lang="en-US" sz="780" dirty="0" err="1">
                <a:solidFill>
                  <a:srgbClr val="9AA3B2"/>
                </a:solidFill>
                <a:latin typeface="Inter"/>
              </a:rPr>
              <a:t>Supabase</a:t>
            </a:r>
            <a:r>
              <a:rPr lang="en-US" sz="780" dirty="0">
                <a:solidFill>
                  <a:srgbClr val="9AA3B2"/>
                </a:solidFill>
                <a:latin typeface="Inter"/>
              </a:rPr>
              <a:t> </a:t>
            </a:r>
          </a:p>
          <a:p>
            <a:pPr algn="ctr">
              <a:spcBef>
                <a:spcPts val="100"/>
              </a:spcBef>
            </a:pPr>
            <a:r>
              <a:rPr lang="en-US" sz="780" dirty="0">
                <a:solidFill>
                  <a:srgbClr val="9AA3B2"/>
                </a:solidFill>
                <a:latin typeface="Inter"/>
              </a:rPr>
              <a:t>connected to the frontend</a:t>
            </a:r>
            <a:endParaRPr sz="780" b="0" i="0" dirty="0">
              <a:solidFill>
                <a:srgbClr val="9AA3B2"/>
              </a:solidFill>
              <a:latin typeface="Inter"/>
            </a:endParaRPr>
          </a:p>
        </p:txBody>
      </p:sp>
      <p:sp>
        <p:nvSpPr>
          <p:cNvPr id="17" name="Right Arrow 16"/>
          <p:cNvSpPr/>
          <p:nvPr/>
        </p:nvSpPr>
        <p:spPr>
          <a:xfrm>
            <a:off x="7068312" y="3172968"/>
            <a:ext cx="219456" cy="256032"/>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24344" y="2560320"/>
            <a:ext cx="1975104"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97496" y="2633472"/>
            <a:ext cx="1828800" cy="1335024"/>
          </a:xfrm>
          <a:prstGeom prst="rect">
            <a:avLst/>
          </a:prstGeom>
          <a:noFill/>
        </p:spPr>
        <p:txBody>
          <a:bodyPr wrap="square" lIns="0" tIns="0" rIns="0" bIns="0" anchor="ctr">
            <a:spAutoFit/>
          </a:bodyPr>
          <a:lstStyle/>
          <a:p>
            <a:pPr algn="ctr"/>
            <a:r>
              <a:rPr sz="800" b="1" i="0" dirty="0">
                <a:solidFill>
                  <a:srgbClr val="0EA5B3"/>
                </a:solidFill>
                <a:latin typeface="JetBrains Mono"/>
              </a:rPr>
              <a:t>04</a:t>
            </a:r>
          </a:p>
          <a:p>
            <a:pPr algn="ctr">
              <a:spcBef>
                <a:spcPts val="200"/>
              </a:spcBef>
            </a:pPr>
            <a:r>
              <a:rPr sz="1000" b="1" i="0" dirty="0">
                <a:solidFill>
                  <a:srgbClr val="FFFFFF"/>
                </a:solidFill>
                <a:latin typeface="Inter"/>
              </a:rPr>
              <a:t>Website</a:t>
            </a:r>
          </a:p>
          <a:p>
            <a:pPr algn="ctr">
              <a:spcBef>
                <a:spcPts val="100"/>
              </a:spcBef>
            </a:pPr>
            <a:r>
              <a:rPr sz="780" b="0" i="0" dirty="0">
                <a:solidFill>
                  <a:srgbClr val="9AA3B2"/>
                </a:solidFill>
                <a:latin typeface="Inter"/>
              </a:rPr>
              <a:t>A map anyone can
open and click,
no login</a:t>
            </a:r>
          </a:p>
        </p:txBody>
      </p:sp>
      <p:sp>
        <p:nvSpPr>
          <p:cNvPr id="20" name="Right Arrow 19"/>
          <p:cNvSpPr/>
          <p:nvPr/>
        </p:nvSpPr>
        <p:spPr>
          <a:xfrm>
            <a:off x="9336024" y="3172968"/>
            <a:ext cx="219456" cy="256032"/>
          </a:xfrm>
          <a:prstGeom prst="rightArrow">
            <a:avLst/>
          </a:prstGeom>
          <a:solidFill>
            <a:srgbClr val="2A3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92056" y="2560320"/>
            <a:ext cx="1975104"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5208" y="3016804"/>
            <a:ext cx="1828800" cy="568361"/>
          </a:xfrm>
          <a:prstGeom prst="rect">
            <a:avLst/>
          </a:prstGeom>
          <a:noFill/>
        </p:spPr>
        <p:txBody>
          <a:bodyPr wrap="square" lIns="0" tIns="0" rIns="0" bIns="0" anchor="ctr">
            <a:spAutoFit/>
          </a:bodyPr>
          <a:lstStyle/>
          <a:p>
            <a:pPr algn="ctr"/>
            <a:r>
              <a:rPr sz="800" b="1" i="0" dirty="0">
                <a:solidFill>
                  <a:srgbClr val="0EA5B3"/>
                </a:solidFill>
                <a:latin typeface="JetBrains Mono"/>
              </a:rPr>
              <a:t>05</a:t>
            </a:r>
          </a:p>
          <a:p>
            <a:pPr algn="ctr">
              <a:spcBef>
                <a:spcPts val="200"/>
              </a:spcBef>
            </a:pPr>
            <a:r>
              <a:rPr sz="1000" b="1" i="0" dirty="0">
                <a:solidFill>
                  <a:srgbClr val="FFFFFF"/>
                </a:solidFill>
                <a:latin typeface="Inter"/>
              </a:rPr>
              <a:t>Publish</a:t>
            </a:r>
            <a:r>
              <a:rPr lang="en-US" sz="1000" b="1" i="0" dirty="0">
                <a:solidFill>
                  <a:srgbClr val="FFFFFF"/>
                </a:solidFill>
                <a:latin typeface="Inter"/>
              </a:rPr>
              <a:t>ing</a:t>
            </a:r>
            <a:endParaRPr sz="1000" b="1" i="0" dirty="0">
              <a:solidFill>
                <a:srgbClr val="FFFFFF"/>
              </a:solidFill>
              <a:latin typeface="Inter"/>
            </a:endParaRPr>
          </a:p>
          <a:p>
            <a:pPr algn="ctr">
              <a:spcBef>
                <a:spcPts val="100"/>
              </a:spcBef>
            </a:pPr>
            <a:r>
              <a:rPr lang="en-US" sz="780" b="0" i="0" dirty="0">
                <a:solidFill>
                  <a:srgbClr val="9AA3B2"/>
                </a:solidFill>
                <a:latin typeface="Inter"/>
              </a:rPr>
              <a:t>Data and findings all </a:t>
            </a:r>
          </a:p>
          <a:p>
            <a:pPr algn="ctr">
              <a:spcBef>
                <a:spcPts val="100"/>
              </a:spcBef>
            </a:pPr>
            <a:r>
              <a:rPr lang="en-US" sz="780" b="0" i="0" dirty="0">
                <a:solidFill>
                  <a:srgbClr val="9AA3B2"/>
                </a:solidFill>
                <a:latin typeface="Inter"/>
              </a:rPr>
              <a:t>over the web and open-sourced. </a:t>
            </a:r>
            <a:endParaRPr sz="780" b="0" i="0" dirty="0">
              <a:solidFill>
                <a:srgbClr val="9AA3B2"/>
              </a:solidFill>
              <a:latin typeface="Inter"/>
            </a:endParaRPr>
          </a:p>
        </p:txBody>
      </p:sp>
      <p:sp>
        <p:nvSpPr>
          <p:cNvPr id="23" name="Rounded Rectangle 22"/>
          <p:cNvSpPr/>
          <p:nvPr/>
        </p:nvSpPr>
        <p:spPr>
          <a:xfrm>
            <a:off x="521208" y="4233672"/>
            <a:ext cx="2103120" cy="84124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 y="4233672"/>
            <a:ext cx="1847087" cy="487923"/>
          </a:xfrm>
          <a:prstGeom prst="rect">
            <a:avLst/>
          </a:prstGeom>
          <a:noFill/>
        </p:spPr>
        <p:txBody>
          <a:bodyPr wrap="square" lIns="0" tIns="0" rIns="0" bIns="0" anchor="b">
            <a:spAutoFit/>
          </a:bodyPr>
          <a:lstStyle/>
          <a:p>
            <a:pPr algn="l">
              <a:lnSpc>
                <a:spcPct val="118000"/>
              </a:lnSpc>
            </a:pPr>
            <a:r>
              <a:rPr sz="2000" b="1" i="0">
                <a:solidFill>
                  <a:srgbClr val="22C55E"/>
                </a:solidFill>
                <a:latin typeface="JetBrains Mono"/>
              </a:rPr>
              <a:t>24</a:t>
            </a:r>
          </a:p>
        </p:txBody>
      </p:sp>
      <p:sp>
        <p:nvSpPr>
          <p:cNvPr id="25" name="TextBox 24"/>
          <p:cNvSpPr txBox="1"/>
          <p:nvPr/>
        </p:nvSpPr>
        <p:spPr>
          <a:xfrm>
            <a:off x="649224" y="4721595"/>
            <a:ext cx="1847087" cy="336499"/>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wards scored</a:t>
            </a:r>
          </a:p>
        </p:txBody>
      </p:sp>
      <p:sp>
        <p:nvSpPr>
          <p:cNvPr id="26" name="Rounded Rectangle 25"/>
          <p:cNvSpPr/>
          <p:nvPr/>
        </p:nvSpPr>
        <p:spPr>
          <a:xfrm>
            <a:off x="2770632" y="4233672"/>
            <a:ext cx="2103120" cy="84124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98648" y="4233672"/>
            <a:ext cx="1847087" cy="487923"/>
          </a:xfrm>
          <a:prstGeom prst="rect">
            <a:avLst/>
          </a:prstGeom>
          <a:noFill/>
        </p:spPr>
        <p:txBody>
          <a:bodyPr wrap="square" lIns="0" tIns="0" rIns="0" bIns="0" anchor="b">
            <a:spAutoFit/>
          </a:bodyPr>
          <a:lstStyle/>
          <a:p>
            <a:pPr algn="l">
              <a:lnSpc>
                <a:spcPct val="118000"/>
              </a:lnSpc>
            </a:pPr>
            <a:r>
              <a:rPr sz="2000" b="1" i="0">
                <a:solidFill>
                  <a:srgbClr val="22C55E"/>
                </a:solidFill>
                <a:latin typeface="JetBrains Mono"/>
              </a:rPr>
              <a:t>541</a:t>
            </a:r>
          </a:p>
        </p:txBody>
      </p:sp>
      <p:sp>
        <p:nvSpPr>
          <p:cNvPr id="28" name="TextBox 27"/>
          <p:cNvSpPr txBox="1"/>
          <p:nvPr/>
        </p:nvSpPr>
        <p:spPr>
          <a:xfrm>
            <a:off x="2898648" y="4721595"/>
            <a:ext cx="1847087" cy="336499"/>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squares measured</a:t>
            </a:r>
          </a:p>
        </p:txBody>
      </p:sp>
      <p:sp>
        <p:nvSpPr>
          <p:cNvPr id="29" name="Rounded Rectangle 28"/>
          <p:cNvSpPr/>
          <p:nvPr/>
        </p:nvSpPr>
        <p:spPr>
          <a:xfrm>
            <a:off x="5020056" y="4233672"/>
            <a:ext cx="2103120" cy="84124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48071" y="4233672"/>
            <a:ext cx="1847087" cy="487923"/>
          </a:xfrm>
          <a:prstGeom prst="rect">
            <a:avLst/>
          </a:prstGeom>
          <a:noFill/>
        </p:spPr>
        <p:txBody>
          <a:bodyPr wrap="square" lIns="0" tIns="0" rIns="0" bIns="0" anchor="b">
            <a:spAutoFit/>
          </a:bodyPr>
          <a:lstStyle/>
          <a:p>
            <a:pPr algn="l">
              <a:lnSpc>
                <a:spcPct val="118000"/>
              </a:lnSpc>
            </a:pPr>
            <a:r>
              <a:rPr sz="2000" b="1" i="0">
                <a:solidFill>
                  <a:srgbClr val="22C55E"/>
                </a:solidFill>
                <a:latin typeface="JetBrains Mono"/>
              </a:rPr>
              <a:t>81</a:t>
            </a:r>
          </a:p>
        </p:txBody>
      </p:sp>
      <p:sp>
        <p:nvSpPr>
          <p:cNvPr id="31" name="TextBox 30"/>
          <p:cNvSpPr txBox="1"/>
          <p:nvPr/>
        </p:nvSpPr>
        <p:spPr>
          <a:xfrm>
            <a:off x="5148071" y="4721595"/>
            <a:ext cx="1847087" cy="336499"/>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suggestions made</a:t>
            </a:r>
          </a:p>
        </p:txBody>
      </p:sp>
      <p:sp>
        <p:nvSpPr>
          <p:cNvPr id="32" name="Rounded Rectangle 31"/>
          <p:cNvSpPr/>
          <p:nvPr/>
        </p:nvSpPr>
        <p:spPr>
          <a:xfrm>
            <a:off x="7269480" y="4233672"/>
            <a:ext cx="2103120" cy="84124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97496" y="4233672"/>
            <a:ext cx="1847087" cy="487923"/>
          </a:xfrm>
          <a:prstGeom prst="rect">
            <a:avLst/>
          </a:prstGeom>
          <a:noFill/>
        </p:spPr>
        <p:txBody>
          <a:bodyPr wrap="square" lIns="0" tIns="0" rIns="0" bIns="0" anchor="b">
            <a:spAutoFit/>
          </a:bodyPr>
          <a:lstStyle/>
          <a:p>
            <a:pPr algn="l">
              <a:lnSpc>
                <a:spcPct val="118000"/>
              </a:lnSpc>
            </a:pPr>
            <a:r>
              <a:rPr sz="2000" b="1" i="0">
                <a:solidFill>
                  <a:srgbClr val="22C55E"/>
                </a:solidFill>
                <a:latin typeface="JetBrains Mono"/>
              </a:rPr>
              <a:t>13</a:t>
            </a:r>
          </a:p>
        </p:txBody>
      </p:sp>
      <p:sp>
        <p:nvSpPr>
          <p:cNvPr id="34" name="TextBox 33"/>
          <p:cNvSpPr txBox="1"/>
          <p:nvPr/>
        </p:nvSpPr>
        <p:spPr>
          <a:xfrm>
            <a:off x="7397496" y="4721595"/>
            <a:ext cx="1847087" cy="336499"/>
          </a:xfrm>
          <a:prstGeom prst="rect">
            <a:avLst/>
          </a:prstGeom>
          <a:noFill/>
        </p:spPr>
        <p:txBody>
          <a:bodyPr wrap="square" lIns="0" tIns="0" rIns="0" bIns="0" anchor="t">
            <a:spAutoFit/>
          </a:bodyPr>
          <a:lstStyle/>
          <a:p>
            <a:pPr algn="l">
              <a:lnSpc>
                <a:spcPct val="110000"/>
              </a:lnSpc>
            </a:pPr>
            <a:r>
              <a:rPr sz="850" b="0" i="0" dirty="0">
                <a:solidFill>
                  <a:srgbClr val="9AA3B2"/>
                </a:solidFill>
                <a:latin typeface="Inter"/>
              </a:rPr>
              <a:t>processing steps</a:t>
            </a:r>
          </a:p>
        </p:txBody>
      </p:sp>
      <p:sp>
        <p:nvSpPr>
          <p:cNvPr id="35" name="Rounded Rectangle 34"/>
          <p:cNvSpPr/>
          <p:nvPr/>
        </p:nvSpPr>
        <p:spPr>
          <a:xfrm>
            <a:off x="9518904" y="4233672"/>
            <a:ext cx="2103120" cy="84124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46920" y="4233672"/>
            <a:ext cx="1847087" cy="487923"/>
          </a:xfrm>
          <a:prstGeom prst="rect">
            <a:avLst/>
          </a:prstGeom>
          <a:noFill/>
        </p:spPr>
        <p:txBody>
          <a:bodyPr wrap="square" lIns="0" tIns="0" rIns="0" bIns="0" anchor="b">
            <a:spAutoFit/>
          </a:bodyPr>
          <a:lstStyle/>
          <a:p>
            <a:pPr algn="l">
              <a:lnSpc>
                <a:spcPct val="118000"/>
              </a:lnSpc>
            </a:pPr>
            <a:r>
              <a:rPr sz="2000" b="1" i="0" dirty="0">
                <a:solidFill>
                  <a:srgbClr val="22C55E"/>
                </a:solidFill>
                <a:latin typeface="JetBrains Mono"/>
              </a:rPr>
              <a:t>11</a:t>
            </a:r>
          </a:p>
        </p:txBody>
      </p:sp>
      <p:sp>
        <p:nvSpPr>
          <p:cNvPr id="37" name="TextBox 36"/>
          <p:cNvSpPr txBox="1"/>
          <p:nvPr/>
        </p:nvSpPr>
        <p:spPr>
          <a:xfrm>
            <a:off x="9646920" y="4721595"/>
            <a:ext cx="1847087" cy="336499"/>
          </a:xfrm>
          <a:prstGeom prst="rect">
            <a:avLst/>
          </a:prstGeom>
          <a:noFill/>
        </p:spPr>
        <p:txBody>
          <a:bodyPr wrap="square" lIns="0" tIns="0" rIns="0" bIns="0" anchor="t">
            <a:spAutoFit/>
          </a:bodyPr>
          <a:lstStyle/>
          <a:p>
            <a:pPr algn="l">
              <a:lnSpc>
                <a:spcPct val="110000"/>
              </a:lnSpc>
            </a:pPr>
            <a:r>
              <a:rPr sz="850" b="0" i="0">
                <a:solidFill>
                  <a:srgbClr val="9AA3B2"/>
                </a:solidFill>
                <a:latin typeface="Inter"/>
              </a:rPr>
              <a:t>research papers used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05 · PROTOTYPE / SOLUTION DESIGN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The map: every ward in Mumbai, ranked by measured risk</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14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Ward boundaries: Datameet BMC_Wards. Basemap: CARTO and OpenStreetMap contributors. Ranking read from data/wards_hvi.geojson, computed by my own pipeline.</a:t>
            </a:r>
          </a:p>
        </p:txBody>
      </p:sp>
      <p:pic>
        <p:nvPicPr>
          <p:cNvPr id="9" name="Picture 8" descr="deck-dashboard-hvi-dark.png"/>
          <p:cNvPicPr>
            <a:picLocks noChangeAspect="1"/>
          </p:cNvPicPr>
          <p:nvPr/>
        </p:nvPicPr>
        <p:blipFill>
          <a:blip r:embed="rId4"/>
          <a:srcRect t="5500" r="10000"/>
          <a:stretch>
            <a:fillRect/>
          </a:stretch>
        </p:blipFill>
        <p:spPr>
          <a:xfrm>
            <a:off x="502920" y="1645920"/>
            <a:ext cx="7360920" cy="4019061"/>
          </a:xfrm>
          <a:prstGeom prst="rect">
            <a:avLst/>
          </a:prstGeom>
          <a:ln w="9525">
            <a:solidFill>
              <a:srgbClr val="2A3040"/>
            </a:solidFill>
          </a:ln>
        </p:spPr>
      </p:pic>
      <p:sp>
        <p:nvSpPr>
          <p:cNvPr id="10" name="TextBox 9"/>
          <p:cNvSpPr txBox="1"/>
          <p:nvPr/>
        </p:nvSpPr>
        <p:spPr>
          <a:xfrm>
            <a:off x="502920" y="5728989"/>
            <a:ext cx="7360920" cy="365760"/>
          </a:xfrm>
          <a:prstGeom prst="rect">
            <a:avLst/>
          </a:prstGeom>
          <a:noFill/>
        </p:spPr>
        <p:txBody>
          <a:bodyPr wrap="square" lIns="0" tIns="0" rIns="0" bIns="0" anchor="t">
            <a:spAutoFit/>
          </a:bodyPr>
          <a:lstStyle/>
          <a:p>
            <a:pPr algn="ctr">
              <a:lnSpc>
                <a:spcPct val="112000"/>
              </a:lnSpc>
            </a:pPr>
            <a:r>
              <a:rPr sz="819" b="0" i="0">
                <a:solidFill>
                  <a:srgbClr val="9AA3B2"/>
                </a:solidFill>
                <a:latin typeface="Inter"/>
              </a:rPr>
              <a:t>Darker means more at risk. The list beside it is the same information, ranked.</a:t>
            </a:r>
          </a:p>
        </p:txBody>
      </p:sp>
      <p:sp>
        <p:nvSpPr>
          <p:cNvPr id="11" name="TextBox 10"/>
          <p:cNvSpPr txBox="1"/>
          <p:nvPr/>
        </p:nvSpPr>
        <p:spPr>
          <a:xfrm>
            <a:off x="8156448" y="1645920"/>
            <a:ext cx="36576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The five highest ranked wards</a:t>
            </a:r>
          </a:p>
        </p:txBody>
      </p:sp>
      <p:sp>
        <p:nvSpPr>
          <p:cNvPr id="12" name="Rounded Rectangle 11"/>
          <p:cNvSpPr/>
          <p:nvPr/>
        </p:nvSpPr>
        <p:spPr>
          <a:xfrm>
            <a:off x="8156448" y="1956816"/>
            <a:ext cx="3529584" cy="4754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956816"/>
            <a:ext cx="274320" cy="475488"/>
          </a:xfrm>
          <a:prstGeom prst="rect">
            <a:avLst/>
          </a:prstGeom>
          <a:noFill/>
        </p:spPr>
        <p:txBody>
          <a:bodyPr wrap="square" lIns="0" tIns="0" rIns="0" bIns="0" anchor="ctr">
            <a:spAutoFit/>
          </a:bodyPr>
          <a:lstStyle/>
          <a:p>
            <a:pPr algn="l">
              <a:lnSpc>
                <a:spcPct val="118000"/>
              </a:lnSpc>
            </a:pPr>
            <a:r>
              <a:rPr sz="1100" b="0" i="0">
                <a:solidFill>
                  <a:srgbClr val="9AA3B2"/>
                </a:solidFill>
                <a:latin typeface="JetBrains Mono"/>
              </a:rPr>
              <a:t>1</a:t>
            </a:r>
          </a:p>
        </p:txBody>
      </p:sp>
      <p:sp>
        <p:nvSpPr>
          <p:cNvPr id="14" name="TextBox 13"/>
          <p:cNvSpPr txBox="1"/>
          <p:nvPr/>
        </p:nvSpPr>
        <p:spPr>
          <a:xfrm>
            <a:off x="8613648" y="1956816"/>
            <a:ext cx="1188720" cy="475488"/>
          </a:xfrm>
          <a:prstGeom prst="rect">
            <a:avLst/>
          </a:prstGeom>
          <a:noFill/>
        </p:spPr>
        <p:txBody>
          <a:bodyPr wrap="square" lIns="0" tIns="0" rIns="0" bIns="0" anchor="ctr">
            <a:spAutoFit/>
          </a:bodyPr>
          <a:lstStyle/>
          <a:p>
            <a:pPr algn="l">
              <a:lnSpc>
                <a:spcPct val="118000"/>
              </a:lnSpc>
            </a:pPr>
            <a:r>
              <a:rPr sz="1150" b="1" i="0">
                <a:solidFill>
                  <a:srgbClr val="FFFFFF"/>
                </a:solidFill>
                <a:latin typeface="Inter"/>
              </a:rPr>
              <a:t>Ward C</a:t>
            </a:r>
          </a:p>
        </p:txBody>
      </p:sp>
      <p:sp>
        <p:nvSpPr>
          <p:cNvPr id="15" name="TextBox 14"/>
          <p:cNvSpPr txBox="1"/>
          <p:nvPr/>
        </p:nvSpPr>
        <p:spPr>
          <a:xfrm>
            <a:off x="9710928" y="1956816"/>
            <a:ext cx="1417320" cy="475488"/>
          </a:xfrm>
          <a:prstGeom prst="rect">
            <a:avLst/>
          </a:prstGeom>
          <a:noFill/>
        </p:spPr>
        <p:txBody>
          <a:bodyPr wrap="square" lIns="0" tIns="0" rIns="0" bIns="0" anchor="ctr">
            <a:spAutoFit/>
          </a:bodyPr>
          <a:lstStyle/>
          <a:p>
            <a:pPr algn="l">
              <a:lnSpc>
                <a:spcPct val="118000"/>
              </a:lnSpc>
            </a:pPr>
            <a:r>
              <a:rPr sz="819" b="0" i="0">
                <a:solidFill>
                  <a:srgbClr val="9AA3B2"/>
                </a:solidFill>
                <a:latin typeface="Inter"/>
              </a:rPr>
              <a:t>Marine Lines, Kalbadevi</a:t>
            </a:r>
          </a:p>
        </p:txBody>
      </p:sp>
      <p:sp>
        <p:nvSpPr>
          <p:cNvPr id="16" name="TextBox 15"/>
          <p:cNvSpPr txBox="1"/>
          <p:nvPr/>
        </p:nvSpPr>
        <p:spPr>
          <a:xfrm>
            <a:off x="10954512" y="1956816"/>
            <a:ext cx="603504" cy="475488"/>
          </a:xfrm>
          <a:prstGeom prst="rect">
            <a:avLst/>
          </a:prstGeom>
          <a:noFill/>
        </p:spPr>
        <p:txBody>
          <a:bodyPr wrap="square" lIns="0" tIns="0" rIns="0" bIns="0" anchor="ctr">
            <a:spAutoFit/>
          </a:bodyPr>
          <a:lstStyle/>
          <a:p>
            <a:pPr algn="r">
              <a:lnSpc>
                <a:spcPct val="118000"/>
              </a:lnSpc>
            </a:pPr>
            <a:r>
              <a:rPr sz="1150" b="1" i="0">
                <a:solidFill>
                  <a:srgbClr val="E4572E"/>
                </a:solidFill>
                <a:latin typeface="JetBrains Mono"/>
              </a:rPr>
              <a:t>74</a:t>
            </a:r>
          </a:p>
        </p:txBody>
      </p:sp>
      <p:sp>
        <p:nvSpPr>
          <p:cNvPr id="17" name="Rounded Rectangle 16"/>
          <p:cNvSpPr/>
          <p:nvPr/>
        </p:nvSpPr>
        <p:spPr>
          <a:xfrm>
            <a:off x="8156448" y="2505456"/>
            <a:ext cx="3529584" cy="4754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505456"/>
            <a:ext cx="274320" cy="475488"/>
          </a:xfrm>
          <a:prstGeom prst="rect">
            <a:avLst/>
          </a:prstGeom>
          <a:noFill/>
        </p:spPr>
        <p:txBody>
          <a:bodyPr wrap="square" lIns="0" tIns="0" rIns="0" bIns="0" anchor="ctr">
            <a:spAutoFit/>
          </a:bodyPr>
          <a:lstStyle/>
          <a:p>
            <a:pPr algn="l">
              <a:lnSpc>
                <a:spcPct val="118000"/>
              </a:lnSpc>
            </a:pPr>
            <a:r>
              <a:rPr sz="1100" b="0" i="0">
                <a:solidFill>
                  <a:srgbClr val="9AA3B2"/>
                </a:solidFill>
                <a:latin typeface="JetBrains Mono"/>
              </a:rPr>
              <a:t>2</a:t>
            </a:r>
          </a:p>
        </p:txBody>
      </p:sp>
      <p:sp>
        <p:nvSpPr>
          <p:cNvPr id="19" name="TextBox 18"/>
          <p:cNvSpPr txBox="1"/>
          <p:nvPr/>
        </p:nvSpPr>
        <p:spPr>
          <a:xfrm>
            <a:off x="8613648" y="2505456"/>
            <a:ext cx="1188720" cy="475488"/>
          </a:xfrm>
          <a:prstGeom prst="rect">
            <a:avLst/>
          </a:prstGeom>
          <a:noFill/>
        </p:spPr>
        <p:txBody>
          <a:bodyPr wrap="square" lIns="0" tIns="0" rIns="0" bIns="0" anchor="ctr">
            <a:spAutoFit/>
          </a:bodyPr>
          <a:lstStyle/>
          <a:p>
            <a:pPr algn="l">
              <a:lnSpc>
                <a:spcPct val="118000"/>
              </a:lnSpc>
            </a:pPr>
            <a:r>
              <a:rPr sz="1150" b="1" i="0">
                <a:solidFill>
                  <a:srgbClr val="FFFFFF"/>
                </a:solidFill>
                <a:latin typeface="Inter"/>
              </a:rPr>
              <a:t>Ward G/N</a:t>
            </a:r>
          </a:p>
        </p:txBody>
      </p:sp>
      <p:sp>
        <p:nvSpPr>
          <p:cNvPr id="20" name="TextBox 19"/>
          <p:cNvSpPr txBox="1"/>
          <p:nvPr/>
        </p:nvSpPr>
        <p:spPr>
          <a:xfrm>
            <a:off x="9710928" y="2505456"/>
            <a:ext cx="1417320" cy="475488"/>
          </a:xfrm>
          <a:prstGeom prst="rect">
            <a:avLst/>
          </a:prstGeom>
          <a:noFill/>
        </p:spPr>
        <p:txBody>
          <a:bodyPr wrap="square" lIns="0" tIns="0" rIns="0" bIns="0" anchor="ctr">
            <a:spAutoFit/>
          </a:bodyPr>
          <a:lstStyle/>
          <a:p>
            <a:pPr algn="l">
              <a:lnSpc>
                <a:spcPct val="118000"/>
              </a:lnSpc>
            </a:pPr>
            <a:r>
              <a:rPr sz="819" b="0" i="0">
                <a:solidFill>
                  <a:srgbClr val="9AA3B2"/>
                </a:solidFill>
                <a:latin typeface="Inter"/>
              </a:rPr>
              <a:t>Dadar, Mahim, Dharavi</a:t>
            </a:r>
          </a:p>
        </p:txBody>
      </p:sp>
      <p:sp>
        <p:nvSpPr>
          <p:cNvPr id="21" name="TextBox 20"/>
          <p:cNvSpPr txBox="1"/>
          <p:nvPr/>
        </p:nvSpPr>
        <p:spPr>
          <a:xfrm>
            <a:off x="10954512" y="2505456"/>
            <a:ext cx="603504" cy="475488"/>
          </a:xfrm>
          <a:prstGeom prst="rect">
            <a:avLst/>
          </a:prstGeom>
          <a:noFill/>
        </p:spPr>
        <p:txBody>
          <a:bodyPr wrap="square" lIns="0" tIns="0" rIns="0" bIns="0" anchor="ctr">
            <a:spAutoFit/>
          </a:bodyPr>
          <a:lstStyle/>
          <a:p>
            <a:pPr algn="r">
              <a:lnSpc>
                <a:spcPct val="118000"/>
              </a:lnSpc>
            </a:pPr>
            <a:r>
              <a:rPr sz="1150" b="1" i="0">
                <a:solidFill>
                  <a:srgbClr val="E4572E"/>
                </a:solidFill>
                <a:latin typeface="JetBrains Mono"/>
              </a:rPr>
              <a:t>70</a:t>
            </a:r>
          </a:p>
        </p:txBody>
      </p:sp>
      <p:sp>
        <p:nvSpPr>
          <p:cNvPr id="22" name="Rounded Rectangle 21"/>
          <p:cNvSpPr/>
          <p:nvPr/>
        </p:nvSpPr>
        <p:spPr>
          <a:xfrm>
            <a:off x="8156448" y="3054096"/>
            <a:ext cx="3529584" cy="4754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02752" y="3054096"/>
            <a:ext cx="274320" cy="475488"/>
          </a:xfrm>
          <a:prstGeom prst="rect">
            <a:avLst/>
          </a:prstGeom>
          <a:noFill/>
        </p:spPr>
        <p:txBody>
          <a:bodyPr wrap="square" lIns="0" tIns="0" rIns="0" bIns="0" anchor="ctr">
            <a:spAutoFit/>
          </a:bodyPr>
          <a:lstStyle/>
          <a:p>
            <a:pPr algn="l">
              <a:lnSpc>
                <a:spcPct val="118000"/>
              </a:lnSpc>
            </a:pPr>
            <a:r>
              <a:rPr sz="1100" b="0" i="0">
                <a:solidFill>
                  <a:srgbClr val="9AA3B2"/>
                </a:solidFill>
                <a:latin typeface="JetBrains Mono"/>
              </a:rPr>
              <a:t>3</a:t>
            </a:r>
          </a:p>
        </p:txBody>
      </p:sp>
      <p:sp>
        <p:nvSpPr>
          <p:cNvPr id="24" name="TextBox 23"/>
          <p:cNvSpPr txBox="1"/>
          <p:nvPr/>
        </p:nvSpPr>
        <p:spPr>
          <a:xfrm>
            <a:off x="8613648" y="3054096"/>
            <a:ext cx="1188720" cy="475488"/>
          </a:xfrm>
          <a:prstGeom prst="rect">
            <a:avLst/>
          </a:prstGeom>
          <a:noFill/>
        </p:spPr>
        <p:txBody>
          <a:bodyPr wrap="square" lIns="0" tIns="0" rIns="0" bIns="0" anchor="ctr">
            <a:spAutoFit/>
          </a:bodyPr>
          <a:lstStyle/>
          <a:p>
            <a:pPr algn="l">
              <a:lnSpc>
                <a:spcPct val="118000"/>
              </a:lnSpc>
            </a:pPr>
            <a:r>
              <a:rPr sz="1150" b="1" i="0">
                <a:solidFill>
                  <a:srgbClr val="FFFFFF"/>
                </a:solidFill>
                <a:latin typeface="Inter"/>
              </a:rPr>
              <a:t>Ward L</a:t>
            </a:r>
          </a:p>
        </p:txBody>
      </p:sp>
      <p:sp>
        <p:nvSpPr>
          <p:cNvPr id="25" name="TextBox 24"/>
          <p:cNvSpPr txBox="1"/>
          <p:nvPr/>
        </p:nvSpPr>
        <p:spPr>
          <a:xfrm>
            <a:off x="9710928" y="3054096"/>
            <a:ext cx="1417320" cy="475488"/>
          </a:xfrm>
          <a:prstGeom prst="rect">
            <a:avLst/>
          </a:prstGeom>
          <a:noFill/>
        </p:spPr>
        <p:txBody>
          <a:bodyPr wrap="square" lIns="0" tIns="0" rIns="0" bIns="0" anchor="ctr">
            <a:spAutoFit/>
          </a:bodyPr>
          <a:lstStyle/>
          <a:p>
            <a:pPr algn="l">
              <a:lnSpc>
                <a:spcPct val="118000"/>
              </a:lnSpc>
            </a:pPr>
            <a:r>
              <a:rPr sz="819" b="0" i="0">
                <a:solidFill>
                  <a:srgbClr val="9AA3B2"/>
                </a:solidFill>
                <a:latin typeface="Inter"/>
              </a:rPr>
              <a:t>Kurla</a:t>
            </a:r>
          </a:p>
        </p:txBody>
      </p:sp>
      <p:sp>
        <p:nvSpPr>
          <p:cNvPr id="26" name="TextBox 25"/>
          <p:cNvSpPr txBox="1"/>
          <p:nvPr/>
        </p:nvSpPr>
        <p:spPr>
          <a:xfrm>
            <a:off x="10954512" y="3054096"/>
            <a:ext cx="603504" cy="475488"/>
          </a:xfrm>
          <a:prstGeom prst="rect">
            <a:avLst/>
          </a:prstGeom>
          <a:noFill/>
        </p:spPr>
        <p:txBody>
          <a:bodyPr wrap="square" lIns="0" tIns="0" rIns="0" bIns="0" anchor="ctr">
            <a:spAutoFit/>
          </a:bodyPr>
          <a:lstStyle/>
          <a:p>
            <a:pPr algn="r">
              <a:lnSpc>
                <a:spcPct val="118000"/>
              </a:lnSpc>
            </a:pPr>
            <a:r>
              <a:rPr sz="1150" b="1" i="0">
                <a:solidFill>
                  <a:srgbClr val="E4572E"/>
                </a:solidFill>
                <a:latin typeface="JetBrains Mono"/>
              </a:rPr>
              <a:t>66</a:t>
            </a:r>
          </a:p>
        </p:txBody>
      </p:sp>
      <p:sp>
        <p:nvSpPr>
          <p:cNvPr id="27" name="Rounded Rectangle 26"/>
          <p:cNvSpPr/>
          <p:nvPr/>
        </p:nvSpPr>
        <p:spPr>
          <a:xfrm>
            <a:off x="8156448" y="3602736"/>
            <a:ext cx="3529584" cy="4754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02752" y="3602736"/>
            <a:ext cx="274320" cy="475488"/>
          </a:xfrm>
          <a:prstGeom prst="rect">
            <a:avLst/>
          </a:prstGeom>
          <a:noFill/>
        </p:spPr>
        <p:txBody>
          <a:bodyPr wrap="square" lIns="0" tIns="0" rIns="0" bIns="0" anchor="ctr">
            <a:spAutoFit/>
          </a:bodyPr>
          <a:lstStyle/>
          <a:p>
            <a:pPr algn="l">
              <a:lnSpc>
                <a:spcPct val="118000"/>
              </a:lnSpc>
            </a:pPr>
            <a:r>
              <a:rPr sz="1100" b="0" i="0">
                <a:solidFill>
                  <a:srgbClr val="9AA3B2"/>
                </a:solidFill>
                <a:latin typeface="JetBrains Mono"/>
              </a:rPr>
              <a:t>4</a:t>
            </a:r>
          </a:p>
        </p:txBody>
      </p:sp>
      <p:sp>
        <p:nvSpPr>
          <p:cNvPr id="29" name="TextBox 28"/>
          <p:cNvSpPr txBox="1"/>
          <p:nvPr/>
        </p:nvSpPr>
        <p:spPr>
          <a:xfrm>
            <a:off x="8613648" y="3602736"/>
            <a:ext cx="1188720" cy="475488"/>
          </a:xfrm>
          <a:prstGeom prst="rect">
            <a:avLst/>
          </a:prstGeom>
          <a:noFill/>
        </p:spPr>
        <p:txBody>
          <a:bodyPr wrap="square" lIns="0" tIns="0" rIns="0" bIns="0" anchor="ctr">
            <a:spAutoFit/>
          </a:bodyPr>
          <a:lstStyle/>
          <a:p>
            <a:pPr algn="l">
              <a:lnSpc>
                <a:spcPct val="118000"/>
              </a:lnSpc>
            </a:pPr>
            <a:r>
              <a:rPr sz="1150" b="1" i="0">
                <a:solidFill>
                  <a:srgbClr val="FFFFFF"/>
                </a:solidFill>
                <a:latin typeface="Inter"/>
              </a:rPr>
              <a:t>Ward E</a:t>
            </a:r>
          </a:p>
        </p:txBody>
      </p:sp>
      <p:sp>
        <p:nvSpPr>
          <p:cNvPr id="30" name="TextBox 29"/>
          <p:cNvSpPr txBox="1"/>
          <p:nvPr/>
        </p:nvSpPr>
        <p:spPr>
          <a:xfrm>
            <a:off x="9710928" y="3602736"/>
            <a:ext cx="1417320" cy="475488"/>
          </a:xfrm>
          <a:prstGeom prst="rect">
            <a:avLst/>
          </a:prstGeom>
          <a:noFill/>
        </p:spPr>
        <p:txBody>
          <a:bodyPr wrap="square" lIns="0" tIns="0" rIns="0" bIns="0" anchor="ctr">
            <a:spAutoFit/>
          </a:bodyPr>
          <a:lstStyle/>
          <a:p>
            <a:pPr algn="l">
              <a:lnSpc>
                <a:spcPct val="118000"/>
              </a:lnSpc>
            </a:pPr>
            <a:r>
              <a:rPr sz="819" b="0" i="0">
                <a:solidFill>
                  <a:srgbClr val="9AA3B2"/>
                </a:solidFill>
                <a:latin typeface="Inter"/>
              </a:rPr>
              <a:t>Byculla, Mazgaon</a:t>
            </a:r>
          </a:p>
        </p:txBody>
      </p:sp>
      <p:sp>
        <p:nvSpPr>
          <p:cNvPr id="31" name="TextBox 30"/>
          <p:cNvSpPr txBox="1"/>
          <p:nvPr/>
        </p:nvSpPr>
        <p:spPr>
          <a:xfrm>
            <a:off x="10954512" y="3602736"/>
            <a:ext cx="603504" cy="475488"/>
          </a:xfrm>
          <a:prstGeom prst="rect">
            <a:avLst/>
          </a:prstGeom>
          <a:noFill/>
        </p:spPr>
        <p:txBody>
          <a:bodyPr wrap="square" lIns="0" tIns="0" rIns="0" bIns="0" anchor="ctr">
            <a:spAutoFit/>
          </a:bodyPr>
          <a:lstStyle/>
          <a:p>
            <a:pPr algn="r">
              <a:lnSpc>
                <a:spcPct val="118000"/>
              </a:lnSpc>
            </a:pPr>
            <a:r>
              <a:rPr sz="1150" b="1" i="0">
                <a:solidFill>
                  <a:srgbClr val="E4572E"/>
                </a:solidFill>
                <a:latin typeface="JetBrains Mono"/>
              </a:rPr>
              <a:t>65</a:t>
            </a:r>
          </a:p>
        </p:txBody>
      </p:sp>
      <p:sp>
        <p:nvSpPr>
          <p:cNvPr id="32" name="Rounded Rectangle 31"/>
          <p:cNvSpPr/>
          <p:nvPr/>
        </p:nvSpPr>
        <p:spPr>
          <a:xfrm>
            <a:off x="8156448" y="4151376"/>
            <a:ext cx="3529584" cy="4754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4151376"/>
            <a:ext cx="274320" cy="475488"/>
          </a:xfrm>
          <a:prstGeom prst="rect">
            <a:avLst/>
          </a:prstGeom>
          <a:noFill/>
        </p:spPr>
        <p:txBody>
          <a:bodyPr wrap="square" lIns="0" tIns="0" rIns="0" bIns="0" anchor="ctr">
            <a:spAutoFit/>
          </a:bodyPr>
          <a:lstStyle/>
          <a:p>
            <a:pPr algn="l">
              <a:lnSpc>
                <a:spcPct val="118000"/>
              </a:lnSpc>
            </a:pPr>
            <a:r>
              <a:rPr sz="1100" b="0" i="0">
                <a:solidFill>
                  <a:srgbClr val="9AA3B2"/>
                </a:solidFill>
                <a:latin typeface="JetBrains Mono"/>
              </a:rPr>
              <a:t>5</a:t>
            </a:r>
          </a:p>
        </p:txBody>
      </p:sp>
      <p:sp>
        <p:nvSpPr>
          <p:cNvPr id="34" name="TextBox 33"/>
          <p:cNvSpPr txBox="1"/>
          <p:nvPr/>
        </p:nvSpPr>
        <p:spPr>
          <a:xfrm>
            <a:off x="8613648" y="4151376"/>
            <a:ext cx="1188720" cy="475488"/>
          </a:xfrm>
          <a:prstGeom prst="rect">
            <a:avLst/>
          </a:prstGeom>
          <a:noFill/>
        </p:spPr>
        <p:txBody>
          <a:bodyPr wrap="square" lIns="0" tIns="0" rIns="0" bIns="0" anchor="ctr">
            <a:spAutoFit/>
          </a:bodyPr>
          <a:lstStyle/>
          <a:p>
            <a:pPr algn="l">
              <a:lnSpc>
                <a:spcPct val="118000"/>
              </a:lnSpc>
            </a:pPr>
            <a:r>
              <a:rPr sz="1150" b="1" i="0">
                <a:solidFill>
                  <a:srgbClr val="FFFFFF"/>
                </a:solidFill>
                <a:latin typeface="Inter"/>
              </a:rPr>
              <a:t>Ward F/S</a:t>
            </a:r>
          </a:p>
        </p:txBody>
      </p:sp>
      <p:sp>
        <p:nvSpPr>
          <p:cNvPr id="35" name="TextBox 34"/>
          <p:cNvSpPr txBox="1"/>
          <p:nvPr/>
        </p:nvSpPr>
        <p:spPr>
          <a:xfrm>
            <a:off x="9710928" y="4151376"/>
            <a:ext cx="1417320" cy="475488"/>
          </a:xfrm>
          <a:prstGeom prst="rect">
            <a:avLst/>
          </a:prstGeom>
          <a:noFill/>
        </p:spPr>
        <p:txBody>
          <a:bodyPr wrap="square" lIns="0" tIns="0" rIns="0" bIns="0" anchor="ctr">
            <a:spAutoFit/>
          </a:bodyPr>
          <a:lstStyle/>
          <a:p>
            <a:pPr algn="l">
              <a:lnSpc>
                <a:spcPct val="118000"/>
              </a:lnSpc>
            </a:pPr>
            <a:r>
              <a:rPr sz="819" b="0" i="0">
                <a:solidFill>
                  <a:srgbClr val="9AA3B2"/>
                </a:solidFill>
                <a:latin typeface="Inter"/>
              </a:rPr>
              <a:t>Parel, Lalbaug, Sewri</a:t>
            </a:r>
          </a:p>
        </p:txBody>
      </p:sp>
      <p:sp>
        <p:nvSpPr>
          <p:cNvPr id="36" name="TextBox 35"/>
          <p:cNvSpPr txBox="1"/>
          <p:nvPr/>
        </p:nvSpPr>
        <p:spPr>
          <a:xfrm>
            <a:off x="10954512" y="4151376"/>
            <a:ext cx="603504" cy="475488"/>
          </a:xfrm>
          <a:prstGeom prst="rect">
            <a:avLst/>
          </a:prstGeom>
          <a:noFill/>
        </p:spPr>
        <p:txBody>
          <a:bodyPr wrap="square" lIns="0" tIns="0" rIns="0" bIns="0" anchor="ctr">
            <a:spAutoFit/>
          </a:bodyPr>
          <a:lstStyle/>
          <a:p>
            <a:pPr algn="r">
              <a:lnSpc>
                <a:spcPct val="118000"/>
              </a:lnSpc>
            </a:pPr>
            <a:r>
              <a:rPr sz="1150" b="1" i="0">
                <a:solidFill>
                  <a:srgbClr val="E4572E"/>
                </a:solidFill>
                <a:latin typeface="JetBrains Mono"/>
              </a:rPr>
              <a:t>65</a:t>
            </a:r>
          </a:p>
        </p:txBody>
      </p:sp>
      <p:sp>
        <p:nvSpPr>
          <p:cNvPr id="37" name="Rounded Rectangle 36"/>
          <p:cNvSpPr/>
          <p:nvPr/>
        </p:nvSpPr>
        <p:spPr>
          <a:xfrm>
            <a:off x="8156448" y="4754880"/>
            <a:ext cx="3529584" cy="93268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94192" y="4864608"/>
            <a:ext cx="3072384" cy="512064"/>
          </a:xfrm>
          <a:prstGeom prst="rect">
            <a:avLst/>
          </a:prstGeom>
          <a:noFill/>
        </p:spPr>
        <p:txBody>
          <a:bodyPr wrap="square" lIns="0" tIns="0" rIns="0" bIns="0" anchor="t">
            <a:spAutoFit/>
          </a:bodyPr>
          <a:lstStyle/>
          <a:p>
            <a:pPr algn="l">
              <a:lnSpc>
                <a:spcPct val="120000"/>
              </a:lnSpc>
            </a:pPr>
            <a:r>
              <a:rPr sz="930" b="0" i="0">
                <a:solidFill>
                  <a:srgbClr val="9AA3B2"/>
                </a:solidFill>
                <a:latin typeface="Inter"/>
              </a:rPr>
              <a:t>You can search by the name people actually use. Type Dharavi and it finds the right ward. Every ward has its own web link you can send to someone.</a:t>
            </a:r>
          </a:p>
        </p:txBody>
      </p:sp>
      <p:sp>
        <p:nvSpPr>
          <p:cNvPr id="39" name="TextBox 38"/>
          <p:cNvSpPr txBox="1"/>
          <p:nvPr/>
        </p:nvSpPr>
        <p:spPr>
          <a:xfrm>
            <a:off x="8394192" y="5394960"/>
            <a:ext cx="3072384" cy="219456"/>
          </a:xfrm>
          <a:prstGeom prst="rect">
            <a:avLst/>
          </a:prstGeom>
          <a:noFill/>
        </p:spPr>
        <p:txBody>
          <a:bodyPr wrap="square" lIns="0" tIns="0" rIns="0" bIns="0" anchor="t">
            <a:spAutoFit/>
          </a:bodyPr>
          <a:lstStyle/>
          <a:p>
            <a:pPr algn="l">
              <a:lnSpc>
                <a:spcPct val="118000"/>
              </a:lnSpc>
            </a:pPr>
            <a:r>
              <a:rPr sz="950" b="0" i="0">
                <a:solidFill>
                  <a:srgbClr val="0EA5B3"/>
                </a:solidFill>
                <a:latin typeface="JetBrains Mono"/>
              </a:rPr>
              <a:t>ucip-eight.vercel.app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05 · PROTOTYPE / SOLUTION DESIGN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Click one ward, and it explains itself</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15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Screenshot of the live site. The contribution bars are computed from the same weights and standardised values as the score itself, computed by my own pipeline.</a:t>
            </a:r>
          </a:p>
        </p:txBody>
      </p:sp>
      <p:pic>
        <p:nvPicPr>
          <p:cNvPr id="9" name="Picture 8" descr="deck-ward-c-dark.png"/>
          <p:cNvPicPr>
            <a:picLocks noChangeAspect="1"/>
          </p:cNvPicPr>
          <p:nvPr/>
        </p:nvPicPr>
        <p:blipFill>
          <a:blip r:embed="rId4"/>
          <a:srcRect l="75200" t="5500" r="500"/>
          <a:stretch>
            <a:fillRect/>
          </a:stretch>
        </p:blipFill>
        <p:spPr>
          <a:xfrm>
            <a:off x="2841171" y="1645920"/>
            <a:ext cx="1998617" cy="4041648"/>
          </a:xfrm>
          <a:prstGeom prst="rect">
            <a:avLst/>
          </a:prstGeom>
          <a:ln w="9525">
            <a:solidFill>
              <a:srgbClr val="2A3040"/>
            </a:solidFill>
          </a:ln>
        </p:spPr>
      </p:pic>
      <p:sp>
        <p:nvSpPr>
          <p:cNvPr id="10" name="TextBox 9"/>
          <p:cNvSpPr txBox="1"/>
          <p:nvPr/>
        </p:nvSpPr>
        <p:spPr>
          <a:xfrm>
            <a:off x="2841171" y="5751576"/>
            <a:ext cx="1998617" cy="365760"/>
          </a:xfrm>
          <a:prstGeom prst="rect">
            <a:avLst/>
          </a:prstGeom>
          <a:noFill/>
        </p:spPr>
        <p:txBody>
          <a:bodyPr wrap="square" lIns="0" tIns="0" rIns="0" bIns="0" anchor="t">
            <a:spAutoFit/>
          </a:bodyPr>
          <a:lstStyle/>
          <a:p>
            <a:pPr algn="ctr">
              <a:lnSpc>
                <a:spcPct val="112000"/>
              </a:lnSpc>
            </a:pPr>
            <a:r>
              <a:rPr sz="819" b="0" i="0">
                <a:solidFill>
                  <a:srgbClr val="9AA3B2"/>
                </a:solidFill>
                <a:latin typeface="Inter"/>
              </a:rPr>
              <a:t>Every number here is looked up, not generated.</a:t>
            </a:r>
          </a:p>
        </p:txBody>
      </p:sp>
      <p:sp>
        <p:nvSpPr>
          <p:cNvPr id="11" name="Rounded Rectangle 10"/>
          <p:cNvSpPr/>
          <p:nvPr/>
        </p:nvSpPr>
        <p:spPr>
          <a:xfrm>
            <a:off x="7498079" y="1645920"/>
            <a:ext cx="4187952" cy="148132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59" y="1773936"/>
            <a:ext cx="3822191" cy="274320"/>
          </a:xfrm>
          <a:prstGeom prst="rect">
            <a:avLst/>
          </a:prstGeom>
          <a:noFill/>
        </p:spPr>
        <p:txBody>
          <a:bodyPr wrap="square" lIns="0" tIns="0" rIns="0" bIns="0" anchor="t">
            <a:spAutoFit/>
          </a:bodyPr>
          <a:lstStyle/>
          <a:p>
            <a:r>
              <a:rPr sz="1250" b="1" i="0">
                <a:solidFill>
                  <a:srgbClr val="22C55E"/>
                </a:solidFill>
                <a:latin typeface="Inter"/>
              </a:rPr>
              <a:t>● </a:t>
            </a:r>
            <a:r>
              <a:rPr sz="1250" b="1" i="0">
                <a:solidFill>
                  <a:srgbClr val="FFFFFF"/>
                </a:solidFill>
                <a:latin typeface="Inter"/>
              </a:rPr>
              <a:t>Written in plain English</a:t>
            </a:r>
          </a:p>
        </p:txBody>
      </p:sp>
      <p:sp>
        <p:nvSpPr>
          <p:cNvPr id="13" name="TextBox 12"/>
          <p:cNvSpPr txBox="1"/>
          <p:nvPr/>
        </p:nvSpPr>
        <p:spPr>
          <a:xfrm>
            <a:off x="7680959" y="2121408"/>
            <a:ext cx="3822191" cy="822960"/>
          </a:xfrm>
          <a:prstGeom prst="rect">
            <a:avLst/>
          </a:prstGeom>
          <a:noFill/>
        </p:spPr>
        <p:txBody>
          <a:bodyPr wrap="square" lIns="0" tIns="0" rIns="0" bIns="0" anchor="t">
            <a:spAutoFit/>
          </a:bodyPr>
          <a:lstStyle/>
          <a:p>
            <a:pPr algn="l">
              <a:lnSpc>
                <a:spcPct val="118000"/>
              </a:lnSpc>
            </a:pPr>
            <a:r>
              <a:rPr sz="950" b="0" i="0">
                <a:solidFill>
                  <a:srgbClr val="9AA3B2"/>
                </a:solidFill>
                <a:latin typeface="Inter"/>
              </a:rPr>
              <a:t>"This ward runs about 3 degrees hotter than the city average." Those sentences are assembled from the ward's own measurements. There is no AI writing them, so they cannot make something up.</a:t>
            </a:r>
          </a:p>
        </p:txBody>
      </p:sp>
      <p:sp>
        <p:nvSpPr>
          <p:cNvPr id="14" name="Rounded Rectangle 13"/>
          <p:cNvSpPr/>
          <p:nvPr/>
        </p:nvSpPr>
        <p:spPr>
          <a:xfrm>
            <a:off x="7498079" y="3273552"/>
            <a:ext cx="4187952" cy="129844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59" y="3401568"/>
            <a:ext cx="3822191" cy="274320"/>
          </a:xfrm>
          <a:prstGeom prst="rect">
            <a:avLst/>
          </a:prstGeom>
          <a:noFill/>
        </p:spPr>
        <p:txBody>
          <a:bodyPr wrap="square" lIns="0" tIns="0" rIns="0" bIns="0" anchor="t">
            <a:spAutoFit/>
          </a:bodyPr>
          <a:lstStyle/>
          <a:p>
            <a:r>
              <a:rPr sz="1250" b="1" i="0">
                <a:solidFill>
                  <a:srgbClr val="E4572E"/>
                </a:solidFill>
                <a:latin typeface="Inter"/>
              </a:rPr>
              <a:t>● </a:t>
            </a:r>
            <a:r>
              <a:rPr sz="1250" b="1" i="0">
                <a:solidFill>
                  <a:srgbClr val="FFFFFF"/>
                </a:solidFill>
                <a:latin typeface="Inter"/>
              </a:rPr>
              <a:t>The bars are the reason</a:t>
            </a:r>
          </a:p>
        </p:txBody>
      </p:sp>
      <p:sp>
        <p:nvSpPr>
          <p:cNvPr id="16" name="TextBox 15"/>
          <p:cNvSpPr txBox="1"/>
          <p:nvPr/>
        </p:nvSpPr>
        <p:spPr>
          <a:xfrm>
            <a:off x="7680959" y="3749040"/>
            <a:ext cx="3822191" cy="640079"/>
          </a:xfrm>
          <a:prstGeom prst="rect">
            <a:avLst/>
          </a:prstGeom>
          <a:noFill/>
        </p:spPr>
        <p:txBody>
          <a:bodyPr wrap="square" lIns="0" tIns="0" rIns="0" bIns="0" anchor="t">
            <a:spAutoFit/>
          </a:bodyPr>
          <a:lstStyle/>
          <a:p>
            <a:pPr algn="l">
              <a:lnSpc>
                <a:spcPct val="118000"/>
              </a:lnSpc>
            </a:pPr>
            <a:r>
              <a:rPr sz="950" b="0" i="0">
                <a:solidFill>
                  <a:srgbClr val="9AA3B2"/>
                </a:solidFill>
                <a:latin typeface="Inter"/>
              </a:rPr>
              <a:t>Each bar shows how much one factor pushed this ward's score up or down. Red pushed it up. Green pulled it down. Add them together and you get the score itself.</a:t>
            </a:r>
          </a:p>
        </p:txBody>
      </p:sp>
      <p:sp>
        <p:nvSpPr>
          <p:cNvPr id="17" name="Rounded Rectangle 16"/>
          <p:cNvSpPr/>
          <p:nvPr/>
        </p:nvSpPr>
        <p:spPr>
          <a:xfrm>
            <a:off x="7498079" y="4718304"/>
            <a:ext cx="4187952" cy="969264"/>
          </a:xfrm>
          <a:prstGeom prst="roundRect">
            <a:avLst>
              <a:gd name="adj" fmla="val 6000"/>
            </a:avLst>
          </a:prstGeom>
          <a:solidFill>
            <a:srgbClr val="1A2029"/>
          </a:solidFill>
          <a:ln w="9525">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35824" y="4873752"/>
            <a:ext cx="3712463" cy="274320"/>
          </a:xfrm>
          <a:prstGeom prst="rect">
            <a:avLst/>
          </a:prstGeom>
          <a:noFill/>
        </p:spPr>
        <p:txBody>
          <a:bodyPr wrap="square" lIns="0" tIns="0" rIns="0" bIns="0" anchor="t">
            <a:spAutoFit/>
          </a:bodyPr>
          <a:lstStyle/>
          <a:p>
            <a:pPr algn="l">
              <a:lnSpc>
                <a:spcPct val="118000"/>
              </a:lnSpc>
            </a:pPr>
            <a:r>
              <a:rPr sz="1150" b="1" i="0">
                <a:solidFill>
                  <a:srgbClr val="FFFFFF"/>
                </a:solidFill>
                <a:latin typeface="Inter"/>
              </a:rPr>
              <a:t>Nothing here is a black box.</a:t>
            </a:r>
          </a:p>
        </p:txBody>
      </p:sp>
      <p:sp>
        <p:nvSpPr>
          <p:cNvPr id="19" name="TextBox 18"/>
          <p:cNvSpPr txBox="1"/>
          <p:nvPr/>
        </p:nvSpPr>
        <p:spPr>
          <a:xfrm>
            <a:off x="7735824" y="5157216"/>
            <a:ext cx="3712463" cy="457200"/>
          </a:xfrm>
          <a:prstGeom prst="rect">
            <a:avLst/>
          </a:prstGeom>
          <a:noFill/>
        </p:spPr>
        <p:txBody>
          <a:bodyPr wrap="square" lIns="0" tIns="0" rIns="0" bIns="0" anchor="t">
            <a:spAutoFit/>
          </a:bodyPr>
          <a:lstStyle/>
          <a:p>
            <a:pPr algn="l">
              <a:lnSpc>
                <a:spcPct val="120000"/>
              </a:lnSpc>
            </a:pPr>
            <a:r>
              <a:rPr sz="930" b="0" i="0">
                <a:solidFill>
                  <a:srgbClr val="9AA3B2"/>
                </a:solidFill>
                <a:latin typeface="Inter"/>
              </a:rPr>
              <a:t>You are not being shown a guess about how the score was made. You are being shown the arithmetic that made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05 · PROTOTYPE / SOLUTION DESIGN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300" b="1" i="0">
                <a:solidFill>
                  <a:srgbClr val="FFFFFF"/>
                </a:solidFill>
                <a:latin typeface="Inter"/>
              </a:rPr>
              <a:t>The check, running on real data: where this tool refuses to plant</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16 / 21</a:t>
            </a:r>
          </a:p>
        </p:txBody>
      </p:sp>
      <p:sp>
        <p:nvSpPr>
          <p:cNvPr id="8" name="TextBox 7"/>
          <p:cNvSpPr txBox="1"/>
          <p:nvPr/>
        </p:nvSpPr>
        <p:spPr>
          <a:xfrm>
            <a:off x="502920" y="6409944"/>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Land cover: ESA WorldCover v200, classes 30 (grassland) and 50 (built up). Refusal rule follows Bastin et al. 2019 and Veldman et al. 2019, Science. Cooling estimates: Ziter et al. 2019, Santamouris 2014, Bowler et al. 2010.</a:t>
            </a:r>
          </a:p>
        </p:txBody>
      </p:sp>
      <p:pic>
        <p:nvPicPr>
          <p:cNvPr id="9" name="Picture 8" descr="deck-ward-a-plantability-dark.png"/>
          <p:cNvPicPr>
            <a:picLocks noChangeAspect="1"/>
          </p:cNvPicPr>
          <p:nvPr/>
        </p:nvPicPr>
        <p:blipFill>
          <a:blip r:embed="rId4"/>
          <a:srcRect t="5500" r="24500"/>
          <a:stretch>
            <a:fillRect/>
          </a:stretch>
        </p:blipFill>
        <p:spPr>
          <a:xfrm>
            <a:off x="995540" y="1645920"/>
            <a:ext cx="5689879" cy="3703320"/>
          </a:xfrm>
          <a:prstGeom prst="rect">
            <a:avLst/>
          </a:prstGeom>
          <a:ln w="9525">
            <a:solidFill>
              <a:srgbClr val="2A3040"/>
            </a:solidFill>
          </a:ln>
        </p:spPr>
      </p:pic>
      <p:sp>
        <p:nvSpPr>
          <p:cNvPr id="10" name="TextBox 9"/>
          <p:cNvSpPr txBox="1"/>
          <p:nvPr/>
        </p:nvSpPr>
        <p:spPr>
          <a:xfrm>
            <a:off x="502920" y="5440679"/>
            <a:ext cx="6675120" cy="384048"/>
          </a:xfrm>
          <a:prstGeom prst="rect">
            <a:avLst/>
          </a:prstGeom>
          <a:noFill/>
        </p:spPr>
        <p:txBody>
          <a:bodyPr wrap="square" lIns="0" tIns="0" rIns="0" bIns="0" anchor="t">
            <a:spAutoFit/>
          </a:bodyPr>
          <a:lstStyle/>
          <a:p>
            <a:pPr algn="ctr">
              <a:lnSpc>
                <a:spcPct val="115000"/>
              </a:lnSpc>
            </a:pPr>
            <a:r>
              <a:rPr sz="900" b="0" i="0">
                <a:solidFill>
                  <a:srgbClr val="9AA3B2"/>
                </a:solidFill>
                <a:latin typeface="Inter"/>
              </a:rPr>
              <a:t>Green squares: trees belong here. Red squares: they do not, so pale roofs instead. One ward, both answers.</a:t>
            </a:r>
          </a:p>
        </p:txBody>
      </p:sp>
      <p:sp>
        <p:nvSpPr>
          <p:cNvPr id="11" name="Rounded Rectangle 10"/>
          <p:cNvSpPr/>
          <p:nvPr/>
        </p:nvSpPr>
        <p:spPr>
          <a:xfrm>
            <a:off x="7498079" y="1645920"/>
            <a:ext cx="4187952" cy="2084831"/>
          </a:xfrm>
          <a:prstGeom prst="roundRect">
            <a:avLst>
              <a:gd name="adj" fmla="val 6000"/>
            </a:avLst>
          </a:prstGeom>
          <a:solidFill>
            <a:srgbClr val="151A24"/>
          </a:solidFill>
          <a:ln w="9525">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1810512"/>
            <a:ext cx="3712463" cy="256032"/>
          </a:xfrm>
          <a:prstGeom prst="rect">
            <a:avLst/>
          </a:prstGeom>
          <a:noFill/>
        </p:spPr>
        <p:txBody>
          <a:bodyPr wrap="square" lIns="0" tIns="0" rIns="0" bIns="0" anchor="t">
            <a:spAutoFit/>
          </a:bodyPr>
          <a:lstStyle/>
          <a:p>
            <a:r>
              <a:rPr sz="1200" b="1" i="0">
                <a:solidFill>
                  <a:srgbClr val="E4572E"/>
                </a:solidFill>
                <a:latin typeface="Inter"/>
              </a:rPr>
              <a:t>● </a:t>
            </a:r>
            <a:r>
              <a:rPr sz="1200" b="1" i="0">
                <a:solidFill>
                  <a:srgbClr val="FFFFFF"/>
                </a:solidFill>
                <a:latin typeface="Inter"/>
              </a:rPr>
              <a:t>Two opposite answers, one place</a:t>
            </a:r>
          </a:p>
        </p:txBody>
      </p:sp>
      <p:sp>
        <p:nvSpPr>
          <p:cNvPr id="13" name="TextBox 12"/>
          <p:cNvSpPr txBox="1"/>
          <p:nvPr/>
        </p:nvSpPr>
        <p:spPr>
          <a:xfrm>
            <a:off x="7735824" y="2157984"/>
            <a:ext cx="3809246" cy="1390124"/>
          </a:xfrm>
          <a:prstGeom prst="rect">
            <a:avLst/>
          </a:prstGeom>
          <a:noFill/>
        </p:spPr>
        <p:txBody>
          <a:bodyPr wrap="square" lIns="0" tIns="0" rIns="0" bIns="0" anchor="t">
            <a:spAutoFit/>
          </a:bodyPr>
          <a:lstStyle/>
          <a:p>
            <a:pPr algn="l">
              <a:lnSpc>
                <a:spcPct val="122000"/>
              </a:lnSpc>
            </a:pPr>
            <a:r>
              <a:rPr sz="950" b="0" i="0" dirty="0">
                <a:solidFill>
                  <a:srgbClr val="9AA3B2"/>
                </a:solidFill>
                <a:latin typeface="Inter"/>
              </a:rPr>
              <a:t>▸  Pale roofs and reflective paving</a:t>
            </a:r>
          </a:p>
          <a:p>
            <a:pPr algn="l">
              <a:lnSpc>
                <a:spcPct val="122000"/>
              </a:lnSpc>
              <a:spcBef>
                <a:spcPts val="200"/>
              </a:spcBef>
            </a:pPr>
            <a:r>
              <a:rPr sz="950" b="0" i="0" dirty="0">
                <a:solidFill>
                  <a:srgbClr val="9AA3B2"/>
                </a:solidFill>
                <a:latin typeface="Inter"/>
              </a:rPr>
              <a:t>     "planting here would do ecological harm"</a:t>
            </a:r>
          </a:p>
          <a:p>
            <a:pPr algn="l">
              <a:lnSpc>
                <a:spcPct val="122000"/>
              </a:lnSpc>
              <a:spcBef>
                <a:spcPts val="200"/>
              </a:spcBef>
            </a:pPr>
            <a:r>
              <a:rPr sz="950" b="0" i="0" dirty="0">
                <a:solidFill>
                  <a:srgbClr val="9AA3B2"/>
                </a:solidFill>
                <a:latin typeface="Inter"/>
              </a:rPr>
              <a:t>▸  Plant native trees and green corridors</a:t>
            </a:r>
          </a:p>
          <a:p>
            <a:pPr algn="l">
              <a:lnSpc>
                <a:spcPct val="122000"/>
              </a:lnSpc>
              <a:spcBef>
                <a:spcPts val="200"/>
              </a:spcBef>
            </a:pPr>
            <a:r>
              <a:rPr sz="950" b="0" i="0" dirty="0">
                <a:solidFill>
                  <a:srgbClr val="9AA3B2"/>
                </a:solidFill>
                <a:latin typeface="Inter"/>
              </a:rPr>
              <a:t>     "this part genuinely suits restoration"</a:t>
            </a:r>
          </a:p>
          <a:p>
            <a:pPr algn="l">
              <a:lnSpc>
                <a:spcPct val="122000"/>
              </a:lnSpc>
              <a:spcBef>
                <a:spcPts val="200"/>
              </a:spcBef>
            </a:pPr>
            <a:endParaRPr sz="950" b="0" i="0" dirty="0">
              <a:solidFill>
                <a:srgbClr val="9AA3B2"/>
              </a:solidFill>
              <a:latin typeface="Inter"/>
            </a:endParaRPr>
          </a:p>
          <a:p>
            <a:pPr algn="l">
              <a:lnSpc>
                <a:spcPct val="122000"/>
              </a:lnSpc>
              <a:spcBef>
                <a:spcPts val="200"/>
              </a:spcBef>
            </a:pPr>
            <a:r>
              <a:rPr sz="950" b="0" i="0" dirty="0">
                <a:solidFill>
                  <a:srgbClr val="9AA3B2"/>
                </a:solidFill>
                <a:latin typeface="Inter"/>
              </a:rPr>
              <a:t>Same ward. Different squares. Each one</a:t>
            </a:r>
          </a:p>
          <a:p>
            <a:pPr algn="l">
              <a:lnSpc>
                <a:spcPct val="122000"/>
              </a:lnSpc>
              <a:spcBef>
                <a:spcPts val="200"/>
              </a:spcBef>
            </a:pPr>
            <a:r>
              <a:rPr sz="950" b="0" i="0" dirty="0">
                <a:solidFill>
                  <a:srgbClr val="9AA3B2"/>
                </a:solidFill>
                <a:latin typeface="Inter"/>
              </a:rPr>
              <a:t>linked to the paper it came from.</a:t>
            </a:r>
          </a:p>
        </p:txBody>
      </p:sp>
      <p:sp>
        <p:nvSpPr>
          <p:cNvPr id="14" name="Rounded Rectangle 13"/>
          <p:cNvSpPr/>
          <p:nvPr/>
        </p:nvSpPr>
        <p:spPr>
          <a:xfrm>
            <a:off x="7498079" y="3877056"/>
            <a:ext cx="4187952" cy="1005840"/>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35824" y="4041648"/>
            <a:ext cx="3712463" cy="256032"/>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Most tools cannot produce that pair.</a:t>
            </a:r>
          </a:p>
        </p:txBody>
      </p:sp>
      <p:sp>
        <p:nvSpPr>
          <p:cNvPr id="16" name="TextBox 15"/>
          <p:cNvSpPr txBox="1"/>
          <p:nvPr/>
        </p:nvSpPr>
        <p:spPr>
          <a:xfrm>
            <a:off x="7735824" y="4315968"/>
            <a:ext cx="3712463" cy="457200"/>
          </a:xfrm>
          <a:prstGeom prst="rect">
            <a:avLst/>
          </a:prstGeom>
          <a:noFill/>
        </p:spPr>
        <p:txBody>
          <a:bodyPr wrap="square" lIns="0" tIns="0" rIns="0" bIns="0" anchor="t">
            <a:spAutoFit/>
          </a:bodyPr>
          <a:lstStyle/>
          <a:p>
            <a:pPr algn="l">
              <a:lnSpc>
                <a:spcPct val="120000"/>
              </a:lnSpc>
            </a:pPr>
            <a:r>
              <a:rPr sz="930" b="0" i="0">
                <a:solidFill>
                  <a:srgbClr val="9AA3B2"/>
                </a:solidFill>
                <a:latin typeface="Inter"/>
              </a:rPr>
              <a:t>A tool whose only answer is plant more trees has no way of ever saying no. Saying no is the point.</a:t>
            </a:r>
          </a:p>
        </p:txBody>
      </p:sp>
      <p:pic>
        <p:nvPicPr>
          <p:cNvPr id="17" name="Picture 16" descr="deck-simulate-dark.png"/>
          <p:cNvPicPr>
            <a:picLocks noChangeAspect="1"/>
          </p:cNvPicPr>
          <p:nvPr/>
        </p:nvPicPr>
        <p:blipFill>
          <a:blip r:embed="rId5"/>
          <a:srcRect l="21000" t="74500" r="21000" b="2000"/>
          <a:stretch>
            <a:fillRect/>
          </a:stretch>
        </p:blipFill>
        <p:spPr>
          <a:xfrm>
            <a:off x="7639040" y="5079492"/>
            <a:ext cx="3906029" cy="822960"/>
          </a:xfrm>
          <a:prstGeom prst="rect">
            <a:avLst/>
          </a:prstGeom>
          <a:ln w="9525">
            <a:solidFill>
              <a:srgbClr val="2A3040"/>
            </a:solidFill>
          </a:ln>
        </p:spPr>
      </p:pic>
      <p:sp>
        <p:nvSpPr>
          <p:cNvPr id="18" name="TextBox 17"/>
          <p:cNvSpPr txBox="1"/>
          <p:nvPr/>
        </p:nvSpPr>
        <p:spPr>
          <a:xfrm>
            <a:off x="7639039" y="6023610"/>
            <a:ext cx="3906029" cy="365760"/>
          </a:xfrm>
          <a:prstGeom prst="rect">
            <a:avLst/>
          </a:prstGeom>
          <a:noFill/>
        </p:spPr>
        <p:txBody>
          <a:bodyPr wrap="square" lIns="0" tIns="0" rIns="0" bIns="0" anchor="t">
            <a:spAutoFit/>
          </a:bodyPr>
          <a:lstStyle/>
          <a:p>
            <a:pPr algn="ctr">
              <a:lnSpc>
                <a:spcPct val="112000"/>
              </a:lnSpc>
            </a:pPr>
            <a:r>
              <a:rPr sz="850" b="0" i="0" dirty="0">
                <a:solidFill>
                  <a:srgbClr val="9AA3B2"/>
                </a:solidFill>
                <a:latin typeface="Inter"/>
              </a:rPr>
              <a:t>Move a slider, and the estimated cooling updates.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05 · PROTOTYPE / SOLUTION DESIGN</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Does the answer hold up if you push it?</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con-512.png"/>
          <p:cNvPicPr>
            <a:picLocks noChangeAspect="1"/>
          </p:cNvPicPr>
          <p:nvPr/>
        </p:nvPicPr>
        <p:blipFill>
          <a:blip r:embed="rId3"/>
          <a:stretch>
            <a:fillRect/>
          </a:stretch>
        </p:blipFill>
        <p:spPr>
          <a:xfrm>
            <a:off x="10835640" y="274320"/>
            <a:ext cx="182880" cy="182880"/>
          </a:xfrm>
          <a:prstGeom prst="rect">
            <a:avLst/>
          </a:prstGeom>
        </p:spPr>
      </p:pic>
      <p:sp>
        <p:nvSpPr>
          <p:cNvPr id="7" name="TextBox 6"/>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8" name="TextBox 7"/>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17 / 21</a:t>
            </a:r>
          </a:p>
        </p:txBody>
      </p:sp>
      <p:sp>
        <p:nvSpPr>
          <p:cNvPr id="9" name="TextBox 8"/>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14 runs, each weight moved plus and minus 20 percent in turn. Rank correlation and top-five overlap read from data/sensitivity.json, computed by my own pipeline.</a:t>
            </a:r>
          </a:p>
        </p:txBody>
      </p:sp>
      <p:pic>
        <p:nvPicPr>
          <p:cNvPr id="10" name="Picture 9" descr="deck-methodology-sensitivity-dark.png"/>
          <p:cNvPicPr>
            <a:picLocks noChangeAspect="1"/>
          </p:cNvPicPr>
          <p:nvPr/>
        </p:nvPicPr>
        <p:blipFill>
          <a:blip r:embed="rId4"/>
          <a:srcRect l="23500" t="28000" r="23500" b="28000"/>
          <a:stretch>
            <a:fillRect/>
          </a:stretch>
        </p:blipFill>
        <p:spPr>
          <a:xfrm>
            <a:off x="502920" y="1755648"/>
            <a:ext cx="6675120" cy="2881636"/>
          </a:xfrm>
          <a:prstGeom prst="rect">
            <a:avLst/>
          </a:prstGeom>
          <a:ln w="9525">
            <a:solidFill>
              <a:srgbClr val="2A3040"/>
            </a:solidFill>
          </a:ln>
        </p:spPr>
      </p:pic>
      <p:sp>
        <p:nvSpPr>
          <p:cNvPr id="11" name="TextBox 10"/>
          <p:cNvSpPr txBox="1"/>
          <p:nvPr/>
        </p:nvSpPr>
        <p:spPr>
          <a:xfrm>
            <a:off x="502920" y="4728724"/>
            <a:ext cx="6675120" cy="274320"/>
          </a:xfrm>
          <a:prstGeom prst="rect">
            <a:avLst/>
          </a:prstGeom>
          <a:noFill/>
        </p:spPr>
        <p:txBody>
          <a:bodyPr wrap="square" lIns="0" tIns="0" rIns="0" bIns="0" anchor="t">
            <a:spAutoFit/>
          </a:bodyPr>
          <a:lstStyle/>
          <a:p>
            <a:pPr algn="ctr">
              <a:lnSpc>
                <a:spcPct val="118000"/>
              </a:lnSpc>
            </a:pPr>
            <a:r>
              <a:rPr sz="900" b="0" i="0">
                <a:solidFill>
                  <a:srgbClr val="9AA3B2"/>
                </a:solidFill>
                <a:latin typeface="Inter"/>
              </a:rPr>
              <a:t>All 14 test runs. Every bar sits near the top, meaning the order barely moved.</a:t>
            </a:r>
          </a:p>
        </p:txBody>
      </p:sp>
      <p:sp>
        <p:nvSpPr>
          <p:cNvPr id="12" name="TextBox 11"/>
          <p:cNvSpPr txBox="1"/>
          <p:nvPr/>
        </p:nvSpPr>
        <p:spPr>
          <a:xfrm>
            <a:off x="502920" y="5266944"/>
            <a:ext cx="27432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How I tested it</a:t>
            </a:r>
          </a:p>
        </p:txBody>
      </p:sp>
      <p:sp>
        <p:nvSpPr>
          <p:cNvPr id="13" name="TextBox 12"/>
          <p:cNvSpPr txBox="1"/>
          <p:nvPr/>
        </p:nvSpPr>
        <p:spPr>
          <a:xfrm>
            <a:off x="502920" y="5541264"/>
            <a:ext cx="6675120" cy="502920"/>
          </a:xfrm>
          <a:prstGeom prst="rect">
            <a:avLst/>
          </a:prstGeom>
          <a:noFill/>
        </p:spPr>
        <p:txBody>
          <a:bodyPr wrap="square" lIns="0" tIns="0" rIns="0" bIns="0" anchor="t">
            <a:spAutoFit/>
          </a:bodyPr>
          <a:lstStyle/>
          <a:p>
            <a:pPr algn="l">
              <a:lnSpc>
                <a:spcPct val="120000"/>
              </a:lnSpc>
            </a:pPr>
            <a:r>
              <a:rPr sz="1000" b="0" i="0">
                <a:solidFill>
                  <a:srgbClr val="9AA3B2"/>
                </a:solidFill>
                <a:latin typeface="Inter"/>
              </a:rPr>
              <a:t>Change how much each factor counts by a fifth, up and down, one at a time, then redo the whole ranking from scratch. 14 runs.</a:t>
            </a:r>
          </a:p>
        </p:txBody>
      </p:sp>
      <p:sp>
        <p:nvSpPr>
          <p:cNvPr id="14" name="Rounded Rectangle 13"/>
          <p:cNvSpPr/>
          <p:nvPr/>
        </p:nvSpPr>
        <p:spPr>
          <a:xfrm>
            <a:off x="7498079" y="1755648"/>
            <a:ext cx="4187952" cy="111556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26096" y="1755648"/>
            <a:ext cx="1295887" cy="1115568"/>
          </a:xfrm>
          <a:prstGeom prst="rect">
            <a:avLst/>
          </a:prstGeom>
          <a:noFill/>
        </p:spPr>
        <p:txBody>
          <a:bodyPr wrap="square" lIns="0" tIns="0" rIns="0" bIns="0" anchor="ctr">
            <a:spAutoFit/>
          </a:bodyPr>
          <a:lstStyle/>
          <a:p>
            <a:pPr algn="l">
              <a:lnSpc>
                <a:spcPct val="118000"/>
              </a:lnSpc>
            </a:pPr>
            <a:r>
              <a:rPr sz="1700" b="1" i="0">
                <a:solidFill>
                  <a:srgbClr val="22C55E"/>
                </a:solidFill>
                <a:latin typeface="JetBrains Mono"/>
              </a:rPr>
              <a:t>almost</a:t>
            </a:r>
          </a:p>
          <a:p>
            <a:pPr algn="l">
              <a:lnSpc>
                <a:spcPct val="118000"/>
              </a:lnSpc>
              <a:spcBef>
                <a:spcPts val="400"/>
              </a:spcBef>
            </a:pPr>
            <a:r>
              <a:rPr sz="1700" b="1" i="0">
                <a:solidFill>
                  <a:srgbClr val="22C55E"/>
                </a:solidFill>
                <a:latin typeface="JetBrains Mono"/>
              </a:rPr>
              <a:t>unchanged</a:t>
            </a:r>
          </a:p>
        </p:txBody>
      </p:sp>
      <p:sp>
        <p:nvSpPr>
          <p:cNvPr id="16" name="TextBox 15"/>
          <p:cNvSpPr txBox="1"/>
          <p:nvPr/>
        </p:nvSpPr>
        <p:spPr>
          <a:xfrm>
            <a:off x="8921983" y="1755648"/>
            <a:ext cx="2636032" cy="1115568"/>
          </a:xfrm>
          <a:prstGeom prst="rect">
            <a:avLst/>
          </a:prstGeom>
          <a:noFill/>
        </p:spPr>
        <p:txBody>
          <a:bodyPr wrap="square" lIns="0" tIns="0" rIns="0" bIns="0" anchor="ctr">
            <a:spAutoFit/>
          </a:bodyPr>
          <a:lstStyle/>
          <a:p>
            <a:pPr algn="l">
              <a:lnSpc>
                <a:spcPct val="110000"/>
              </a:lnSpc>
            </a:pPr>
            <a:r>
              <a:rPr sz="950" b="0" i="0">
                <a:solidFill>
                  <a:srgbClr val="9AA3B2"/>
                </a:solidFill>
                <a:latin typeface="Inter"/>
              </a:rPr>
              <a:t>the ranking stayed nearly identical every time I changed the weights.</a:t>
            </a:r>
          </a:p>
        </p:txBody>
      </p:sp>
      <p:sp>
        <p:nvSpPr>
          <p:cNvPr id="17" name="Rounded Rectangle 16"/>
          <p:cNvSpPr/>
          <p:nvPr/>
        </p:nvSpPr>
        <p:spPr>
          <a:xfrm>
            <a:off x="7498079" y="2999232"/>
            <a:ext cx="4187952" cy="1115568"/>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26096" y="2999232"/>
            <a:ext cx="1295887" cy="1115568"/>
          </a:xfrm>
          <a:prstGeom prst="rect">
            <a:avLst/>
          </a:prstGeom>
          <a:noFill/>
        </p:spPr>
        <p:txBody>
          <a:bodyPr wrap="square" lIns="0" tIns="0" rIns="0" bIns="0" anchor="ctr">
            <a:spAutoFit/>
          </a:bodyPr>
          <a:lstStyle/>
          <a:p>
            <a:pPr algn="l">
              <a:lnSpc>
                <a:spcPct val="118000"/>
              </a:lnSpc>
            </a:pPr>
            <a:r>
              <a:rPr sz="2400" b="1" i="0">
                <a:solidFill>
                  <a:srgbClr val="F0A63A"/>
                </a:solidFill>
                <a:latin typeface="JetBrains Mono"/>
              </a:rPr>
              <a:t>4 of 5</a:t>
            </a:r>
          </a:p>
        </p:txBody>
      </p:sp>
      <p:sp>
        <p:nvSpPr>
          <p:cNvPr id="19" name="TextBox 18"/>
          <p:cNvSpPr txBox="1"/>
          <p:nvPr/>
        </p:nvSpPr>
        <p:spPr>
          <a:xfrm>
            <a:off x="8921983" y="2999232"/>
            <a:ext cx="2636032" cy="1115568"/>
          </a:xfrm>
          <a:prstGeom prst="rect">
            <a:avLst/>
          </a:prstGeom>
          <a:noFill/>
        </p:spPr>
        <p:txBody>
          <a:bodyPr wrap="square" lIns="0" tIns="0" rIns="0" bIns="0" anchor="ctr">
            <a:spAutoFit/>
          </a:bodyPr>
          <a:lstStyle/>
          <a:p>
            <a:pPr algn="l">
              <a:lnSpc>
                <a:spcPct val="110000"/>
              </a:lnSpc>
            </a:pPr>
            <a:r>
              <a:rPr sz="950" b="0" i="0">
                <a:solidFill>
                  <a:srgbClr val="9AA3B2"/>
                </a:solidFill>
                <a:latin typeface="Inter"/>
              </a:rPr>
              <a:t>the same wards stayed in the top five, on average, across every run.</a:t>
            </a:r>
          </a:p>
        </p:txBody>
      </p:sp>
      <p:sp>
        <p:nvSpPr>
          <p:cNvPr id="20" name="Rounded Rectangle 19"/>
          <p:cNvSpPr/>
          <p:nvPr/>
        </p:nvSpPr>
        <p:spPr>
          <a:xfrm>
            <a:off x="7498079" y="4242816"/>
            <a:ext cx="4187952" cy="1801368"/>
          </a:xfrm>
          <a:prstGeom prst="roundRect">
            <a:avLst>
              <a:gd name="adj" fmla="val 6000"/>
            </a:avLst>
          </a:prstGeom>
          <a:solidFill>
            <a:srgbClr val="1A2029"/>
          </a:solidFill>
          <a:ln w="9525">
            <a:solidFill>
              <a:srgbClr val="F0A6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35824" y="4407408"/>
            <a:ext cx="3712463" cy="256032"/>
          </a:xfrm>
          <a:prstGeom prst="rect">
            <a:avLst/>
          </a:prstGeom>
          <a:noFill/>
        </p:spPr>
        <p:txBody>
          <a:bodyPr wrap="square" lIns="0" tIns="0" rIns="0" bIns="0" anchor="t">
            <a:spAutoFit/>
          </a:bodyPr>
          <a:lstStyle/>
          <a:p>
            <a:r>
              <a:rPr sz="1200" b="1" i="0">
                <a:solidFill>
                  <a:srgbClr val="F0A63A"/>
                </a:solidFill>
                <a:latin typeface="Inter"/>
              </a:rPr>
              <a:t>● </a:t>
            </a:r>
            <a:r>
              <a:rPr sz="1200" b="1" i="0">
                <a:solidFill>
                  <a:srgbClr val="FFFFFF"/>
                </a:solidFill>
                <a:latin typeface="Inter"/>
              </a:rPr>
              <a:t>Where it is not perfect</a:t>
            </a:r>
          </a:p>
        </p:txBody>
      </p:sp>
      <p:sp>
        <p:nvSpPr>
          <p:cNvPr id="22" name="TextBox 21"/>
          <p:cNvSpPr txBox="1"/>
          <p:nvPr/>
        </p:nvSpPr>
        <p:spPr>
          <a:xfrm>
            <a:off x="7735824" y="4754880"/>
            <a:ext cx="3749039" cy="1207008"/>
          </a:xfrm>
          <a:prstGeom prst="rect">
            <a:avLst/>
          </a:prstGeom>
          <a:noFill/>
        </p:spPr>
        <p:txBody>
          <a:bodyPr wrap="square" lIns="0" tIns="0" rIns="0" bIns="0" anchor="t">
            <a:spAutoFit/>
          </a:bodyPr>
          <a:lstStyle/>
          <a:p>
            <a:pPr algn="l">
              <a:lnSpc>
                <a:spcPct val="120000"/>
              </a:lnSpc>
            </a:pPr>
            <a:r>
              <a:rPr sz="940" b="0" i="0">
                <a:solidFill>
                  <a:srgbClr val="9AA3B2"/>
                </a:solidFill>
                <a:latin typeface="Inter"/>
              </a:rPr>
              <a:t>It is four out of five, not five out of five. In 2 of the 14 runs, the fifth place swapped.</a:t>
            </a:r>
          </a:p>
          <a:p>
            <a:pPr algn="l">
              <a:lnSpc>
                <a:spcPct val="120000"/>
              </a:lnSpc>
              <a:spcBef>
                <a:spcPts val="500"/>
              </a:spcBef>
            </a:pPr>
            <a:r>
              <a:rPr sz="940" b="0" i="0">
                <a:solidFill>
                  <a:srgbClr val="9AA3B2"/>
                </a:solidFill>
                <a:latin typeface="Inter"/>
              </a:rPr>
              <a:t>That is not the method wobbling. Those two wards score 64.84 and 64.82. They are effectively tied, and any nudge flips a tie.</a:t>
            </a:r>
          </a:p>
          <a:p>
            <a:pPr algn="l">
              <a:lnSpc>
                <a:spcPct val="120000"/>
              </a:lnSpc>
              <a:spcBef>
                <a:spcPts val="500"/>
              </a:spcBef>
            </a:pPr>
            <a:r>
              <a:rPr sz="940" b="0" i="0">
                <a:solidFill>
                  <a:srgbClr val="9AA3B2"/>
                </a:solidFill>
                <a:latin typeface="Inter"/>
              </a:rPr>
              <a:t>I would rather show you that than round it away.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06 · IMPACT &amp; FUTURE SCOPE</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What this tool does not know</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18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Land surface temperature against air temperature: a standard limitation of thermal remote sensing. Cooling coefficients are transferred from Ziter et al. 2019, Santamouris 2014 and Bowler et al. 2010, not measured in Mumbai. Population estimates: WorldPop 2020. The same list is published on the site's methodology page.</a:t>
            </a:r>
          </a:p>
        </p:txBody>
      </p:sp>
      <p:sp>
        <p:nvSpPr>
          <p:cNvPr id="9" name="Rounded Rectangle 8"/>
          <p:cNvSpPr/>
          <p:nvPr/>
        </p:nvSpPr>
        <p:spPr>
          <a:xfrm>
            <a:off x="502920" y="1572768"/>
            <a:ext cx="7589520" cy="786384"/>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2376" y="1664208"/>
            <a:ext cx="717804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Satellites measure the ground, not the air.</a:t>
            </a:r>
          </a:p>
        </p:txBody>
      </p:sp>
      <p:sp>
        <p:nvSpPr>
          <p:cNvPr id="11" name="TextBox 10"/>
          <p:cNvSpPr txBox="1"/>
          <p:nvPr/>
        </p:nvSpPr>
        <p:spPr>
          <a:xfrm>
            <a:off x="722376" y="1901952"/>
            <a:ext cx="7178040" cy="402336"/>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What the satellite records is how hot the surface is, which is related to, but not the same as, the temperature a person standing there actually feels.</a:t>
            </a:r>
          </a:p>
        </p:txBody>
      </p:sp>
      <p:sp>
        <p:nvSpPr>
          <p:cNvPr id="12" name="Rounded Rectangle 11"/>
          <p:cNvSpPr/>
          <p:nvPr/>
        </p:nvSpPr>
        <p:spPr>
          <a:xfrm>
            <a:off x="502920" y="2432304"/>
            <a:ext cx="7589520" cy="786384"/>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2523744"/>
            <a:ext cx="717804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The cooling numbers were measured in another country.</a:t>
            </a:r>
          </a:p>
        </p:txBody>
      </p:sp>
      <p:sp>
        <p:nvSpPr>
          <p:cNvPr id="14" name="TextBox 13"/>
          <p:cNvSpPr txBox="1"/>
          <p:nvPr/>
        </p:nvSpPr>
        <p:spPr>
          <a:xfrm>
            <a:off x="722376" y="2761488"/>
            <a:ext cx="7178040" cy="402336"/>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The figures for how much trees and pale roofs cool things down come from studies elsewhere, because nobody has run that experiment in Mumbai yet. That is a borrowed assumption, not a local measurement.</a:t>
            </a:r>
          </a:p>
        </p:txBody>
      </p:sp>
      <p:sp>
        <p:nvSpPr>
          <p:cNvPr id="15" name="Rounded Rectangle 14"/>
          <p:cNvSpPr/>
          <p:nvPr/>
        </p:nvSpPr>
        <p:spPr>
          <a:xfrm>
            <a:off x="502920" y="3291840"/>
            <a:ext cx="7589520" cy="786384"/>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6" y="3383280"/>
            <a:ext cx="717804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Some of the population data is an estimate.</a:t>
            </a:r>
          </a:p>
        </p:txBody>
      </p:sp>
      <p:sp>
        <p:nvSpPr>
          <p:cNvPr id="17" name="TextBox 16"/>
          <p:cNvSpPr txBox="1"/>
          <p:nvPr/>
        </p:nvSpPr>
        <p:spPr>
          <a:xfrm>
            <a:off x="722376" y="3621024"/>
            <a:ext cx="7178040" cy="402336"/>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The figures on informal housing and older residents are modelled from satellite and map data, not counted door to door. They are good enough to rank with, and not good enough to quote as fact.</a:t>
            </a:r>
          </a:p>
        </p:txBody>
      </p:sp>
      <p:sp>
        <p:nvSpPr>
          <p:cNvPr id="18" name="Rounded Rectangle 17"/>
          <p:cNvSpPr/>
          <p:nvPr/>
        </p:nvSpPr>
        <p:spPr>
          <a:xfrm>
            <a:off x="502920" y="4151376"/>
            <a:ext cx="7589520" cy="786384"/>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2376" y="4242816"/>
            <a:ext cx="717804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The slider tool gives a rough estimate.</a:t>
            </a:r>
          </a:p>
        </p:txBody>
      </p:sp>
      <p:sp>
        <p:nvSpPr>
          <p:cNvPr id="20" name="TextBox 19"/>
          <p:cNvSpPr txBox="1"/>
          <p:nvPr/>
        </p:nvSpPr>
        <p:spPr>
          <a:xfrm>
            <a:off x="722376" y="4480560"/>
            <a:ext cx="7178040" cy="402336"/>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It adds up published figures. It is not a weather model, and it does not simulate what would really happen to your street.</a:t>
            </a:r>
          </a:p>
        </p:txBody>
      </p:sp>
      <p:sp>
        <p:nvSpPr>
          <p:cNvPr id="21" name="Rounded Rectangle 20"/>
          <p:cNvSpPr/>
          <p:nvPr/>
        </p:nvSpPr>
        <p:spPr>
          <a:xfrm>
            <a:off x="502920" y="5010912"/>
            <a:ext cx="7589520" cy="786384"/>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 y="5102352"/>
            <a:ext cx="717804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The tree check works at street-block scale.</a:t>
            </a:r>
          </a:p>
        </p:txBody>
      </p:sp>
      <p:sp>
        <p:nvSpPr>
          <p:cNvPr id="23" name="TextBox 22"/>
          <p:cNvSpPr txBox="1"/>
          <p:nvPr/>
        </p:nvSpPr>
        <p:spPr>
          <a:xfrm>
            <a:off x="722376" y="5340096"/>
            <a:ext cx="7178040" cy="402336"/>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It is reliable for saying this area is grassland. It is not precise enough to tell you where to put one particular tree.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06 · IMPACT &amp; FUTURE SCOPE</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The impact: who this helps, and what it changes</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19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All eight datasets behind this work are openly licensed; the full list is on slide 21. Live at ucip-eight.vercel.app. Code at github.com/AnayDhawan/UCIP.</a:t>
            </a:r>
          </a:p>
        </p:txBody>
      </p:sp>
      <p:sp>
        <p:nvSpPr>
          <p:cNvPr id="9" name="Rounded Rectangle 8"/>
          <p:cNvSpPr/>
          <p:nvPr/>
        </p:nvSpPr>
        <p:spPr>
          <a:xfrm>
            <a:off x="502920" y="1627632"/>
            <a:ext cx="3529584" cy="221284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755648"/>
            <a:ext cx="3163824" cy="274320"/>
          </a:xfrm>
          <a:prstGeom prst="rect">
            <a:avLst/>
          </a:prstGeom>
          <a:noFill/>
        </p:spPr>
        <p:txBody>
          <a:bodyPr wrap="square" lIns="0" tIns="0" rIns="0" bIns="0" anchor="t">
            <a:spAutoFit/>
          </a:bodyPr>
          <a:lstStyle/>
          <a:p>
            <a:r>
              <a:rPr sz="1250" b="1" i="0">
                <a:solidFill>
                  <a:srgbClr val="0EA5B3"/>
                </a:solidFill>
                <a:latin typeface="Inter"/>
              </a:rPr>
              <a:t>● </a:t>
            </a:r>
            <a:r>
              <a:rPr sz="1250" b="1" i="0">
                <a:solidFill>
                  <a:srgbClr val="FFFFFF"/>
                </a:solidFill>
                <a:latin typeface="Inter"/>
              </a:rPr>
              <a:t>Mumbai</a:t>
            </a:r>
          </a:p>
        </p:txBody>
      </p:sp>
      <p:sp>
        <p:nvSpPr>
          <p:cNvPr id="11" name="TextBox 10"/>
          <p:cNvSpPr txBox="1"/>
          <p:nvPr/>
        </p:nvSpPr>
        <p:spPr>
          <a:xfrm>
            <a:off x="685800" y="2103120"/>
            <a:ext cx="3163824" cy="1554480"/>
          </a:xfrm>
          <a:prstGeom prst="rect">
            <a:avLst/>
          </a:prstGeom>
          <a:noFill/>
        </p:spPr>
        <p:txBody>
          <a:bodyPr wrap="square" lIns="0" tIns="0" rIns="0" bIns="0" anchor="t">
            <a:spAutoFit/>
          </a:bodyPr>
          <a:lstStyle/>
          <a:p>
            <a:pPr algn="l">
              <a:lnSpc>
                <a:spcPct val="118000"/>
              </a:lnSpc>
            </a:pPr>
            <a:r>
              <a:rPr sz="1000" b="0" i="0" dirty="0">
                <a:solidFill>
                  <a:srgbClr val="9AA3B2"/>
                </a:solidFill>
                <a:latin typeface="Inter"/>
              </a:rPr>
              <a:t>It turns something already known, that the city is hot, into something you can act on: this ward first, for this reason, build this. Someone with a fixed budget gets a starting order they can defend, instead of a hunch they cannot.</a:t>
            </a:r>
          </a:p>
        </p:txBody>
      </p:sp>
      <p:sp>
        <p:nvSpPr>
          <p:cNvPr id="12" name="Rounded Rectangle 11"/>
          <p:cNvSpPr/>
          <p:nvPr/>
        </p:nvSpPr>
        <p:spPr>
          <a:xfrm>
            <a:off x="4197096" y="1627632"/>
            <a:ext cx="3529584" cy="221284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9976" y="1755648"/>
            <a:ext cx="3163824" cy="274320"/>
          </a:xfrm>
          <a:prstGeom prst="rect">
            <a:avLst/>
          </a:prstGeom>
          <a:noFill/>
        </p:spPr>
        <p:txBody>
          <a:bodyPr wrap="square" lIns="0" tIns="0" rIns="0" bIns="0" anchor="t">
            <a:spAutoFit/>
          </a:bodyPr>
          <a:lstStyle/>
          <a:p>
            <a:r>
              <a:rPr sz="1250" b="1" i="0">
                <a:solidFill>
                  <a:srgbClr val="22C55E"/>
                </a:solidFill>
                <a:latin typeface="Inter"/>
              </a:rPr>
              <a:t>● </a:t>
            </a:r>
            <a:r>
              <a:rPr sz="1250" b="1" i="0">
                <a:solidFill>
                  <a:srgbClr val="FFFFFF"/>
                </a:solidFill>
                <a:latin typeface="Inter"/>
              </a:rPr>
              <a:t>Any other city</a:t>
            </a:r>
          </a:p>
        </p:txBody>
      </p:sp>
      <p:sp>
        <p:nvSpPr>
          <p:cNvPr id="14" name="TextBox 13"/>
          <p:cNvSpPr txBox="1"/>
          <p:nvPr/>
        </p:nvSpPr>
        <p:spPr>
          <a:xfrm>
            <a:off x="4379976" y="2103120"/>
            <a:ext cx="3163824" cy="533223"/>
          </a:xfrm>
          <a:prstGeom prst="rect">
            <a:avLst/>
          </a:prstGeom>
          <a:noFill/>
        </p:spPr>
        <p:txBody>
          <a:bodyPr wrap="square" lIns="0" tIns="0" rIns="0" bIns="0" anchor="t">
            <a:spAutoFit/>
          </a:bodyPr>
          <a:lstStyle/>
          <a:p>
            <a:pPr algn="l">
              <a:lnSpc>
                <a:spcPct val="118000"/>
              </a:lnSpc>
            </a:pPr>
            <a:r>
              <a:rPr sz="1000" b="0" i="0" dirty="0">
                <a:solidFill>
                  <a:srgbClr val="9AA3B2"/>
                </a:solidFill>
                <a:latin typeface="Inter"/>
              </a:rPr>
              <a:t>Every input is free and public. Moving this to another city needs a different map of its boundaries, not a different method and not a purchase. </a:t>
            </a:r>
          </a:p>
        </p:txBody>
      </p:sp>
      <p:sp>
        <p:nvSpPr>
          <p:cNvPr id="15" name="Rounded Rectangle 14"/>
          <p:cNvSpPr/>
          <p:nvPr/>
        </p:nvSpPr>
        <p:spPr>
          <a:xfrm>
            <a:off x="7891272" y="1627632"/>
            <a:ext cx="3529584" cy="2212848"/>
          </a:xfrm>
          <a:prstGeom prst="roundRect">
            <a:avLst>
              <a:gd name="adj" fmla="val 6000"/>
            </a:avLst>
          </a:prstGeom>
          <a:solidFill>
            <a:srgbClr val="151A24"/>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74152" y="1755648"/>
            <a:ext cx="3163824" cy="274320"/>
          </a:xfrm>
          <a:prstGeom prst="rect">
            <a:avLst/>
          </a:prstGeom>
          <a:noFill/>
        </p:spPr>
        <p:txBody>
          <a:bodyPr wrap="square" lIns="0" tIns="0" rIns="0" bIns="0" anchor="t">
            <a:spAutoFit/>
          </a:bodyPr>
          <a:lstStyle/>
          <a:p>
            <a:r>
              <a:rPr sz="1250" b="1" i="0">
                <a:solidFill>
                  <a:srgbClr val="F0A63A"/>
                </a:solidFill>
                <a:latin typeface="Inter"/>
              </a:rPr>
              <a:t>● </a:t>
            </a:r>
            <a:r>
              <a:rPr sz="1250" b="1" i="0">
                <a:solidFill>
                  <a:srgbClr val="FFFFFF"/>
                </a:solidFill>
                <a:latin typeface="Inter"/>
              </a:rPr>
              <a:t>Anyone working on this</a:t>
            </a:r>
          </a:p>
        </p:txBody>
      </p:sp>
      <p:sp>
        <p:nvSpPr>
          <p:cNvPr id="17" name="TextBox 16"/>
          <p:cNvSpPr txBox="1"/>
          <p:nvPr/>
        </p:nvSpPr>
        <p:spPr>
          <a:xfrm>
            <a:off x="8074152" y="2103120"/>
            <a:ext cx="3163824" cy="1554480"/>
          </a:xfrm>
          <a:prstGeom prst="rect">
            <a:avLst/>
          </a:prstGeom>
          <a:noFill/>
        </p:spPr>
        <p:txBody>
          <a:bodyPr wrap="square" lIns="0" tIns="0" rIns="0" bIns="0" anchor="t">
            <a:spAutoFit/>
          </a:bodyPr>
          <a:lstStyle/>
          <a:p>
            <a:pPr algn="l">
              <a:lnSpc>
                <a:spcPct val="118000"/>
              </a:lnSpc>
            </a:pPr>
            <a:r>
              <a:rPr sz="1000" b="0" i="0">
                <a:solidFill>
                  <a:srgbClr val="9AA3B2"/>
                </a:solidFill>
                <a:latin typeface="Inter"/>
              </a:rPr>
              <a:t>The code is public and free to reuse. The idea worth copying is not the map. It is that a heat tool should sometimes refuse to give the popular answer.</a:t>
            </a:r>
          </a:p>
        </p:txBody>
      </p:sp>
      <p:sp>
        <p:nvSpPr>
          <p:cNvPr id="18" name="TextBox 17"/>
          <p:cNvSpPr txBox="1"/>
          <p:nvPr/>
        </p:nvSpPr>
        <p:spPr>
          <a:xfrm>
            <a:off x="502920" y="4096512"/>
            <a:ext cx="64008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What changes in practice</a:t>
            </a:r>
          </a:p>
        </p:txBody>
      </p:sp>
      <p:sp>
        <p:nvSpPr>
          <p:cNvPr id="19" name="Rounded Rectangle 18"/>
          <p:cNvSpPr/>
          <p:nvPr/>
        </p:nvSpPr>
        <p:spPr>
          <a:xfrm>
            <a:off x="502920" y="4389120"/>
            <a:ext cx="10917936" cy="6537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 y="4389120"/>
            <a:ext cx="10625328" cy="653796"/>
          </a:xfrm>
          <a:prstGeom prst="rect">
            <a:avLst/>
          </a:prstGeom>
          <a:noFill/>
        </p:spPr>
        <p:txBody>
          <a:bodyPr wrap="square" lIns="0" tIns="0" rIns="0" bIns="0" anchor="ctr">
            <a:spAutoFit/>
          </a:bodyPr>
          <a:lstStyle/>
          <a:p>
            <a:pPr>
              <a:lnSpc>
                <a:spcPct val="115000"/>
              </a:lnSpc>
            </a:pPr>
            <a:r>
              <a:rPr sz="1100" b="1" i="0">
                <a:solidFill>
                  <a:srgbClr val="FFFFFF"/>
                </a:solidFill>
                <a:latin typeface="Inter"/>
              </a:rPr>
              <a:t>An official </a:t>
            </a:r>
            <a:r>
              <a:rPr sz="980" b="0" i="0">
                <a:solidFill>
                  <a:srgbClr val="9AA3B2"/>
                </a:solidFill>
                <a:latin typeface="Inter"/>
              </a:rPr>
              <a:t>opens one link, sees every ward ranked by measured need, and can show a committee exactly what drove the order, factor by factor.</a:t>
            </a:r>
          </a:p>
        </p:txBody>
      </p:sp>
      <p:sp>
        <p:nvSpPr>
          <p:cNvPr id="21" name="Rounded Rectangle 20"/>
          <p:cNvSpPr/>
          <p:nvPr/>
        </p:nvSpPr>
        <p:spPr>
          <a:xfrm>
            <a:off x="502920" y="5152644"/>
            <a:ext cx="10917936" cy="6537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 y="5152644"/>
            <a:ext cx="10625328" cy="653796"/>
          </a:xfrm>
          <a:prstGeom prst="rect">
            <a:avLst/>
          </a:prstGeom>
          <a:noFill/>
        </p:spPr>
        <p:txBody>
          <a:bodyPr wrap="square" lIns="0" tIns="0" rIns="0" bIns="0" anchor="ctr">
            <a:spAutoFit/>
          </a:bodyPr>
          <a:lstStyle/>
          <a:p>
            <a:pPr>
              <a:lnSpc>
                <a:spcPct val="115000"/>
              </a:lnSpc>
            </a:pPr>
            <a:r>
              <a:rPr sz="1100" b="1" i="0">
                <a:solidFill>
                  <a:srgbClr val="FFFFFF"/>
                </a:solidFill>
                <a:latin typeface="Inter"/>
              </a:rPr>
              <a:t>A resident </a:t>
            </a:r>
            <a:r>
              <a:rPr sz="980" b="0" i="0">
                <a:solidFill>
                  <a:srgbClr val="9AA3B2"/>
                </a:solidFill>
                <a:latin typeface="Inter"/>
              </a:rPr>
              <a:t>types the name of their own neighbourhood, sees its score and what is suggested for it, and can read what the tool admits it does not know.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06 · IMPACT &amp; FUTURE SCOPE</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What comes next</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con-512.png"/>
          <p:cNvPicPr>
            <a:picLocks noChangeAspect="1"/>
          </p:cNvPicPr>
          <p:nvPr/>
        </p:nvPicPr>
        <p:blipFill>
          <a:blip r:embed="rId3"/>
          <a:stretch>
            <a:fillRect/>
          </a:stretch>
        </p:blipFill>
        <p:spPr>
          <a:xfrm>
            <a:off x="10835640" y="274320"/>
            <a:ext cx="182880" cy="182880"/>
          </a:xfrm>
          <a:prstGeom prst="rect">
            <a:avLst/>
          </a:prstGeom>
        </p:spPr>
      </p:pic>
      <p:sp>
        <p:nvSpPr>
          <p:cNvPr id="6" name="TextBox 5"/>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7" name="TextBox 6"/>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20 / 21</a:t>
            </a:r>
          </a:p>
        </p:txBody>
      </p:sp>
      <p:sp>
        <p:nvSpPr>
          <p:cNvPr id="8" name="TextBox 7"/>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The roadmap is mine. Live at ucip-eight.vercel.app. Code at github.com/AnayDhawan/UCIP. Limitation being closed by item two: cooling coefficients from Ziter et al. 2019 and Santamouris 2014 are transferred, not local.</a:t>
            </a:r>
          </a:p>
        </p:txBody>
      </p:sp>
      <p:sp>
        <p:nvSpPr>
          <p:cNvPr id="9" name="Rounded Rectangle 8"/>
          <p:cNvSpPr/>
          <p:nvPr/>
        </p:nvSpPr>
        <p:spPr>
          <a:xfrm>
            <a:off x="502920" y="1572768"/>
            <a:ext cx="7178040" cy="7680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2376" y="1664208"/>
            <a:ext cx="676656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Look at the city in finer detail.</a:t>
            </a:r>
          </a:p>
        </p:txBody>
      </p:sp>
      <p:sp>
        <p:nvSpPr>
          <p:cNvPr id="11" name="TextBox 10"/>
          <p:cNvSpPr txBox="1"/>
          <p:nvPr/>
        </p:nvSpPr>
        <p:spPr>
          <a:xfrm>
            <a:off x="722376" y="1892807"/>
            <a:ext cx="6766560" cy="384048"/>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Halving the size of each measured square would make the smallest wards far more reliable. It is a one-line change.</a:t>
            </a:r>
          </a:p>
        </p:txBody>
      </p:sp>
      <p:sp>
        <p:nvSpPr>
          <p:cNvPr id="12" name="Rounded Rectangle 11"/>
          <p:cNvSpPr/>
          <p:nvPr/>
        </p:nvSpPr>
        <p:spPr>
          <a:xfrm>
            <a:off x="502920" y="2414016"/>
            <a:ext cx="7178040" cy="7680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 y="2505456"/>
            <a:ext cx="676656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Measure the cooling here, instead of borrowing it.</a:t>
            </a:r>
          </a:p>
        </p:txBody>
      </p:sp>
      <p:sp>
        <p:nvSpPr>
          <p:cNvPr id="14" name="TextBox 13"/>
          <p:cNvSpPr txBox="1"/>
          <p:nvPr/>
        </p:nvSpPr>
        <p:spPr>
          <a:xfrm>
            <a:off x="722376" y="2734056"/>
            <a:ext cx="6766560" cy="384048"/>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Put sensors on real roofs in this city and replace the borrowed figures with local ones. This is the limitation I would most like to close.</a:t>
            </a:r>
          </a:p>
        </p:txBody>
      </p:sp>
      <p:sp>
        <p:nvSpPr>
          <p:cNvPr id="15" name="Rounded Rectangle 14"/>
          <p:cNvSpPr/>
          <p:nvPr/>
        </p:nvSpPr>
        <p:spPr>
          <a:xfrm>
            <a:off x="502920" y="3255264"/>
            <a:ext cx="7178040" cy="7680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2376" y="3346704"/>
            <a:ext cx="676656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Add the budget.</a:t>
            </a:r>
          </a:p>
        </p:txBody>
      </p:sp>
      <p:sp>
        <p:nvSpPr>
          <p:cNvPr id="17" name="TextBox 16"/>
          <p:cNvSpPr txBox="1"/>
          <p:nvPr/>
        </p:nvSpPr>
        <p:spPr>
          <a:xfrm>
            <a:off x="722376" y="3575304"/>
            <a:ext cx="6766560" cy="384048"/>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Work out how to get the most risk reduction per rupee across wards. This is the fifth column that was empty earlier. It is designed, and it does not exist yet.</a:t>
            </a:r>
          </a:p>
        </p:txBody>
      </p:sp>
      <p:sp>
        <p:nvSpPr>
          <p:cNvPr id="18" name="Rounded Rectangle 17"/>
          <p:cNvSpPr/>
          <p:nvPr/>
        </p:nvSpPr>
        <p:spPr>
          <a:xfrm>
            <a:off x="502920" y="4096512"/>
            <a:ext cx="7178040" cy="7680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2376" y="4187952"/>
            <a:ext cx="676656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Use real counts when they become available.</a:t>
            </a:r>
          </a:p>
        </p:txBody>
      </p:sp>
      <p:sp>
        <p:nvSpPr>
          <p:cNvPr id="20" name="TextBox 19"/>
          <p:cNvSpPr txBox="1"/>
          <p:nvPr/>
        </p:nvSpPr>
        <p:spPr>
          <a:xfrm>
            <a:off x="722376" y="4416552"/>
            <a:ext cx="6766560" cy="384048"/>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Replace the estimated population figures with proper local records if and when those open up.</a:t>
            </a:r>
          </a:p>
        </p:txBody>
      </p:sp>
      <p:sp>
        <p:nvSpPr>
          <p:cNvPr id="21" name="Rounded Rectangle 20"/>
          <p:cNvSpPr/>
          <p:nvPr/>
        </p:nvSpPr>
        <p:spPr>
          <a:xfrm>
            <a:off x="502920" y="4937760"/>
            <a:ext cx="7178040" cy="768096"/>
          </a:xfrm>
          <a:prstGeom prst="roundRect">
            <a:avLst>
              <a:gd name="adj" fmla="val 6000"/>
            </a:avLst>
          </a:prstGeom>
          <a:solidFill>
            <a:srgbClr val="1A2029"/>
          </a:solidFill>
          <a:ln w="9525">
            <a:solidFill>
              <a:srgbClr val="2A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 y="5029200"/>
            <a:ext cx="6766560" cy="219456"/>
          </a:xfrm>
          <a:prstGeom prst="rect">
            <a:avLst/>
          </a:prstGeom>
          <a:noFill/>
        </p:spPr>
        <p:txBody>
          <a:bodyPr wrap="square" lIns="0" tIns="0" rIns="0" bIns="0" anchor="t">
            <a:spAutoFit/>
          </a:bodyPr>
          <a:lstStyle/>
          <a:p>
            <a:pPr algn="l">
              <a:lnSpc>
                <a:spcPct val="118000"/>
              </a:lnSpc>
            </a:pPr>
            <a:r>
              <a:rPr sz="1050" b="1" i="0">
                <a:solidFill>
                  <a:srgbClr val="FFFFFF"/>
                </a:solidFill>
                <a:latin typeface="Inter"/>
              </a:rPr>
              <a:t>▸  Make it easy to move to another city.</a:t>
            </a:r>
          </a:p>
        </p:txBody>
      </p:sp>
      <p:sp>
        <p:nvSpPr>
          <p:cNvPr id="23" name="TextBox 22"/>
          <p:cNvSpPr txBox="1"/>
          <p:nvPr/>
        </p:nvSpPr>
        <p:spPr>
          <a:xfrm>
            <a:off x="722376" y="5257800"/>
            <a:ext cx="6766560" cy="384048"/>
          </a:xfrm>
          <a:prstGeom prst="rect">
            <a:avLst/>
          </a:prstGeom>
          <a:noFill/>
        </p:spPr>
        <p:txBody>
          <a:bodyPr wrap="square" lIns="0" tIns="0" rIns="0" bIns="0" anchor="t">
            <a:spAutoFit/>
          </a:bodyPr>
          <a:lstStyle/>
          <a:p>
            <a:pPr algn="l">
              <a:lnSpc>
                <a:spcPct val="118000"/>
              </a:lnSpc>
            </a:pPr>
            <a:r>
              <a:rPr sz="930" b="0" i="0">
                <a:solidFill>
                  <a:srgbClr val="9AA3B2"/>
                </a:solidFill>
                <a:latin typeface="Inter"/>
              </a:rPr>
              <a:t>Package it so the next city only has to supply its own boundaries.</a:t>
            </a:r>
          </a:p>
        </p:txBody>
      </p:sp>
      <p:sp>
        <p:nvSpPr>
          <p:cNvPr id="24" name="Rounded Rectangle 23"/>
          <p:cNvSpPr/>
          <p:nvPr/>
        </p:nvSpPr>
        <p:spPr>
          <a:xfrm>
            <a:off x="7973568" y="1572768"/>
            <a:ext cx="3712463" cy="1435608"/>
          </a:xfrm>
          <a:prstGeom prst="roundRect">
            <a:avLst>
              <a:gd name="adj" fmla="val 6000"/>
            </a:avLst>
          </a:prstGeom>
          <a:solidFill>
            <a:srgbClr val="151A24"/>
          </a:solidFill>
          <a:ln w="9525">
            <a:solidFill>
              <a:srgbClr val="0EA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11312" y="1755648"/>
            <a:ext cx="3200400" cy="256032"/>
          </a:xfrm>
          <a:prstGeom prst="rect">
            <a:avLst/>
          </a:prstGeom>
          <a:noFill/>
        </p:spPr>
        <p:txBody>
          <a:bodyPr wrap="square" lIns="0" tIns="0" rIns="0" bIns="0" anchor="t">
            <a:spAutoFit/>
          </a:bodyPr>
          <a:lstStyle/>
          <a:p>
            <a:r>
              <a:rPr sz="1200" b="1" i="0">
                <a:solidFill>
                  <a:srgbClr val="0EA5B3"/>
                </a:solidFill>
                <a:latin typeface="Inter"/>
              </a:rPr>
              <a:t>● </a:t>
            </a:r>
            <a:r>
              <a:rPr sz="1200" b="1" i="0">
                <a:solidFill>
                  <a:srgbClr val="FFFFFF"/>
                </a:solidFill>
                <a:latin typeface="Inter"/>
              </a:rPr>
              <a:t>Being straight about this list</a:t>
            </a:r>
          </a:p>
        </p:txBody>
      </p:sp>
      <p:sp>
        <p:nvSpPr>
          <p:cNvPr id="26" name="TextBox 25"/>
          <p:cNvSpPr txBox="1"/>
          <p:nvPr/>
        </p:nvSpPr>
        <p:spPr>
          <a:xfrm>
            <a:off x="8211312" y="2121408"/>
            <a:ext cx="3255264" cy="879472"/>
          </a:xfrm>
          <a:prstGeom prst="rect">
            <a:avLst/>
          </a:prstGeom>
          <a:noFill/>
        </p:spPr>
        <p:txBody>
          <a:bodyPr wrap="square" lIns="0" tIns="0" rIns="0" bIns="0" anchor="t">
            <a:spAutoFit/>
          </a:bodyPr>
          <a:lstStyle/>
          <a:p>
            <a:pPr>
              <a:lnSpc>
                <a:spcPct val="122000"/>
              </a:lnSpc>
            </a:pPr>
            <a:r>
              <a:rPr lang="en-US" sz="950" dirty="0">
                <a:solidFill>
                  <a:srgbClr val="9AA3B2"/>
                </a:solidFill>
                <a:latin typeface="Inter"/>
              </a:rPr>
              <a:t> Ideated by myself, Code and API architecture by myself, feature and raw UI planning by myself. Rest of the work such as working with the codebase, research on factors affecting heat, measuring heat, </a:t>
            </a:r>
            <a:r>
              <a:rPr lang="en-US" sz="950" dirty="0" err="1">
                <a:solidFill>
                  <a:srgbClr val="9AA3B2"/>
                </a:solidFill>
                <a:latin typeface="Inter"/>
              </a:rPr>
              <a:t>etc</a:t>
            </a:r>
            <a:r>
              <a:rPr lang="en-US" sz="950" dirty="0">
                <a:solidFill>
                  <a:srgbClr val="9AA3B2"/>
                </a:solidFill>
                <a:latin typeface="Inter"/>
              </a:rPr>
              <a:t>, and webpage copy majorly handled by Claude Code.</a:t>
            </a:r>
          </a:p>
          <a:p>
            <a:pPr algn="l">
              <a:lnSpc>
                <a:spcPct val="122000"/>
              </a:lnSpc>
            </a:pPr>
            <a:endParaRPr sz="950" b="0" i="0" dirty="0">
              <a:solidFill>
                <a:srgbClr val="9AA3B2"/>
              </a:solidFill>
              <a:latin typeface="Inter"/>
            </a:endParaRPr>
          </a:p>
        </p:txBody>
      </p:sp>
      <p:sp>
        <p:nvSpPr>
          <p:cNvPr id="27" name="Rounded Rectangle 26"/>
          <p:cNvSpPr/>
          <p:nvPr/>
        </p:nvSpPr>
        <p:spPr>
          <a:xfrm>
            <a:off x="7973568" y="3136391"/>
            <a:ext cx="1188720" cy="54864"/>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973568" y="5248656"/>
            <a:ext cx="3712463" cy="585216"/>
          </a:xfrm>
          <a:prstGeom prst="roundRect">
            <a:avLst>
              <a:gd name="adj" fmla="val 6000"/>
            </a:avLst>
          </a:prstGeom>
          <a:solidFill>
            <a:srgbClr val="1A2029"/>
          </a:solidFill>
          <a:ln w="9525">
            <a:solidFill>
              <a:srgbClr val="0EA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11312" y="5285232"/>
            <a:ext cx="3255264" cy="256032"/>
          </a:xfrm>
          <a:prstGeom prst="rect">
            <a:avLst/>
          </a:prstGeom>
          <a:noFill/>
        </p:spPr>
        <p:txBody>
          <a:bodyPr wrap="square" lIns="0" tIns="0" rIns="0" bIns="0" anchor="ctr">
            <a:spAutoFit/>
          </a:bodyPr>
          <a:lstStyle/>
          <a:p>
            <a:pPr algn="l">
              <a:lnSpc>
                <a:spcPct val="118000"/>
              </a:lnSpc>
            </a:pPr>
            <a:r>
              <a:rPr sz="1150" b="0" i="0">
                <a:solidFill>
                  <a:srgbClr val="0EA5B3"/>
                </a:solidFill>
                <a:latin typeface="JetBrains Mono"/>
              </a:rPr>
              <a:t>ucip-eight.vercel.app</a:t>
            </a:r>
          </a:p>
        </p:txBody>
      </p:sp>
      <p:sp>
        <p:nvSpPr>
          <p:cNvPr id="31" name="TextBox 30"/>
          <p:cNvSpPr txBox="1"/>
          <p:nvPr/>
        </p:nvSpPr>
        <p:spPr>
          <a:xfrm>
            <a:off x="8211312" y="5541264"/>
            <a:ext cx="3255264" cy="237744"/>
          </a:xfrm>
          <a:prstGeom prst="rect">
            <a:avLst/>
          </a:prstGeom>
          <a:noFill/>
        </p:spPr>
        <p:txBody>
          <a:bodyPr wrap="square" lIns="0" tIns="0" rIns="0" bIns="0" anchor="ctr">
            <a:spAutoFit/>
          </a:bodyPr>
          <a:lstStyle/>
          <a:p>
            <a:pPr algn="l">
              <a:lnSpc>
                <a:spcPct val="118000"/>
              </a:lnSpc>
            </a:pPr>
            <a:r>
              <a:rPr sz="900" b="0" i="0">
                <a:solidFill>
                  <a:srgbClr val="9AA3B2"/>
                </a:solidFill>
                <a:latin typeface="JetBrains Mono"/>
              </a:rPr>
              <a:t>github.com/AnayDhawan/UCIP</a:t>
            </a:r>
          </a:p>
        </p:txBody>
      </p:sp>
      <p:sp>
        <p:nvSpPr>
          <p:cNvPr id="32" name="TextBox 31"/>
          <p:cNvSpPr txBox="1"/>
          <p:nvPr/>
        </p:nvSpPr>
        <p:spPr>
          <a:xfrm>
            <a:off x="502920" y="5852160"/>
            <a:ext cx="7178040" cy="365760"/>
          </a:xfrm>
          <a:prstGeom prst="rect">
            <a:avLst/>
          </a:prstGeom>
          <a:noFill/>
        </p:spPr>
        <p:txBody>
          <a:bodyPr wrap="square" lIns="0" tIns="0" rIns="0" bIns="0" anchor="t">
            <a:spAutoFit/>
          </a:bodyPr>
          <a:lstStyle/>
          <a:p>
            <a:pPr algn="l">
              <a:lnSpc>
                <a:spcPct val="118000"/>
              </a:lnSpc>
            </a:pPr>
            <a:r>
              <a:rPr sz="1100" b="1" i="0">
                <a:solidFill>
                  <a:srgbClr val="E6EAF2"/>
                </a:solidFill>
                <a:latin typeface="Inter"/>
              </a:rPr>
              <a:t>I cannot cool that roof. I can tell you, with evidence, which one to cool first.</a:t>
            </a:r>
          </a:p>
        </p:txBody>
      </p:sp>
      <p:pic>
        <p:nvPicPr>
          <p:cNvPr id="36" name="Picture 35" descr="The image depicts a digital platform designed to aid in decision-making for managing heat vulnerability at the ward level in Mumbai, under the Urban Climate Intelligence Program.&#10;&#10;AI-generated content may be incorrect.">
            <a:extLst>
              <a:ext uri="{FF2B5EF4-FFF2-40B4-BE49-F238E27FC236}">
                <a16:creationId xmlns:a16="http://schemas.microsoft.com/office/drawing/2014/main" id="{3DE957C0-1D81-0480-4B9C-B5930BA54965}"/>
              </a:ext>
            </a:extLst>
          </p:cNvPr>
          <p:cNvPicPr>
            <a:picLocks noChangeAspect="1"/>
          </p:cNvPicPr>
          <p:nvPr/>
        </p:nvPicPr>
        <p:blipFill>
          <a:blip r:embed="rId4"/>
          <a:stretch>
            <a:fillRect/>
          </a:stretch>
        </p:blipFill>
        <p:spPr>
          <a:xfrm>
            <a:off x="7982713" y="3310129"/>
            <a:ext cx="3703318" cy="17556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017"/>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778240" cy="219456"/>
          </a:xfrm>
          <a:prstGeom prst="rect">
            <a:avLst/>
          </a:prstGeom>
          <a:noFill/>
        </p:spPr>
        <p:txBody>
          <a:bodyPr wrap="square" lIns="0" tIns="0" rIns="0" bIns="0" anchor="t">
            <a:spAutoFit/>
          </a:bodyPr>
          <a:lstStyle/>
          <a:p>
            <a:r>
              <a:rPr sz="1100" b="1" i="0">
                <a:solidFill>
                  <a:srgbClr val="0EA5B3"/>
                </a:solidFill>
                <a:latin typeface="JetBrains Mono"/>
              </a:rPr>
              <a:t>06 · IMPACT &amp; FUTURE SCOPE</a:t>
            </a:r>
          </a:p>
        </p:txBody>
      </p:sp>
      <p:sp>
        <p:nvSpPr>
          <p:cNvPr id="3" name="TextBox 2"/>
          <p:cNvSpPr txBox="1"/>
          <p:nvPr/>
        </p:nvSpPr>
        <p:spPr>
          <a:xfrm>
            <a:off x="502920" y="548640"/>
            <a:ext cx="9875520" cy="457200"/>
          </a:xfrm>
          <a:prstGeom prst="rect">
            <a:avLst/>
          </a:prstGeom>
          <a:noFill/>
        </p:spPr>
        <p:txBody>
          <a:bodyPr wrap="square" lIns="0" tIns="0" rIns="0" bIns="0" anchor="t">
            <a:spAutoFit/>
          </a:bodyPr>
          <a:lstStyle/>
          <a:p>
            <a:r>
              <a:rPr sz="2500" b="1" i="0">
                <a:solidFill>
                  <a:srgbClr val="FFFFFF"/>
                </a:solidFill>
                <a:latin typeface="Inter"/>
              </a:rPr>
              <a:t>Every source behind this deck</a:t>
            </a:r>
          </a:p>
        </p:txBody>
      </p:sp>
      <p:sp>
        <p:nvSpPr>
          <p:cNvPr id="4" name="Rounded Rectangle 3"/>
          <p:cNvSpPr/>
          <p:nvPr/>
        </p:nvSpPr>
        <p:spPr>
          <a:xfrm>
            <a:off x="502920" y="1051560"/>
            <a:ext cx="822960" cy="50292"/>
          </a:xfrm>
          <a:prstGeom prst="roundRect">
            <a:avLst>
              <a:gd name="adj" fmla="val 50000"/>
            </a:avLst>
          </a:prstGeom>
          <a:gradFill rotWithShape="1">
            <a:gsLst>
              <a:gs pos="0">
                <a:srgbClr val="0EA5B3"/>
              </a:gs>
              <a:gs pos="100000">
                <a:srgbClr val="22C55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07008"/>
            <a:ext cx="10058400" cy="274320"/>
          </a:xfrm>
          <a:prstGeom prst="rect">
            <a:avLst/>
          </a:prstGeom>
          <a:noFill/>
        </p:spPr>
        <p:txBody>
          <a:bodyPr wrap="square" lIns="0" tIns="0" rIns="0" bIns="0" anchor="t">
            <a:spAutoFit/>
          </a:bodyPr>
          <a:lstStyle/>
          <a:p>
            <a:pPr algn="l">
              <a:lnSpc>
                <a:spcPct val="118000"/>
              </a:lnSpc>
            </a:pPr>
            <a:r>
              <a:rPr sz="1050" b="0" i="0">
                <a:solidFill>
                  <a:srgbClr val="BBBEC6"/>
                </a:solidFill>
                <a:latin typeface="Inter"/>
              </a:rPr>
              <a:t>Not presented. This page exists so any claim in the deck can be traced without asking me.</a:t>
            </a:r>
          </a:p>
        </p:txBody>
      </p:sp>
      <p:pic>
        <p:nvPicPr>
          <p:cNvPr id="6" name="Picture 5" descr="icon-512.png"/>
          <p:cNvPicPr>
            <a:picLocks noChangeAspect="1"/>
          </p:cNvPicPr>
          <p:nvPr/>
        </p:nvPicPr>
        <p:blipFill>
          <a:blip r:embed="rId3"/>
          <a:stretch>
            <a:fillRect/>
          </a:stretch>
        </p:blipFill>
        <p:spPr>
          <a:xfrm>
            <a:off x="10835640" y="274320"/>
            <a:ext cx="182880" cy="182880"/>
          </a:xfrm>
          <a:prstGeom prst="rect">
            <a:avLst/>
          </a:prstGeom>
        </p:spPr>
      </p:pic>
      <p:sp>
        <p:nvSpPr>
          <p:cNvPr id="7" name="TextBox 6"/>
          <p:cNvSpPr txBox="1"/>
          <p:nvPr/>
        </p:nvSpPr>
        <p:spPr>
          <a:xfrm>
            <a:off x="11091672" y="265176"/>
            <a:ext cx="640080" cy="219456"/>
          </a:xfrm>
          <a:prstGeom prst="rect">
            <a:avLst/>
          </a:prstGeom>
          <a:noFill/>
        </p:spPr>
        <p:txBody>
          <a:bodyPr wrap="square" lIns="0" tIns="0" rIns="0" bIns="0" anchor="ctr">
            <a:spAutoFit/>
          </a:bodyPr>
          <a:lstStyle/>
          <a:p>
            <a:r>
              <a:rPr sz="1050" b="1" i="0">
                <a:solidFill>
                  <a:srgbClr val="84888F"/>
                </a:solidFill>
                <a:latin typeface="JetBrains Mono"/>
              </a:rPr>
              <a:t>UCIP</a:t>
            </a:r>
          </a:p>
        </p:txBody>
      </p:sp>
      <p:sp>
        <p:nvSpPr>
          <p:cNvPr id="8" name="TextBox 7"/>
          <p:cNvSpPr txBox="1"/>
          <p:nvPr/>
        </p:nvSpPr>
        <p:spPr>
          <a:xfrm>
            <a:off x="10881360" y="6528816"/>
            <a:ext cx="804672" cy="256032"/>
          </a:xfrm>
          <a:prstGeom prst="rect">
            <a:avLst/>
          </a:prstGeom>
          <a:noFill/>
        </p:spPr>
        <p:txBody>
          <a:bodyPr wrap="square" lIns="0" tIns="0" rIns="0" bIns="0" anchor="ctr">
            <a:spAutoFit/>
          </a:bodyPr>
          <a:lstStyle/>
          <a:p>
            <a:pPr algn="r"/>
            <a:r>
              <a:rPr sz="900" b="0" i="0">
                <a:solidFill>
                  <a:srgbClr val="52565D"/>
                </a:solidFill>
                <a:latin typeface="JetBrains Mono"/>
              </a:rPr>
              <a:t>21 / 21</a:t>
            </a:r>
          </a:p>
        </p:txBody>
      </p:sp>
      <p:sp>
        <p:nvSpPr>
          <p:cNvPr id="9" name="TextBox 8"/>
          <p:cNvSpPr txBox="1"/>
          <p:nvPr/>
        </p:nvSpPr>
        <p:spPr>
          <a:xfrm>
            <a:off x="502920" y="6400800"/>
            <a:ext cx="10195560" cy="420624"/>
          </a:xfrm>
          <a:prstGeom prst="rect">
            <a:avLst/>
          </a:prstGeom>
          <a:noFill/>
        </p:spPr>
        <p:txBody>
          <a:bodyPr wrap="square" lIns="0" tIns="0" rIns="0" bIns="0" anchor="t">
            <a:spAutoFit/>
          </a:bodyPr>
          <a:lstStyle/>
          <a:p>
            <a:pPr algn="l">
              <a:lnSpc>
                <a:spcPct val="108000"/>
              </a:lnSpc>
            </a:pPr>
            <a:r>
              <a:rPr sz="750" b="0" i="0">
                <a:solidFill>
                  <a:srgbClr val="52565D"/>
                </a:solidFill>
                <a:latin typeface="Inter"/>
              </a:rPr>
              <a:t>Sources: Read at build time from the same citation module the live site renders, so this list cannot drift from the one published online.</a:t>
            </a:r>
          </a:p>
        </p:txBody>
      </p:sp>
      <p:sp>
        <p:nvSpPr>
          <p:cNvPr id="10" name="TextBox 9"/>
          <p:cNvSpPr txBox="1"/>
          <p:nvPr/>
        </p:nvSpPr>
        <p:spPr>
          <a:xfrm>
            <a:off x="502920" y="1609344"/>
            <a:ext cx="548640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Research papers (11)</a:t>
            </a:r>
          </a:p>
        </p:txBody>
      </p:sp>
      <p:graphicFrame>
        <p:nvGraphicFramePr>
          <p:cNvPr id="11" name="Table 10"/>
          <p:cNvGraphicFramePr>
            <a:graphicFrameLocks noGrp="1"/>
          </p:cNvGraphicFramePr>
          <p:nvPr/>
        </p:nvGraphicFramePr>
        <p:xfrm>
          <a:off x="502920" y="1883664"/>
          <a:ext cx="6903720" cy="3703312"/>
        </p:xfrm>
        <a:graphic>
          <a:graphicData uri="http://schemas.openxmlformats.org/drawingml/2006/table">
            <a:tbl>
              <a:tblPr>
                <a:tableStyleId>{5940675A-B579-460E-94D1-54222C63F5DA}</a:tableStyleId>
              </a:tblPr>
              <a:tblGrid>
                <a:gridCol w="19659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292608">
                <a:tc>
                  <a:txBody>
                    <a:bodyPr/>
                    <a:lstStyle/>
                    <a:p>
                      <a:pPr algn="l">
                        <a:lnSpc>
                          <a:spcPct val="105000"/>
                        </a:lnSpc>
                      </a:pPr>
                      <a:r>
                        <a:rPr sz="800" b="1">
                          <a:solidFill>
                            <a:srgbClr val="FFFFFF"/>
                          </a:solidFill>
                          <a:latin typeface="Inter"/>
                        </a:rPr>
                        <a:t>Authors</a:t>
                      </a:r>
                    </a:p>
                  </a:txBody>
                  <a:tcPr marL="73152" marR="73152" marT="27432" marB="27432" anchor="ctr">
                    <a:solidFill>
                      <a:srgbClr val="0EA5B3"/>
                    </a:solidFill>
                  </a:tcPr>
                </a:tc>
                <a:tc>
                  <a:txBody>
                    <a:bodyPr/>
                    <a:lstStyle/>
                    <a:p>
                      <a:pPr algn="l">
                        <a:lnSpc>
                          <a:spcPct val="105000"/>
                        </a:lnSpc>
                      </a:pPr>
                      <a:r>
                        <a:rPr sz="800" b="1">
                          <a:solidFill>
                            <a:srgbClr val="FFFFFF"/>
                          </a:solidFill>
                          <a:latin typeface="Inter"/>
                        </a:rPr>
                        <a:t>Venue</a:t>
                      </a:r>
                    </a:p>
                  </a:txBody>
                  <a:tcPr marL="73152" marR="73152" marT="27432" marB="27432" anchor="ctr">
                    <a:solidFill>
                      <a:srgbClr val="0EA5B3"/>
                    </a:solidFill>
                  </a:tcPr>
                </a:tc>
                <a:tc>
                  <a:txBody>
                    <a:bodyPr/>
                    <a:lstStyle/>
                    <a:p>
                      <a:pPr algn="l">
                        <a:lnSpc>
                          <a:spcPct val="105000"/>
                        </a:lnSpc>
                      </a:pPr>
                      <a:r>
                        <a:rPr sz="800" b="1">
                          <a:solidFill>
                            <a:srgbClr val="FFFFFF"/>
                          </a:solidFill>
                          <a:latin typeface="Inter"/>
                        </a:rPr>
                        <a:t>DOI</a:t>
                      </a:r>
                    </a:p>
                  </a:txBody>
                  <a:tcPr marL="73152" marR="73152" marT="27432" marB="27432" anchor="ctr">
                    <a:solidFill>
                      <a:srgbClr val="0EA5B3"/>
                    </a:solidFill>
                  </a:tcPr>
                </a:tc>
                <a:extLst>
                  <a:ext uri="{0D108BD9-81ED-4DB2-BD59-A6C34878D82A}">
                    <a16:rowId xmlns:a16="http://schemas.microsoft.com/office/drawing/2014/main" val="10000"/>
                  </a:ext>
                </a:extLst>
              </a:tr>
              <a:tr h="310064">
                <a:tc>
                  <a:txBody>
                    <a:bodyPr/>
                    <a:lstStyle/>
                    <a:p>
                      <a:pPr algn="l">
                        <a:lnSpc>
                          <a:spcPct val="105000"/>
                        </a:lnSpc>
                      </a:pPr>
                      <a:r>
                        <a:rPr sz="740" b="1">
                          <a:solidFill>
                            <a:srgbClr val="E6EAF2"/>
                          </a:solidFill>
                          <a:latin typeface="Inter"/>
                        </a:rPr>
                        <a:t>Reid et al. 2009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Environ. Health Perspect. 117(11):1730-1736</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10.1289/ehp.0900683</a:t>
                      </a:r>
                    </a:p>
                  </a:txBody>
                  <a:tcPr marL="73152" marR="73152" marT="27432" marB="27432" anchor="ctr">
                    <a:solidFill>
                      <a:srgbClr val="151A24"/>
                    </a:solidFill>
                  </a:tcPr>
                </a:tc>
                <a:extLst>
                  <a:ext uri="{0D108BD9-81ED-4DB2-BD59-A6C34878D82A}">
                    <a16:rowId xmlns:a16="http://schemas.microsoft.com/office/drawing/2014/main" val="10001"/>
                  </a:ext>
                </a:extLst>
              </a:tr>
              <a:tr h="310064">
                <a:tc>
                  <a:txBody>
                    <a:bodyPr/>
                    <a:lstStyle/>
                    <a:p>
                      <a:pPr algn="l">
                        <a:lnSpc>
                          <a:spcPct val="105000"/>
                        </a:lnSpc>
                      </a:pPr>
                      <a:r>
                        <a:rPr sz="740" b="1">
                          <a:solidFill>
                            <a:srgbClr val="E6EAF2"/>
                          </a:solidFill>
                          <a:latin typeface="Inter"/>
                        </a:rPr>
                        <a:t>Knowlton et al. 2014</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IJERPH 11(4):3473-3492</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10.3390/ijerph110403473</a:t>
                      </a:r>
                    </a:p>
                  </a:txBody>
                  <a:tcPr marL="73152" marR="73152" marT="27432" marB="27432" anchor="ctr">
                    <a:solidFill>
                      <a:srgbClr val="151A24"/>
                    </a:solidFill>
                  </a:tcPr>
                </a:tc>
                <a:extLst>
                  <a:ext uri="{0D108BD9-81ED-4DB2-BD59-A6C34878D82A}">
                    <a16:rowId xmlns:a16="http://schemas.microsoft.com/office/drawing/2014/main" val="10002"/>
                  </a:ext>
                </a:extLst>
              </a:tr>
              <a:tr h="310064">
                <a:tc>
                  <a:txBody>
                    <a:bodyPr/>
                    <a:lstStyle/>
                    <a:p>
                      <a:pPr algn="l">
                        <a:lnSpc>
                          <a:spcPct val="105000"/>
                        </a:lnSpc>
                      </a:pPr>
                      <a:r>
                        <a:rPr sz="740" b="1">
                          <a:solidFill>
                            <a:srgbClr val="E6EAF2"/>
                          </a:solidFill>
                          <a:latin typeface="Inter"/>
                        </a:rPr>
                        <a:t>Azhar et al. 2017 (RAND India HVI)</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IJERPH 14(4):357</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10.3390/ijerph14040357</a:t>
                      </a:r>
                    </a:p>
                  </a:txBody>
                  <a:tcPr marL="73152" marR="73152" marT="27432" marB="27432" anchor="ctr">
                    <a:solidFill>
                      <a:srgbClr val="151A24"/>
                    </a:solidFill>
                  </a:tcPr>
                </a:tc>
                <a:extLst>
                  <a:ext uri="{0D108BD9-81ED-4DB2-BD59-A6C34878D82A}">
                    <a16:rowId xmlns:a16="http://schemas.microsoft.com/office/drawing/2014/main" val="10003"/>
                  </a:ext>
                </a:extLst>
              </a:tr>
              <a:tr h="310064">
                <a:tc>
                  <a:txBody>
                    <a:bodyPr/>
                    <a:lstStyle/>
                    <a:p>
                      <a:pPr algn="l">
                        <a:lnSpc>
                          <a:spcPct val="105000"/>
                        </a:lnSpc>
                      </a:pPr>
                      <a:r>
                        <a:rPr sz="740" b="1">
                          <a:solidFill>
                            <a:srgbClr val="E6EAF2"/>
                          </a:solidFill>
                          <a:latin typeface="Inter"/>
                        </a:rPr>
                        <a:t>Bastin et al. 2019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Science 365(6448):76-79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10.1126/science.aax0848</a:t>
                      </a:r>
                    </a:p>
                  </a:txBody>
                  <a:tcPr marL="73152" marR="73152" marT="27432" marB="27432" anchor="ctr">
                    <a:solidFill>
                      <a:srgbClr val="151A24"/>
                    </a:solidFill>
                  </a:tcPr>
                </a:tc>
                <a:extLst>
                  <a:ext uri="{0D108BD9-81ED-4DB2-BD59-A6C34878D82A}">
                    <a16:rowId xmlns:a16="http://schemas.microsoft.com/office/drawing/2014/main" val="10004"/>
                  </a:ext>
                </a:extLst>
              </a:tr>
              <a:tr h="310064">
                <a:tc>
                  <a:txBody>
                    <a:bodyPr/>
                    <a:lstStyle/>
                    <a:p>
                      <a:pPr algn="l">
                        <a:lnSpc>
                          <a:spcPct val="105000"/>
                        </a:lnSpc>
                      </a:pPr>
                      <a:r>
                        <a:rPr sz="740" b="1">
                          <a:solidFill>
                            <a:srgbClr val="E6EAF2"/>
                          </a:solidFill>
                          <a:latin typeface="Inter"/>
                        </a:rPr>
                        <a:t>Veldman et al. 2019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Science 366(6463):eaay7976</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10.1126/science.aay7976</a:t>
                      </a:r>
                    </a:p>
                  </a:txBody>
                  <a:tcPr marL="73152" marR="73152" marT="27432" marB="27432" anchor="ctr">
                    <a:solidFill>
                      <a:srgbClr val="151A24"/>
                    </a:solidFill>
                  </a:tcPr>
                </a:tc>
                <a:extLst>
                  <a:ext uri="{0D108BD9-81ED-4DB2-BD59-A6C34878D82A}">
                    <a16:rowId xmlns:a16="http://schemas.microsoft.com/office/drawing/2014/main" val="10005"/>
                  </a:ext>
                </a:extLst>
              </a:tr>
              <a:tr h="310064">
                <a:tc>
                  <a:txBody>
                    <a:bodyPr/>
                    <a:lstStyle/>
                    <a:p>
                      <a:pPr algn="l">
                        <a:lnSpc>
                          <a:spcPct val="105000"/>
                        </a:lnSpc>
                      </a:pPr>
                      <a:r>
                        <a:rPr sz="740" b="1">
                          <a:solidFill>
                            <a:srgbClr val="E6EAF2"/>
                          </a:solidFill>
                          <a:latin typeface="Inter"/>
                        </a:rPr>
                        <a:t>Friedlingstein et al. 2019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Science 366(6463):eaay8060</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10.1126/science.aay8060</a:t>
                      </a:r>
                    </a:p>
                  </a:txBody>
                  <a:tcPr marL="73152" marR="73152" marT="27432" marB="27432" anchor="ctr">
                    <a:solidFill>
                      <a:srgbClr val="151A24"/>
                    </a:solidFill>
                  </a:tcPr>
                </a:tc>
                <a:extLst>
                  <a:ext uri="{0D108BD9-81ED-4DB2-BD59-A6C34878D82A}">
                    <a16:rowId xmlns:a16="http://schemas.microsoft.com/office/drawing/2014/main" val="10006"/>
                  </a:ext>
                </a:extLst>
              </a:tr>
              <a:tr h="310064">
                <a:tc>
                  <a:txBody>
                    <a:bodyPr/>
                    <a:lstStyle/>
                    <a:p>
                      <a:pPr algn="l">
                        <a:lnSpc>
                          <a:spcPct val="105000"/>
                        </a:lnSpc>
                      </a:pPr>
                      <a:r>
                        <a:rPr sz="740" b="1">
                          <a:solidFill>
                            <a:srgbClr val="E6EAF2"/>
                          </a:solidFill>
                          <a:latin typeface="Inter"/>
                        </a:rPr>
                        <a:t>Lewis et al. 2019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Science 366(6463):eaaz0388</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10.1126/science.aaz0388</a:t>
                      </a:r>
                    </a:p>
                  </a:txBody>
                  <a:tcPr marL="73152" marR="73152" marT="27432" marB="27432" anchor="ctr">
                    <a:solidFill>
                      <a:srgbClr val="151A24"/>
                    </a:solidFill>
                  </a:tcPr>
                </a:tc>
                <a:extLst>
                  <a:ext uri="{0D108BD9-81ED-4DB2-BD59-A6C34878D82A}">
                    <a16:rowId xmlns:a16="http://schemas.microsoft.com/office/drawing/2014/main" val="10007"/>
                  </a:ext>
                </a:extLst>
              </a:tr>
              <a:tr h="310064">
                <a:tc>
                  <a:txBody>
                    <a:bodyPr/>
                    <a:lstStyle/>
                    <a:p>
                      <a:pPr algn="l">
                        <a:lnSpc>
                          <a:spcPct val="105000"/>
                        </a:lnSpc>
                      </a:pPr>
                      <a:r>
                        <a:rPr sz="740" b="1">
                          <a:solidFill>
                            <a:srgbClr val="E6EAF2"/>
                          </a:solidFill>
                          <a:latin typeface="Inter"/>
                        </a:rPr>
                        <a:t>Ziter et al. 2019</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PNAS 116(15):7575-7580</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10.1073/pnas.1817561116</a:t>
                      </a:r>
                    </a:p>
                  </a:txBody>
                  <a:tcPr marL="73152" marR="73152" marT="27432" marB="27432" anchor="ctr">
                    <a:solidFill>
                      <a:srgbClr val="151A24"/>
                    </a:solidFill>
                  </a:tcPr>
                </a:tc>
                <a:extLst>
                  <a:ext uri="{0D108BD9-81ED-4DB2-BD59-A6C34878D82A}">
                    <a16:rowId xmlns:a16="http://schemas.microsoft.com/office/drawing/2014/main" val="10008"/>
                  </a:ext>
                </a:extLst>
              </a:tr>
              <a:tr h="310064">
                <a:tc>
                  <a:txBody>
                    <a:bodyPr/>
                    <a:lstStyle/>
                    <a:p>
                      <a:pPr algn="l">
                        <a:lnSpc>
                          <a:spcPct val="105000"/>
                        </a:lnSpc>
                      </a:pPr>
                      <a:r>
                        <a:rPr sz="740" b="1">
                          <a:solidFill>
                            <a:srgbClr val="E6EAF2"/>
                          </a:solidFill>
                          <a:latin typeface="Inter"/>
                        </a:rPr>
                        <a:t>Li, Bou-Zeid &amp; Oppenheimer 2014</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Environ. Res. Lett. 9(5):055002</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10.1088/1748-9326/9/5/055002</a:t>
                      </a:r>
                    </a:p>
                  </a:txBody>
                  <a:tcPr marL="73152" marR="73152" marT="27432" marB="27432" anchor="ctr">
                    <a:solidFill>
                      <a:srgbClr val="151A24"/>
                    </a:solidFill>
                  </a:tcPr>
                </a:tc>
                <a:extLst>
                  <a:ext uri="{0D108BD9-81ED-4DB2-BD59-A6C34878D82A}">
                    <a16:rowId xmlns:a16="http://schemas.microsoft.com/office/drawing/2014/main" val="10009"/>
                  </a:ext>
                </a:extLst>
              </a:tr>
              <a:tr h="310064">
                <a:tc>
                  <a:txBody>
                    <a:bodyPr/>
                    <a:lstStyle/>
                    <a:p>
                      <a:pPr algn="l">
                        <a:lnSpc>
                          <a:spcPct val="105000"/>
                        </a:lnSpc>
                      </a:pPr>
                      <a:r>
                        <a:rPr sz="740" b="1">
                          <a:solidFill>
                            <a:srgbClr val="E6EAF2"/>
                          </a:solidFill>
                          <a:latin typeface="Inter"/>
                        </a:rPr>
                        <a:t>Santamouris 2014</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Solar Energy 103:682-703</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10.1016/j.solener.2012.07.003</a:t>
                      </a:r>
                    </a:p>
                  </a:txBody>
                  <a:tcPr marL="73152" marR="73152" marT="27432" marB="27432" anchor="ctr">
                    <a:solidFill>
                      <a:srgbClr val="151A24"/>
                    </a:solidFill>
                  </a:tcPr>
                </a:tc>
                <a:extLst>
                  <a:ext uri="{0D108BD9-81ED-4DB2-BD59-A6C34878D82A}">
                    <a16:rowId xmlns:a16="http://schemas.microsoft.com/office/drawing/2014/main" val="10010"/>
                  </a:ext>
                </a:extLst>
              </a:tr>
              <a:tr h="310064">
                <a:tc>
                  <a:txBody>
                    <a:bodyPr/>
                    <a:lstStyle/>
                    <a:p>
                      <a:pPr algn="l">
                        <a:lnSpc>
                          <a:spcPct val="105000"/>
                        </a:lnSpc>
                      </a:pPr>
                      <a:r>
                        <a:rPr sz="740" b="1">
                          <a:solidFill>
                            <a:srgbClr val="E6EAF2"/>
                          </a:solidFill>
                          <a:latin typeface="Inter"/>
                        </a:rPr>
                        <a:t>Bowler et al. 2010</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Landscape and Urban Planning 97:147-155</a:t>
                      </a:r>
                    </a:p>
                  </a:txBody>
                  <a:tcPr marL="73152" marR="73152" marT="27432" marB="27432" anchor="ctr">
                    <a:solidFill>
                      <a:srgbClr val="151A24"/>
                    </a:solidFill>
                  </a:tcPr>
                </a:tc>
                <a:tc>
                  <a:txBody>
                    <a:bodyPr/>
                    <a:lstStyle/>
                    <a:p>
                      <a:pPr algn="l">
                        <a:lnSpc>
                          <a:spcPct val="105000"/>
                        </a:lnSpc>
                      </a:pPr>
                      <a:r>
                        <a:rPr sz="740" b="0">
                          <a:solidFill>
                            <a:srgbClr val="9AA3B2"/>
                          </a:solidFill>
                          <a:latin typeface="Inter"/>
                        </a:rPr>
                        <a:t>10.1016/j.landurbplan.2010.05.006</a:t>
                      </a:r>
                    </a:p>
                  </a:txBody>
                  <a:tcPr marL="73152" marR="73152" marT="27432" marB="27432" anchor="ctr">
                    <a:solidFill>
                      <a:srgbClr val="151A24"/>
                    </a:solidFill>
                  </a:tcPr>
                </a:tc>
                <a:extLst>
                  <a:ext uri="{0D108BD9-81ED-4DB2-BD59-A6C34878D82A}">
                    <a16:rowId xmlns:a16="http://schemas.microsoft.com/office/drawing/2014/main" val="10011"/>
                  </a:ext>
                </a:extLst>
              </a:tr>
            </a:tbl>
          </a:graphicData>
        </a:graphic>
      </p:graphicFrame>
      <p:sp>
        <p:nvSpPr>
          <p:cNvPr id="12" name="TextBox 11"/>
          <p:cNvSpPr txBox="1"/>
          <p:nvPr/>
        </p:nvSpPr>
        <p:spPr>
          <a:xfrm>
            <a:off x="7699248" y="1609344"/>
            <a:ext cx="4023360" cy="237744"/>
          </a:xfrm>
          <a:prstGeom prst="rect">
            <a:avLst/>
          </a:prstGeom>
          <a:noFill/>
        </p:spPr>
        <p:txBody>
          <a:bodyPr wrap="square" lIns="0" tIns="0" rIns="0" bIns="0" anchor="t">
            <a:spAutoFit/>
          </a:bodyPr>
          <a:lstStyle/>
          <a:p>
            <a:pPr algn="l">
              <a:lnSpc>
                <a:spcPct val="118000"/>
              </a:lnSpc>
            </a:pPr>
            <a:r>
              <a:rPr sz="1100" b="1" i="0">
                <a:solidFill>
                  <a:srgbClr val="FFFFFF"/>
                </a:solidFill>
                <a:latin typeface="Inter"/>
              </a:rPr>
              <a:t>Data sources (8), all openly licensed</a:t>
            </a:r>
          </a:p>
        </p:txBody>
      </p:sp>
      <p:graphicFrame>
        <p:nvGraphicFramePr>
          <p:cNvPr id="13" name="Table 12"/>
          <p:cNvGraphicFramePr>
            <a:graphicFrameLocks noGrp="1"/>
          </p:cNvGraphicFramePr>
          <p:nvPr/>
        </p:nvGraphicFramePr>
        <p:xfrm>
          <a:off x="7699248" y="1883664"/>
          <a:ext cx="3995928" cy="3703320"/>
        </p:xfrm>
        <a:graphic>
          <a:graphicData uri="http://schemas.openxmlformats.org/drawingml/2006/table">
            <a:tbl>
              <a:tblPr>
                <a:tableStyleId>{5940675A-B579-460E-94D1-54222C63F5DA}</a:tableStyleId>
              </a:tblPr>
              <a:tblGrid>
                <a:gridCol w="1783080">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tblGrid>
              <a:tr h="292608">
                <a:tc>
                  <a:txBody>
                    <a:bodyPr/>
                    <a:lstStyle/>
                    <a:p>
                      <a:pPr algn="l">
                        <a:lnSpc>
                          <a:spcPct val="105000"/>
                        </a:lnSpc>
                      </a:pPr>
                      <a:r>
                        <a:rPr sz="800" b="1">
                          <a:solidFill>
                            <a:srgbClr val="FFFFFF"/>
                          </a:solidFill>
                          <a:latin typeface="Inter"/>
                        </a:rPr>
                        <a:t>Dataset</a:t>
                      </a:r>
                    </a:p>
                  </a:txBody>
                  <a:tcPr marL="73152" marR="73152" marT="27432" marB="27432" anchor="ctr">
                    <a:solidFill>
                      <a:srgbClr val="0EA5B3"/>
                    </a:solidFill>
                  </a:tcPr>
                </a:tc>
                <a:tc>
                  <a:txBody>
                    <a:bodyPr/>
                    <a:lstStyle/>
                    <a:p>
                      <a:pPr algn="l">
                        <a:lnSpc>
                          <a:spcPct val="105000"/>
                        </a:lnSpc>
                      </a:pPr>
                      <a:r>
                        <a:rPr sz="800" b="1">
                          <a:solidFill>
                            <a:srgbClr val="FFFFFF"/>
                          </a:solidFill>
                          <a:latin typeface="Inter"/>
                        </a:rPr>
                        <a:t>Used for</a:t>
                      </a:r>
                    </a:p>
                  </a:txBody>
                  <a:tcPr marL="73152" marR="73152" marT="27432" marB="27432" anchor="ctr">
                    <a:solidFill>
                      <a:srgbClr val="0EA5B3"/>
                    </a:solidFill>
                  </a:tcPr>
                </a:tc>
                <a:extLst>
                  <a:ext uri="{0D108BD9-81ED-4DB2-BD59-A6C34878D82A}">
                    <a16:rowId xmlns:a16="http://schemas.microsoft.com/office/drawing/2014/main" val="10000"/>
                  </a:ext>
                </a:extLst>
              </a:tr>
              <a:tr h="426339">
                <a:tc>
                  <a:txBody>
                    <a:bodyPr/>
                    <a:lstStyle/>
                    <a:p>
                      <a:pPr algn="l">
                        <a:lnSpc>
                          <a:spcPct val="105000"/>
                        </a:lnSpc>
                      </a:pPr>
                      <a:r>
                        <a:rPr sz="700" b="1">
                          <a:solidFill>
                            <a:srgbClr val="E6EAF2"/>
                          </a:solidFill>
                          <a:latin typeface="Inter"/>
                        </a:rPr>
                        <a:t>Landsat 8/9 Collection 2 (USGS)</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Land surface temperature and NDVI composites</a:t>
                      </a:r>
                    </a:p>
                  </a:txBody>
                  <a:tcPr marL="73152" marR="73152" marT="27432" marB="27432" anchor="ctr">
                    <a:solidFill>
                      <a:srgbClr val="151A24"/>
                    </a:solidFill>
                  </a:tcPr>
                </a:tc>
                <a:extLst>
                  <a:ext uri="{0D108BD9-81ED-4DB2-BD59-A6C34878D82A}">
                    <a16:rowId xmlns:a16="http://schemas.microsoft.com/office/drawing/2014/main" val="10001"/>
                  </a:ext>
                </a:extLst>
              </a:tr>
              <a:tr h="426339">
                <a:tc>
                  <a:txBody>
                    <a:bodyPr/>
                    <a:lstStyle/>
                    <a:p>
                      <a:pPr algn="l">
                        <a:lnSpc>
                          <a:spcPct val="105000"/>
                        </a:lnSpc>
                      </a:pPr>
                      <a:r>
                        <a:rPr sz="700" b="1">
                          <a:solidFill>
                            <a:srgbClr val="E6EAF2"/>
                          </a:solidFill>
                          <a:latin typeface="Inter"/>
                        </a:rPr>
                        <a:t>WorldPop age-sex rasters</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Population density and elderly-share estimates</a:t>
                      </a:r>
                    </a:p>
                  </a:txBody>
                  <a:tcPr marL="73152" marR="73152" marT="27432" marB="27432" anchor="ctr">
                    <a:solidFill>
                      <a:srgbClr val="151A24"/>
                    </a:solidFill>
                  </a:tcPr>
                </a:tc>
                <a:extLst>
                  <a:ext uri="{0D108BD9-81ED-4DB2-BD59-A6C34878D82A}">
                    <a16:rowId xmlns:a16="http://schemas.microsoft.com/office/drawing/2014/main" val="10002"/>
                  </a:ext>
                </a:extLst>
              </a:tr>
              <a:tr h="426339">
                <a:tc>
                  <a:txBody>
                    <a:bodyPr/>
                    <a:lstStyle/>
                    <a:p>
                      <a:pPr algn="l">
                        <a:lnSpc>
                          <a:spcPct val="105000"/>
                        </a:lnSpc>
                      </a:pPr>
                      <a:r>
                        <a:rPr sz="700" b="1">
                          <a:solidFill>
                            <a:srgbClr val="E6EAF2"/>
                          </a:solidFill>
                          <a:latin typeface="Inter"/>
                        </a:rPr>
                        <a:t>ESA WorldCover v200</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Land cover, impervious surface, plantability screening</a:t>
                      </a:r>
                    </a:p>
                  </a:txBody>
                  <a:tcPr marL="73152" marR="73152" marT="27432" marB="27432" anchor="ctr">
                    <a:solidFill>
                      <a:srgbClr val="151A24"/>
                    </a:solidFill>
                  </a:tcPr>
                </a:tc>
                <a:extLst>
                  <a:ext uri="{0D108BD9-81ED-4DB2-BD59-A6C34878D82A}">
                    <a16:rowId xmlns:a16="http://schemas.microsoft.com/office/drawing/2014/main" val="10003"/>
                  </a:ext>
                </a:extLst>
              </a:tr>
              <a:tr h="426339">
                <a:tc>
                  <a:txBody>
                    <a:bodyPr/>
                    <a:lstStyle/>
                    <a:p>
                      <a:pPr algn="l">
                        <a:lnSpc>
                          <a:spcPct val="105000"/>
                        </a:lnSpc>
                      </a:pPr>
                      <a:r>
                        <a:rPr sz="700" b="1">
                          <a:solidFill>
                            <a:srgbClr val="E6EAF2"/>
                          </a:solidFill>
                          <a:latin typeface="Inter"/>
                        </a:rPr>
                        <a:t>Google Earth Engine</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Satellite data access and zonal statistics</a:t>
                      </a:r>
                    </a:p>
                  </a:txBody>
                  <a:tcPr marL="73152" marR="73152" marT="27432" marB="27432" anchor="ctr">
                    <a:solidFill>
                      <a:srgbClr val="151A24"/>
                    </a:solidFill>
                  </a:tcPr>
                </a:tc>
                <a:extLst>
                  <a:ext uri="{0D108BD9-81ED-4DB2-BD59-A6C34878D82A}">
                    <a16:rowId xmlns:a16="http://schemas.microsoft.com/office/drawing/2014/main" val="10004"/>
                  </a:ext>
                </a:extLst>
              </a:tr>
              <a:tr h="426339">
                <a:tc>
                  <a:txBody>
                    <a:bodyPr/>
                    <a:lstStyle/>
                    <a:p>
                      <a:pPr algn="l">
                        <a:lnSpc>
                          <a:spcPct val="105000"/>
                        </a:lnSpc>
                      </a:pPr>
                      <a:r>
                        <a:rPr sz="700" b="1">
                          <a:solidFill>
                            <a:srgbClr val="E6EAF2"/>
                          </a:solidFill>
                          <a:latin typeface="Inter"/>
                        </a:rPr>
                        <a:t>OpenStreetMap contributors</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Hospital locations (ODbL)</a:t>
                      </a:r>
                    </a:p>
                  </a:txBody>
                  <a:tcPr marL="73152" marR="73152" marT="27432" marB="27432" anchor="ctr">
                    <a:solidFill>
                      <a:srgbClr val="151A24"/>
                    </a:solidFill>
                  </a:tcPr>
                </a:tc>
                <a:extLst>
                  <a:ext uri="{0D108BD9-81ED-4DB2-BD59-A6C34878D82A}">
                    <a16:rowId xmlns:a16="http://schemas.microsoft.com/office/drawing/2014/main" val="10005"/>
                  </a:ext>
                </a:extLst>
              </a:tr>
              <a:tr h="426339">
                <a:tc>
                  <a:txBody>
                    <a:bodyPr/>
                    <a:lstStyle/>
                    <a:p>
                      <a:pPr algn="l">
                        <a:lnSpc>
                          <a:spcPct val="105000"/>
                        </a:lnSpc>
                      </a:pPr>
                      <a:r>
                        <a:rPr sz="700" b="1">
                          <a:solidFill>
                            <a:srgbClr val="E6EAF2"/>
                          </a:solidFill>
                          <a:latin typeface="Inter"/>
                        </a:rPr>
                        <a:t>Datameet Municipal Spatial Data</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BMC ward boundaries and slum-cluster polygons</a:t>
                      </a:r>
                    </a:p>
                  </a:txBody>
                  <a:tcPr marL="73152" marR="73152" marT="27432" marB="27432" anchor="ctr">
                    <a:solidFill>
                      <a:srgbClr val="151A24"/>
                    </a:solidFill>
                  </a:tcPr>
                </a:tc>
                <a:extLst>
                  <a:ext uri="{0D108BD9-81ED-4DB2-BD59-A6C34878D82A}">
                    <a16:rowId xmlns:a16="http://schemas.microsoft.com/office/drawing/2014/main" val="10006"/>
                  </a:ext>
                </a:extLst>
              </a:tr>
              <a:tr h="426339">
                <a:tc>
                  <a:txBody>
                    <a:bodyPr/>
                    <a:lstStyle/>
                    <a:p>
                      <a:pPr algn="l">
                        <a:lnSpc>
                          <a:spcPct val="105000"/>
                        </a:lnSpc>
                      </a:pPr>
                      <a:r>
                        <a:rPr sz="700" b="1">
                          <a:solidFill>
                            <a:srgbClr val="E6EAF2"/>
                          </a:solidFill>
                          <a:latin typeface="Inter"/>
                        </a:rPr>
                        <a:t>CARTO / OpenStreetMap</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Basemap tiles on the dashboard</a:t>
                      </a:r>
                    </a:p>
                  </a:txBody>
                  <a:tcPr marL="73152" marR="73152" marT="27432" marB="27432" anchor="ctr">
                    <a:solidFill>
                      <a:srgbClr val="151A24"/>
                    </a:solidFill>
                  </a:tcPr>
                </a:tc>
                <a:extLst>
                  <a:ext uri="{0D108BD9-81ED-4DB2-BD59-A6C34878D82A}">
                    <a16:rowId xmlns:a16="http://schemas.microsoft.com/office/drawing/2014/main" val="10007"/>
                  </a:ext>
                </a:extLst>
              </a:tr>
              <a:tr h="426339">
                <a:tc>
                  <a:txBody>
                    <a:bodyPr/>
                    <a:lstStyle/>
                    <a:p>
                      <a:pPr algn="l">
                        <a:lnSpc>
                          <a:spcPct val="105000"/>
                        </a:lnSpc>
                      </a:pPr>
                      <a:r>
                        <a:rPr sz="700" b="1">
                          <a:solidFill>
                            <a:srgbClr val="E6EAF2"/>
                          </a:solidFill>
                          <a:latin typeface="Inter"/>
                        </a:rPr>
                        <a:t>Natural Earth 1:10m physical</a:t>
                      </a:r>
                    </a:p>
                  </a:txBody>
                  <a:tcPr marL="73152" marR="73152" marT="27432" marB="27432" anchor="ctr">
                    <a:solidFill>
                      <a:srgbClr val="151A24"/>
                    </a:solidFill>
                  </a:tcPr>
                </a:tc>
                <a:tc>
                  <a:txBody>
                    <a:bodyPr/>
                    <a:lstStyle/>
                    <a:p>
                      <a:pPr algn="l">
                        <a:lnSpc>
                          <a:spcPct val="105000"/>
                        </a:lnSpc>
                      </a:pPr>
                      <a:r>
                        <a:rPr sz="700" b="0">
                          <a:solidFill>
                            <a:srgbClr val="9AA3B2"/>
                          </a:solidFill>
                          <a:latin typeface="Inter"/>
                        </a:rPr>
                        <a:t>Regional coastline behind the landing-page model (public domain)</a:t>
                      </a:r>
                    </a:p>
                  </a:txBody>
                  <a:tcPr marL="73152" marR="73152" marT="27432" marB="27432" anchor="ctr">
                    <a:solidFill>
                      <a:srgbClr val="151A24"/>
                    </a:solidFill>
                  </a:tcPr>
                </a:tc>
                <a:extLst>
                  <a:ext uri="{0D108BD9-81ED-4DB2-BD59-A6C34878D82A}">
                    <a16:rowId xmlns:a16="http://schemas.microsoft.com/office/drawing/2014/main" val="10008"/>
                  </a:ext>
                </a:extLst>
              </a:tr>
            </a:tbl>
          </a:graphicData>
        </a:graphic>
      </p:graphicFrame>
      <p:sp>
        <p:nvSpPr>
          <p:cNvPr id="14" name="TextBox 13"/>
          <p:cNvSpPr txBox="1"/>
          <p:nvPr/>
        </p:nvSpPr>
        <p:spPr>
          <a:xfrm>
            <a:off x="502920" y="5687568"/>
            <a:ext cx="5486400" cy="219456"/>
          </a:xfrm>
          <a:prstGeom prst="rect">
            <a:avLst/>
          </a:prstGeom>
          <a:noFill/>
        </p:spPr>
        <p:txBody>
          <a:bodyPr wrap="square" lIns="0" tIns="0" rIns="0" bIns="0" anchor="t">
            <a:spAutoFit/>
          </a:bodyPr>
          <a:lstStyle/>
          <a:p>
            <a:pPr algn="l">
              <a:lnSpc>
                <a:spcPct val="118000"/>
              </a:lnSpc>
            </a:pPr>
            <a:r>
              <a:rPr sz="1000" b="1" i="0">
                <a:solidFill>
                  <a:srgbClr val="FFFFFF"/>
                </a:solidFill>
                <a:latin typeface="Inter"/>
              </a:rPr>
              <a:t>Also cited in this deck</a:t>
            </a:r>
          </a:p>
        </p:txBody>
      </p:sp>
      <p:sp>
        <p:nvSpPr>
          <p:cNvPr id="15" name="TextBox 14"/>
          <p:cNvSpPr txBox="1"/>
          <p:nvPr/>
        </p:nvSpPr>
        <p:spPr>
          <a:xfrm>
            <a:off x="502920" y="5925312"/>
            <a:ext cx="11192256" cy="420624"/>
          </a:xfrm>
          <a:prstGeom prst="rect">
            <a:avLst/>
          </a:prstGeom>
          <a:noFill/>
        </p:spPr>
        <p:txBody>
          <a:bodyPr wrap="square" lIns="0" tIns="0" rIns="0" bIns="0" anchor="t">
            <a:spAutoFit/>
          </a:bodyPr>
          <a:lstStyle/>
          <a:p>
            <a:pPr algn="l">
              <a:lnSpc>
                <a:spcPct val="115000"/>
              </a:lnSpc>
            </a:pPr>
            <a:r>
              <a:rPr sz="740" b="0" i="0">
                <a:solidFill>
                  <a:srgbClr val="9AA3B2"/>
                </a:solidFill>
                <a:latin typeface="Inter"/>
              </a:rPr>
              <a:t>Global temperature anomaly imagery: NASA Goddard Space Flight Center, Scientific Visualization Studio, GISTEMP v4 (slide 3). India heat mortality, three official counts: Gadgil and Narang, Down To Earth, 10 April 2025 (slide 5). Mumbai Climate Action Plan 2022, BMC with WRI India and C40 (slides 5 and 8). Mehrotra, Bardhan and Ramamritham 2018, doi 10.1177/0975425318783548 (slide 8). C40 and Ramboll, Urban Cooling Toolbox 2021 (slide 8).</a:t>
            </a:r>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132</TotalTime>
  <Words>7807</Words>
  <Application>Microsoft Office PowerPoint</Application>
  <PresentationFormat>Widescreen</PresentationFormat>
  <Paragraphs>612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Arial Nova Light</vt:lpstr>
      <vt:lpstr>Calibri</vt:lpstr>
      <vt:lpstr>Inter</vt:lpstr>
      <vt:lpstr>JetBrains Mono</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Anay Dhawan</cp:lastModifiedBy>
  <cp:revision>3</cp:revision>
  <dcterms:created xsi:type="dcterms:W3CDTF">2013-01-27T09:14:16Z</dcterms:created>
  <dcterms:modified xsi:type="dcterms:W3CDTF">2026-08-05T13:23:11Z</dcterms:modified>
  <cp:category/>
</cp:coreProperties>
</file>